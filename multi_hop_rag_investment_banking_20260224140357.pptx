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png"/><Relationship Id="rId21" Type="http://schemas.openxmlformats.org/officeDocument/2006/relationships/image" Target="../media/image-12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png"/><Relationship Id="rId19" Type="http://schemas.openxmlformats.org/officeDocument/2006/relationships/image" Target="../media/image-13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png"/><Relationship Id="rId19" Type="http://schemas.openxmlformats.org/officeDocument/2006/relationships/image" Target="../media/image-14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pn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png"/><Relationship Id="rId17" Type="http://schemas.openxmlformats.org/officeDocument/2006/relationships/image" Target="../media/image-15-17.png"/><Relationship Id="rId18" Type="http://schemas.openxmlformats.org/officeDocument/2006/relationships/image" Target="../media/image-15-18.png"/><Relationship Id="rId19" Type="http://schemas.openxmlformats.org/officeDocument/2006/relationships/image" Target="../media/image-15-19.png"/><Relationship Id="rId20" Type="http://schemas.openxmlformats.org/officeDocument/2006/relationships/image" Target="../media/image-15-20.png"/><Relationship Id="rId21" Type="http://schemas.openxmlformats.org/officeDocument/2006/relationships/image" Target="../media/image-15-21.png"/><Relationship Id="rId22" Type="http://schemas.openxmlformats.org/officeDocument/2006/relationships/image" Target="../media/image-15-22.png"/><Relationship Id="rId23" Type="http://schemas.openxmlformats.org/officeDocument/2006/relationships/image" Target="../media/image-15-23.png"/><Relationship Id="rId24" Type="http://schemas.openxmlformats.org/officeDocument/2006/relationships/image" Target="../media/image-15-24.png"/><Relationship Id="rId25" Type="http://schemas.openxmlformats.org/officeDocument/2006/relationships/image" Target="../media/image-15-25.png"/><Relationship Id="rId26" Type="http://schemas.openxmlformats.org/officeDocument/2006/relationships/image" Target="../media/image-15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png"/><Relationship Id="rId15" Type="http://schemas.openxmlformats.org/officeDocument/2006/relationships/image" Target="../media/image-16-15.png"/><Relationship Id="rId16" Type="http://schemas.openxmlformats.org/officeDocument/2006/relationships/image" Target="../media/image-16-16.png"/><Relationship Id="rId17" Type="http://schemas.openxmlformats.org/officeDocument/2006/relationships/image" Target="../media/image-16-17.png"/><Relationship Id="rId18" Type="http://schemas.openxmlformats.org/officeDocument/2006/relationships/image" Target="../media/image-16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pn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png"/><Relationship Id="rId17" Type="http://schemas.openxmlformats.org/officeDocument/2006/relationships/image" Target="../media/image-17-17.png"/><Relationship Id="rId18" Type="http://schemas.openxmlformats.org/officeDocument/2006/relationships/image" Target="../media/image-17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png"/><Relationship Id="rId15" Type="http://schemas.openxmlformats.org/officeDocument/2006/relationships/image" Target="../media/image-18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image" Target="../media/image-19-13.png"/><Relationship Id="rId14" Type="http://schemas.openxmlformats.org/officeDocument/2006/relationships/image" Target="../media/image-19-14.png"/><Relationship Id="rId15" Type="http://schemas.openxmlformats.org/officeDocument/2006/relationships/image" Target="../media/image-19-15.png"/><Relationship Id="rId16" Type="http://schemas.openxmlformats.org/officeDocument/2006/relationships/image" Target="../media/image-19-16.png"/><Relationship Id="rId17" Type="http://schemas.openxmlformats.org/officeDocument/2006/relationships/image" Target="../media/image-19-17.png"/><Relationship Id="rId18" Type="http://schemas.openxmlformats.org/officeDocument/2006/relationships/image" Target="../media/image-19-18.png"/><Relationship Id="rId19" Type="http://schemas.openxmlformats.org/officeDocument/2006/relationships/image" Target="../media/image-19-19.png"/><Relationship Id="rId20" Type="http://schemas.openxmlformats.org/officeDocument/2006/relationships/image" Target="../media/image-19-20.png"/><Relationship Id="rId21" Type="http://schemas.openxmlformats.org/officeDocument/2006/relationships/image" Target="../media/image-19-21.png"/><Relationship Id="rId22" Type="http://schemas.openxmlformats.org/officeDocument/2006/relationships/image" Target="../media/image-19-22.png"/><Relationship Id="rId23" Type="http://schemas.openxmlformats.org/officeDocument/2006/relationships/image" Target="../media/image-19-23.png"/><Relationship Id="rId24" Type="http://schemas.openxmlformats.org/officeDocument/2006/relationships/image" Target="../media/image-19-24.png"/><Relationship Id="rId25" Type="http://schemas.openxmlformats.org/officeDocument/2006/relationships/image" Target="../media/image-19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png"/><Relationship Id="rId13" Type="http://schemas.openxmlformats.org/officeDocument/2006/relationships/image" Target="../media/image-20-13.png"/><Relationship Id="rId14" Type="http://schemas.openxmlformats.org/officeDocument/2006/relationships/image" Target="../media/image-20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image" Target="../media/image-26-10.png"/><Relationship Id="rId11" Type="http://schemas.openxmlformats.org/officeDocument/2006/relationships/image" Target="../media/image-26-11.png"/><Relationship Id="rId12" Type="http://schemas.openxmlformats.org/officeDocument/2006/relationships/image" Target="../media/image-26-12.png"/><Relationship Id="rId13" Type="http://schemas.openxmlformats.org/officeDocument/2006/relationships/image" Target="../media/image-26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image" Target="../media/image-27-11.png"/><Relationship Id="rId12" Type="http://schemas.openxmlformats.org/officeDocument/2006/relationships/image" Target="../media/image-27-12.png"/><Relationship Id="rId13" Type="http://schemas.openxmlformats.org/officeDocument/2006/relationships/image" Target="../media/image-27-13.png"/><Relationship Id="rId14" Type="http://schemas.openxmlformats.org/officeDocument/2006/relationships/image" Target="../media/image-27-14.png"/><Relationship Id="rId15" Type="http://schemas.openxmlformats.org/officeDocument/2006/relationships/image" Target="../media/image-27-15.png"/><Relationship Id="rId16" Type="http://schemas.openxmlformats.org/officeDocument/2006/relationships/image" Target="../media/image-27-16.png"/><Relationship Id="rId17" Type="http://schemas.openxmlformats.org/officeDocument/2006/relationships/image" Target="../media/image-27-17.png"/><Relationship Id="rId18" Type="http://schemas.openxmlformats.org/officeDocument/2006/relationships/image" Target="../media/image-27-18.png"/><Relationship Id="rId19" Type="http://schemas.openxmlformats.org/officeDocument/2006/relationships/image" Target="../media/image-27-19.png"/><Relationship Id="rId20" Type="http://schemas.openxmlformats.org/officeDocument/2006/relationships/image" Target="../media/image-27-20.png"/><Relationship Id="rId21" Type="http://schemas.openxmlformats.org/officeDocument/2006/relationships/image" Target="../media/image-27-21.png"/><Relationship Id="rId22" Type="http://schemas.openxmlformats.org/officeDocument/2006/relationships/image" Target="../media/image-27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image" Target="../media/image-28-9.png"/><Relationship Id="rId10" Type="http://schemas.openxmlformats.org/officeDocument/2006/relationships/image" Target="../media/image-28-10.png"/><Relationship Id="rId11" Type="http://schemas.openxmlformats.org/officeDocument/2006/relationships/image" Target="../media/image-28-11.png"/><Relationship Id="rId12" Type="http://schemas.openxmlformats.org/officeDocument/2006/relationships/image" Target="../media/image-28-12.png"/><Relationship Id="rId13" Type="http://schemas.openxmlformats.org/officeDocument/2006/relationships/image" Target="../media/image-28-13.png"/><Relationship Id="rId14" Type="http://schemas.openxmlformats.org/officeDocument/2006/relationships/image" Target="../media/image-28-14.png"/><Relationship Id="rId15" Type="http://schemas.openxmlformats.org/officeDocument/2006/relationships/image" Target="../media/image-28-15.png"/><Relationship Id="rId16" Type="http://schemas.openxmlformats.org/officeDocument/2006/relationships/image" Target="../media/image-28-16.png"/><Relationship Id="rId17" Type="http://schemas.openxmlformats.org/officeDocument/2006/relationships/image" Target="../media/image-28-17.png"/><Relationship Id="rId18" Type="http://schemas.openxmlformats.org/officeDocument/2006/relationships/image" Target="../media/image-28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image" Target="../media/image-29-7.png"/><Relationship Id="rId8" Type="http://schemas.openxmlformats.org/officeDocument/2006/relationships/image" Target="../media/image-29-8.png"/><Relationship Id="rId9" Type="http://schemas.openxmlformats.org/officeDocument/2006/relationships/image" Target="../media/image-29-9.png"/><Relationship Id="rId10" Type="http://schemas.openxmlformats.org/officeDocument/2006/relationships/image" Target="../media/image-29-10.png"/><Relationship Id="rId11" Type="http://schemas.openxmlformats.org/officeDocument/2006/relationships/image" Target="../media/image-29-11.png"/><Relationship Id="rId12" Type="http://schemas.openxmlformats.org/officeDocument/2006/relationships/image" Target="../media/image-29-12.png"/><Relationship Id="rId13" Type="http://schemas.openxmlformats.org/officeDocument/2006/relationships/image" Target="../media/image-29-13.png"/><Relationship Id="rId14" Type="http://schemas.openxmlformats.org/officeDocument/2006/relationships/image" Target="../media/image-29-14.png"/><Relationship Id="rId15" Type="http://schemas.openxmlformats.org/officeDocument/2006/relationships/image" Target="../media/image-29-15.png"/><Relationship Id="rId16" Type="http://schemas.openxmlformats.org/officeDocument/2006/relationships/image" Target="../media/image-29-16.png"/><Relationship Id="rId17" Type="http://schemas.openxmlformats.org/officeDocument/2006/relationships/image" Target="../media/image-29-17.png"/><Relationship Id="rId18" Type="http://schemas.openxmlformats.org/officeDocument/2006/relationships/image" Target="../media/image-29-18.png"/><Relationship Id="rId19" Type="http://schemas.openxmlformats.org/officeDocument/2006/relationships/image" Target="../media/image-29-19.png"/><Relationship Id="rId20" Type="http://schemas.openxmlformats.org/officeDocument/2006/relationships/image" Target="../media/image-29-20.png"/><Relationship Id="rId21" Type="http://schemas.openxmlformats.org/officeDocument/2006/relationships/image" Target="../media/image-29-21.png"/><Relationship Id="rId22" Type="http://schemas.openxmlformats.org/officeDocument/2006/relationships/image" Target="../media/image-29-22.png"/><Relationship Id="rId23" Type="http://schemas.openxmlformats.org/officeDocument/2006/relationships/image" Target="../media/image-29-23.png"/><Relationship Id="rId24" Type="http://schemas.openxmlformats.org/officeDocument/2006/relationships/image" Target="../media/image-29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29500" y="-952805"/>
            <a:ext cx="5715000" cy="5715000"/>
          </a:xfrm>
          <a:prstGeom prst="ellipse">
            <a:avLst/>
          </a:prstGeom>
          <a:noFill/>
          <a:ln w="254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5902" y="-476402"/>
            <a:ext cx="4762195" cy="4762195"/>
          </a:xfrm>
          <a:prstGeom prst="ellipse">
            <a:avLst/>
          </a:prstGeom>
          <a:noFill/>
          <a:ln w="12700">
            <a:solidFill>
              <a:srgbClr val="C5A059">
                <a:alpha val="2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189159" y="304495"/>
            <a:ext cx="15526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68" kern="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189159" y="609905"/>
            <a:ext cx="15526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01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1500530"/>
            <a:ext cx="8706002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spc="-112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From Search to Synthesis:</a:t>
            </a:r>
            <a:pPr algn="l" indent="0" marL="0">
              <a:buNone/>
            </a:pPr>
            <a:endParaRPr lang="en-US" sz="4500" dirty="0"/>
          </a:p>
          <a:p>
            <a:pPr algn="l" indent="0" marL="0">
              <a:buNone/>
            </a:pPr>
            <a:r>
              <a:rPr lang="en-US" sz="4500" b="1" spc="-112" kern="0" dirty="0">
                <a:solidFill>
                  <a:srgbClr val="C5A05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Implementing Multi-hop RAG</a:t>
            </a:r>
            <a:endParaRPr lang="en-US" sz="45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500323"/>
            <a:ext cx="7401154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Moving Beyond "Single-Pass" Retrieval to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Complex Financial Reasoning 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914400" y="5005426"/>
            <a:ext cx="975390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5319979"/>
            <a:ext cx="14200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5510174"/>
            <a:ext cx="143652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5777179"/>
            <a:ext cx="14200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SPG-ML-LLM-DEV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863901" y="5319979"/>
            <a:ext cx="14767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Date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2863901" y="5510174"/>
            <a:ext cx="14767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December 2025</a:t>
            </a:r>
            <a:endParaRPr lang="en-US" sz="13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0" r="0" t="-400" b="-400"/>
          <a:stretch/>
        </p:blipFill>
        <p:spPr>
          <a:xfrm>
            <a:off x="914400" y="3157423"/>
            <a:ext cx="914400" cy="384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6467551"/>
            <a:ext cx="11277295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0"/>
            <a:ext cx="12191695" cy="122895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0" y="1219810"/>
            <a:ext cx="121916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381305"/>
            <a:ext cx="7334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 &amp; Motivation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09905"/>
            <a:ext cx="930310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68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Problem with Standard RAG in Finance</a:t>
            </a:r>
            <a:endParaRPr lang="en-US" sz="27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533449"/>
            <a:ext cx="649224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"Simple" Retrieval Fails the Analyst Test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57200" y="2048256"/>
            <a:ext cx="6314846" cy="1266444"/>
          </a:xfrm>
          <a:prstGeom prst="roundRect">
            <a:avLst>
              <a:gd name="adj" fmla="val 434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7454" y="2590495"/>
            <a:ext cx="5915254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7454" y="2247595"/>
            <a:ext cx="6029554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Limitation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57454" y="2676449"/>
            <a:ext cx="59920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Standard RAG functions like a "Google Search" engine—it retrieves documents based purely on </a:t>
            </a:r>
            <a:pPr algn="l"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semantic similarity</a:t>
            </a:r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the initial query context. 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3538728"/>
            <a:ext cx="6314846" cy="1266444"/>
          </a:xfrm>
          <a:prstGeom prst="roundRect">
            <a:avLst>
              <a:gd name="adj" fmla="val 434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7454" y="4081882"/>
            <a:ext cx="5915254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7454" y="3738982"/>
            <a:ext cx="6029554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Reality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57454" y="4166921"/>
            <a:ext cx="59920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Financial answers rarely exist in a single document. They are scattered across disjointed sources like </a:t>
            </a:r>
            <a:pPr algn="l"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10-Ks, News Wires, and Internal Memos</a:t>
            </a:r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533095" y="5029200"/>
            <a:ext cx="6353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"Disconnect" Example:</a:t>
            </a:r>
            <a:endParaRPr lang="en-US" sz="12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" b="-4"/>
          <a:stretch/>
        </p:blipFill>
        <p:spPr>
          <a:xfrm>
            <a:off x="533095" y="5372100"/>
            <a:ext cx="6235294" cy="13716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24205" y="5524805"/>
            <a:ext cx="60103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Query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724205" y="5715000"/>
            <a:ext cx="6010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"Compare the EBITDA margins of Company A and its main competitor."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724205" y="6019495"/>
            <a:ext cx="60103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 RAG Failure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968350" y="6210605"/>
            <a:ext cx="572871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Finds generic industry articles but misses the specific filings needed to calculate the margin. It cannot </a:t>
            </a:r>
            <a:pPr algn="l" indent="0" marL="0">
              <a:buNone/>
            </a:pPr>
            <a:r>
              <a:rPr lang="en-US" sz="1000" b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"connect the dots"</a:t>
            </a:r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</a:t>
            </a:r>
            <a:endParaRPr lang="en-US" sz="10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24205" y="6236208"/>
            <a:ext cx="133502" cy="133502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7226503" y="1533449"/>
            <a:ext cx="4515307" cy="5210251"/>
          </a:xfrm>
          <a:prstGeom prst="roundRect">
            <a:avLst>
              <a:gd name="adj" fmla="val 34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464247" y="1772107"/>
            <a:ext cx="18955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5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Visualizing the Gap</a:t>
            </a:r>
            <a:endParaRPr lang="en-US" sz="10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rcRect l="-201" r="-201" t="0" b="0"/>
          <a:stretch/>
        </p:blipFill>
        <p:spPr>
          <a:xfrm>
            <a:off x="8074152" y="3109874"/>
            <a:ext cx="914400" cy="75895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8397850" y="3109874"/>
            <a:ext cx="2343607" cy="1218895"/>
          </a:xfrm>
          <a:prstGeom prst="roundRect">
            <a:avLst>
              <a:gd name="adj" fmla="val 4689"/>
            </a:avLst>
          </a:prstGeom>
          <a:solidFill>
            <a:srgbClr val="000000">
              <a:alpha val="20000"/>
            </a:srgbClr>
          </a:solidFill>
          <a:ln w="25400">
            <a:solidFill>
              <a:srgbClr val="4B5563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2150" y="3300070"/>
            <a:ext cx="580644" cy="53309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693201" y="3300070"/>
            <a:ext cx="400507" cy="5340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E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10-K</a:t>
            </a:r>
            <a:endParaRPr lang="en-US" sz="8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588045" y="3376879"/>
            <a:ext cx="200254" cy="200254"/>
          </a:xfrm>
          <a:prstGeom prst="rect">
            <a:avLst/>
          </a:prstGeom>
        </p:spPr>
      </p:pic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49586" y="3630168"/>
            <a:ext cx="580644" cy="54315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 rot="60000">
            <a:off x="10099548" y="3630168"/>
            <a:ext cx="431597" cy="5431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E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News</a:t>
            </a:r>
            <a:endParaRPr lang="en-US" sz="8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0030054" y="3706978"/>
            <a:ext cx="200254" cy="200254"/>
          </a:xfrm>
          <a:prstGeom prst="rect">
            <a:avLst/>
          </a:prstGeom>
        </p:spPr>
      </p:pic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89213" y="3509467"/>
            <a:ext cx="590702" cy="552298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 rot="120000">
            <a:off x="8920886" y="3509467"/>
            <a:ext cx="459029" cy="5532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E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Memo</a:t>
            </a:r>
            <a:endParaRPr lang="en-US" sz="80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rcRect l="-837" r="-837" t="0" b="0"/>
          <a:stretch/>
        </p:blipFill>
        <p:spPr>
          <a:xfrm>
            <a:off x="8874252" y="3588106"/>
            <a:ext cx="152705" cy="200254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9216238" y="4453128"/>
            <a:ext cx="96560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Context Gap </a:t>
            </a:r>
            <a:endParaRPr lang="en-US" sz="900" dirty="0"/>
          </a:p>
        </p:txBody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9028786" y="4466844"/>
            <a:ext cx="114300" cy="114300"/>
          </a:xfrm>
          <a:prstGeom prst="rect">
            <a:avLst/>
          </a:prstGeom>
        </p:spPr>
      </p:pic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>
            <a:alphaModFix amt="50000"/>
          </a:blip>
          <a:srcRect l="-201" r="-201" t="0" b="0"/>
          <a:stretch/>
        </p:blipFill>
        <p:spPr>
          <a:xfrm>
            <a:off x="9972446" y="3109874"/>
            <a:ext cx="914400" cy="75895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7578547" y="5091379"/>
            <a:ext cx="3810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"Without a mechanism to hop between sources, the reasoning chain is broken."</a:t>
            </a:r>
            <a:endParaRPr lang="en-US" sz="1000" dirty="0"/>
          </a:p>
        </p:txBody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7550201" y="3281782"/>
            <a:ext cx="609905" cy="609905"/>
          </a:xfrm>
          <a:prstGeom prst="rect">
            <a:avLst/>
          </a:prstGeom>
        </p:spPr>
      </p:pic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4"/>
          <a:srcRect l="-57" r="-57" t="0" b="0"/>
          <a:stretch/>
        </p:blipFill>
        <p:spPr>
          <a:xfrm>
            <a:off x="7755026" y="3471977"/>
            <a:ext cx="200254" cy="228600"/>
          </a:xfrm>
          <a:prstGeom prst="rect">
            <a:avLst/>
          </a:prstGeom>
        </p:spPr>
      </p:pic>
      <p:sp>
        <p:nvSpPr>
          <p:cNvPr id="45" name="Text 29"/>
          <p:cNvSpPr txBox="1"/>
          <p:nvPr/>
        </p:nvSpPr>
        <p:spPr>
          <a:xfrm>
            <a:off x="7464247" y="3967582"/>
            <a:ext cx="8586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FDB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Query</a:t>
            </a:r>
            <a:endParaRPr lang="en-US" sz="1000" dirty="0"/>
          </a:p>
        </p:txBody>
      </p:sp>
      <p:pic>
        <p:nvPicPr>
          <p:cNvPr id="46" name="Image 14" descr="preencoded.png">    </p:cNvPr>
          <p:cNvPicPr>
            <a:picLocks noChangeAspect="1"/>
          </p:cNvPicPr>
          <p:nvPr/>
        </p:nvPicPr>
        <p:blipFill>
          <a:blip r:embed="rId15">
            <a:alphaModFix amt="50000"/>
          </a:blip>
          <a:srcRect l="0" r="0" t="0" b="0"/>
          <a:stretch/>
        </p:blipFill>
        <p:spPr>
          <a:xfrm>
            <a:off x="10886846" y="3281782"/>
            <a:ext cx="609905" cy="609905"/>
          </a:xfrm>
          <a:prstGeom prst="rect">
            <a:avLst/>
          </a:prstGeom>
        </p:spPr>
      </p:pic>
      <p:pic>
        <p:nvPicPr>
          <p:cNvPr id="47" name="Image 15" descr="preencoded.png">    </p:cNvPr>
          <p:cNvPicPr>
            <a:picLocks noChangeAspect="1"/>
          </p:cNvPicPr>
          <p:nvPr/>
        </p:nvPicPr>
        <p:blipFill>
          <a:blip r:embed="rId16">
            <a:alphaModFix amt="50000"/>
          </a:blip>
          <a:srcRect l="0" r="0" t="0" b="0"/>
          <a:stretch/>
        </p:blipFill>
        <p:spPr>
          <a:xfrm>
            <a:off x="11077956" y="3471977"/>
            <a:ext cx="228600" cy="228600"/>
          </a:xfrm>
          <a:prstGeom prst="rect">
            <a:avLst/>
          </a:prstGeom>
        </p:spPr>
      </p:pic>
      <p:sp>
        <p:nvSpPr>
          <p:cNvPr id="48" name="Text 30"/>
          <p:cNvSpPr txBox="1"/>
          <p:nvPr/>
        </p:nvSpPr>
        <p:spPr>
          <a:xfrm>
            <a:off x="10927994" y="3967582"/>
            <a:ext cx="6099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>
                    <a:alpha val="5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Answer</a:t>
            </a:r>
            <a:endParaRPr lang="en-US" sz="1000" dirty="0"/>
          </a:p>
        </p:txBody>
      </p:sp>
      <p:sp>
        <p:nvSpPr>
          <p:cNvPr id="49" name="Text 31"/>
          <p:cNvSpPr txBox="1"/>
          <p:nvPr/>
        </p:nvSpPr>
        <p:spPr>
          <a:xfrm>
            <a:off x="10299802" y="304495"/>
            <a:ext cx="14383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1300" dirty="0"/>
          </a:p>
        </p:txBody>
      </p:sp>
      <p:sp>
        <p:nvSpPr>
          <p:cNvPr id="50" name="Text 32"/>
          <p:cNvSpPr txBox="1"/>
          <p:nvPr/>
        </p:nvSpPr>
        <p:spPr>
          <a:xfrm>
            <a:off x="10299802" y="609905"/>
            <a:ext cx="1438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88605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0" y="876910"/>
            <a:ext cx="121916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81305" y="228600"/>
            <a:ext cx="34866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 Overview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381305" y="418795"/>
            <a:ext cx="39922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56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is Multi-hop RAG?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381305" y="1114654"/>
            <a:ext cx="66486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"Planning-Reasoning" Architecture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81305" y="1442923"/>
            <a:ext cx="6534302" cy="1304849"/>
          </a:xfrm>
          <a:prstGeom prst="roundRect">
            <a:avLst>
              <a:gd name="adj" fmla="val 409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4749" y="1795882"/>
            <a:ext cx="6286500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4749" y="1567282"/>
            <a:ext cx="640080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04749" y="1843430"/>
            <a:ext cx="63633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RAG system that answers a question by performing multiple, sequential retrieval steps, where each step </a:t>
            </a:r>
            <a:pPr algn="l" indent="0" marL="0">
              <a:buNone/>
            </a:pPr>
            <a:r>
              <a:rPr lang="en-US" sz="9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depends on the result</a:t>
            </a:r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of the previous one. 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04749" y="2253082"/>
            <a:ext cx="63633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reasons across multiple documents in stages to arrive at a final answer, rather than attempting a single "lucky guess" search.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81305" y="2862072"/>
            <a:ext cx="6534302" cy="1571854"/>
          </a:xfrm>
          <a:prstGeom prst="roundRect">
            <a:avLst>
              <a:gd name="adj" fmla="val 282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4749" y="3215030"/>
            <a:ext cx="6286500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4749" y="2986430"/>
            <a:ext cx="640080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Core Concept: "Bridging"</a:t>
            </a:r>
            <a:endParaRPr lang="en-US" sz="10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-3" r="-3" t="0" b="0"/>
          <a:stretch/>
        </p:blipFill>
        <p:spPr>
          <a:xfrm>
            <a:off x="504749" y="3681374"/>
            <a:ext cx="6286500" cy="62087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09905" y="3757270"/>
            <a:ext cx="6220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Bridging Example:</a:t>
            </a:r>
            <a:endParaRPr lang="en-US" sz="800" dirty="0"/>
          </a:p>
        </p:txBody>
      </p:sp>
      <p:sp>
        <p:nvSpPr>
          <p:cNvPr id="20" name="Text 16"/>
          <p:cNvSpPr txBox="1"/>
          <p:nvPr/>
        </p:nvSpPr>
        <p:spPr>
          <a:xfrm>
            <a:off x="609905" y="3929177"/>
            <a:ext cx="618225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 answer "What is the NII impact of the 2023 acquisition?", the system must first identify </a:t>
            </a:r>
            <a:pPr algn="l" indent="0" marL="0">
              <a:buNone/>
            </a:pPr>
            <a:r>
              <a:rPr lang="en-US" sz="900" b="1" i="1" dirty="0">
                <a:solidFill>
                  <a:srgbClr val="FBBF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which acquisition occurred in 2023</a:t>
            </a:r>
            <a:pPr algn="l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(The Bridge), then search for that specific deal's financial details.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694944" y="3262579"/>
            <a:ext cx="635508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system uses specific facts found in </a:t>
            </a:r>
            <a:pPr algn="l" indent="0" marL="0">
              <a:buNone/>
            </a:pPr>
            <a:r>
              <a:rPr lang="en-US" sz="900" b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N</a:t>
            </a:r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formulate the search query for </a:t>
            </a:r>
            <a:pPr algn="l" indent="0" marL="0">
              <a:buNone/>
            </a:pPr>
            <a:r>
              <a:rPr lang="en-US" sz="900" b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N+1</a:t>
            </a:r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694944" y="3471977"/>
            <a:ext cx="67821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identifies a </a:t>
            </a:r>
            <a:pPr algn="l" indent="0" marL="0">
              <a:buNone/>
            </a:pPr>
            <a:r>
              <a:rPr lang="en-US" sz="900" b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Bridge Entity</a:t>
            </a:r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(a company, date, or person) to jump from one data source to another.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7144207" y="1076249"/>
            <a:ext cx="4667098" cy="5591556"/>
          </a:xfrm>
          <a:prstGeom prst="roundRect">
            <a:avLst>
              <a:gd name="adj" fmla="val 32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306056" y="1200607"/>
            <a:ext cx="13240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78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Mental Model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7306056" y="2700223"/>
            <a:ext cx="4343400" cy="514807"/>
          </a:xfrm>
          <a:prstGeom prst="roundRect">
            <a:avLst>
              <a:gd name="adj" fmla="val 26314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7391095" y="2786177"/>
            <a:ext cx="7342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Single-Hop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229393" y="2786177"/>
            <a:ext cx="381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Query</a:t>
            </a:r>
            <a:endParaRPr lang="en-US" sz="8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rcRect l="-1648" r="-1648" t="0" b="0"/>
          <a:stretch/>
        </p:blipFill>
        <p:spPr>
          <a:xfrm>
            <a:off x="10569550" y="2814523"/>
            <a:ext cx="85954" cy="95098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0692994" y="2786177"/>
            <a:ext cx="4197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</a:t>
            </a:r>
            <a:endParaRPr lang="en-US" sz="8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rcRect l="-1648" r="-1648" t="0" b="0"/>
          <a:stretch/>
        </p:blipFill>
        <p:spPr>
          <a:xfrm>
            <a:off x="11068812" y="2814523"/>
            <a:ext cx="85954" cy="95098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1193170" y="2786177"/>
            <a:ext cx="4480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Answer</a:t>
            </a:r>
            <a:endParaRPr lang="en-US" sz="800" dirty="0"/>
          </a:p>
        </p:txBody>
      </p:sp>
      <p:sp>
        <p:nvSpPr>
          <p:cNvPr id="32" name="Text 26"/>
          <p:cNvSpPr txBox="1"/>
          <p:nvPr/>
        </p:nvSpPr>
        <p:spPr>
          <a:xfrm>
            <a:off x="7391095" y="2976372"/>
            <a:ext cx="6766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Multi-Hop</a:t>
            </a:r>
            <a:endParaRPr lang="en-US" sz="800" dirty="0"/>
          </a:p>
        </p:txBody>
      </p:sp>
      <p:sp>
        <p:nvSpPr>
          <p:cNvPr id="33" name="Text 27"/>
          <p:cNvSpPr txBox="1"/>
          <p:nvPr/>
        </p:nvSpPr>
        <p:spPr>
          <a:xfrm>
            <a:off x="9103766" y="2976372"/>
            <a:ext cx="3337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Query</a:t>
            </a:r>
            <a:endParaRPr lang="en-US" sz="8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rcRect l="-455" r="-455" t="0" b="0"/>
          <a:stretch/>
        </p:blipFill>
        <p:spPr>
          <a:xfrm>
            <a:off x="9398203" y="3010205"/>
            <a:ext cx="75895" cy="85954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9512503" y="2976372"/>
            <a:ext cx="2670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</a:t>
            </a:r>
            <a:endParaRPr lang="en-US" sz="8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rcRect l="-455" r="-455" t="0" b="0"/>
          <a:stretch/>
        </p:blipFill>
        <p:spPr>
          <a:xfrm>
            <a:off x="9739274" y="3010205"/>
            <a:ext cx="75895" cy="85954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853574" y="2976372"/>
            <a:ext cx="362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Define</a:t>
            </a:r>
            <a:endParaRPr lang="en-US" sz="80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rcRect l="-455" r="-455" t="0" b="0"/>
          <a:stretch/>
        </p:blipFill>
        <p:spPr>
          <a:xfrm>
            <a:off x="10169957" y="3010205"/>
            <a:ext cx="75895" cy="85954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0284257" y="2976372"/>
            <a:ext cx="3721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</a:t>
            </a:r>
            <a:endParaRPr lang="en-US" sz="800" dirty="0"/>
          </a:p>
        </p:txBody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rcRect l="-455" r="-455" t="0" b="0"/>
          <a:stretch/>
        </p:blipFill>
        <p:spPr>
          <a:xfrm>
            <a:off x="10607954" y="3010205"/>
            <a:ext cx="75895" cy="85954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10722254" y="2976372"/>
            <a:ext cx="3145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</a:t>
            </a:r>
            <a:endParaRPr lang="en-US" sz="800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rcRect l="-455" r="-455" t="0" b="0"/>
          <a:stretch/>
        </p:blipFill>
        <p:spPr>
          <a:xfrm>
            <a:off x="10998403" y="3010205"/>
            <a:ext cx="75895" cy="85954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11112703" y="2976372"/>
            <a:ext cx="5340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Synthesize</a:t>
            </a:r>
            <a:endParaRPr lang="en-US" sz="800" dirty="0"/>
          </a:p>
        </p:txBody>
      </p:sp>
      <p:sp>
        <p:nvSpPr>
          <p:cNvPr id="44" name="Shape 33"/>
          <p:cNvSpPr/>
          <p:nvPr/>
        </p:nvSpPr>
        <p:spPr>
          <a:xfrm>
            <a:off x="10004450" y="3641141"/>
            <a:ext cx="428854" cy="1920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>
                <a:alpha val="0"/>
              </a:srgbClr>
            </a:solidFill>
            <a:prstDash val="solid"/>
          </a:ln>
        </p:spPr>
      </p:sp>
      <p:sp>
        <p:nvSpPr>
          <p:cNvPr id="45" name="Shape 34"/>
          <p:cNvSpPr/>
          <p:nvPr/>
        </p:nvSpPr>
        <p:spPr>
          <a:xfrm>
            <a:off x="10414102" y="3641141"/>
            <a:ext cx="19202" cy="286207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>
                <a:alpha val="0"/>
              </a:srgbClr>
            </a:solidFill>
            <a:prstDash val="solid"/>
          </a:ln>
        </p:spPr>
      </p:sp>
      <p:sp>
        <p:nvSpPr>
          <p:cNvPr id="46" name="Shape 35"/>
          <p:cNvSpPr/>
          <p:nvPr/>
        </p:nvSpPr>
        <p:spPr>
          <a:xfrm>
            <a:off x="10004450" y="4902098"/>
            <a:ext cx="428854" cy="1920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>
                <a:alpha val="0"/>
              </a:srgbClr>
            </a:solidFill>
            <a:prstDash val="solid"/>
          </a:ln>
        </p:spPr>
      </p:sp>
      <p:sp>
        <p:nvSpPr>
          <p:cNvPr id="47" name="Shape 36"/>
          <p:cNvSpPr/>
          <p:nvPr/>
        </p:nvSpPr>
        <p:spPr>
          <a:xfrm>
            <a:off x="10414102" y="4636008"/>
            <a:ext cx="19202" cy="286207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>
                <a:alpha val="0"/>
              </a:srgbClr>
            </a:solidFill>
            <a:prstDash val="solid"/>
          </a:ln>
        </p:spPr>
      </p:sp>
      <p:sp>
        <p:nvSpPr>
          <p:cNvPr id="48" name="Shape 37"/>
          <p:cNvSpPr/>
          <p:nvPr/>
        </p:nvSpPr>
        <p:spPr>
          <a:xfrm>
            <a:off x="8521294" y="4902098"/>
            <a:ext cx="428854" cy="1920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>
                <a:alpha val="0"/>
              </a:srgbClr>
            </a:solidFill>
            <a:prstDash val="solid"/>
          </a:ln>
        </p:spPr>
      </p:sp>
      <p:sp>
        <p:nvSpPr>
          <p:cNvPr id="49" name="Shape 38"/>
          <p:cNvSpPr/>
          <p:nvPr/>
        </p:nvSpPr>
        <p:spPr>
          <a:xfrm>
            <a:off x="8521294" y="4636008"/>
            <a:ext cx="19202" cy="286207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>
                <a:alpha val="0"/>
              </a:srgbClr>
            </a:solidFill>
            <a:prstDash val="solid"/>
          </a:ln>
        </p:spPr>
      </p:sp>
      <p:sp>
        <p:nvSpPr>
          <p:cNvPr id="50" name="Shape 39"/>
          <p:cNvSpPr/>
          <p:nvPr/>
        </p:nvSpPr>
        <p:spPr>
          <a:xfrm>
            <a:off x="8521294" y="3641141"/>
            <a:ext cx="428854" cy="1920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>
                <a:alpha val="0"/>
              </a:srgbClr>
            </a:solidFill>
            <a:prstDash val="solid"/>
          </a:ln>
        </p:spPr>
      </p:sp>
      <p:sp>
        <p:nvSpPr>
          <p:cNvPr id="51" name="Shape 40"/>
          <p:cNvSpPr/>
          <p:nvPr/>
        </p:nvSpPr>
        <p:spPr>
          <a:xfrm>
            <a:off x="8521294" y="3641141"/>
            <a:ext cx="19202" cy="286207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>
                <a:alpha val="0"/>
              </a:srgbClr>
            </a:solidFill>
            <a:prstDash val="solid"/>
          </a:ln>
        </p:spPr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9167774" y="3366821"/>
            <a:ext cx="619049" cy="619049"/>
          </a:xfrm>
          <a:prstGeom prst="rect">
            <a:avLst/>
          </a:prstGeom>
        </p:spPr>
      </p:pic>
      <p:pic>
        <p:nvPicPr>
          <p:cNvPr id="53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9391802" y="3534156"/>
            <a:ext cx="171907" cy="171907"/>
          </a:xfrm>
          <a:prstGeom prst="rect">
            <a:avLst/>
          </a:prstGeom>
        </p:spPr>
      </p:pic>
      <p:sp>
        <p:nvSpPr>
          <p:cNvPr id="54" name="Text 41"/>
          <p:cNvSpPr txBox="1"/>
          <p:nvPr/>
        </p:nvSpPr>
        <p:spPr>
          <a:xfrm>
            <a:off x="9368028" y="3705149"/>
            <a:ext cx="3054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</a:t>
            </a:r>
            <a:endParaRPr lang="en-US" sz="800" dirty="0"/>
          </a:p>
        </p:txBody>
      </p:sp>
      <p:pic>
        <p:nvPicPr>
          <p:cNvPr id="55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10682935" y="4006901"/>
            <a:ext cx="619049" cy="619049"/>
          </a:xfrm>
          <a:prstGeom prst="rect">
            <a:avLst/>
          </a:prstGeom>
        </p:spPr>
      </p:pic>
      <p:pic>
        <p:nvPicPr>
          <p:cNvPr id="56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10906049" y="4173322"/>
            <a:ext cx="171907" cy="171907"/>
          </a:xfrm>
          <a:prstGeom prst="rect">
            <a:avLst/>
          </a:prstGeom>
        </p:spPr>
      </p:pic>
      <p:sp>
        <p:nvSpPr>
          <p:cNvPr id="57" name="Text 42"/>
          <p:cNvSpPr txBox="1"/>
          <p:nvPr/>
        </p:nvSpPr>
        <p:spPr>
          <a:xfrm>
            <a:off x="10828325" y="4345229"/>
            <a:ext cx="4096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</a:t>
            </a:r>
            <a:endParaRPr lang="en-US" sz="800" dirty="0"/>
          </a:p>
        </p:txBody>
      </p:sp>
      <p:pic>
        <p:nvPicPr>
          <p:cNvPr id="58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9167774" y="4576572"/>
            <a:ext cx="619049" cy="619049"/>
          </a:xfrm>
          <a:prstGeom prst="rect">
            <a:avLst/>
          </a:prstGeom>
        </p:spPr>
      </p:pic>
      <p:pic>
        <p:nvPicPr>
          <p:cNvPr id="59" name="Image 14" descr="preencoded.png">    </p:cNvPr>
          <p:cNvPicPr>
            <a:picLocks noChangeAspect="1"/>
          </p:cNvPicPr>
          <p:nvPr/>
        </p:nvPicPr>
        <p:blipFill>
          <a:blip r:embed="rId15"/>
          <a:srcRect l="-1773" r="-1773" t="0" b="0"/>
          <a:stretch/>
        </p:blipFill>
        <p:spPr>
          <a:xfrm>
            <a:off x="9411005" y="4743907"/>
            <a:ext cx="133502" cy="171907"/>
          </a:xfrm>
          <a:prstGeom prst="rect">
            <a:avLst/>
          </a:prstGeom>
        </p:spPr>
      </p:pic>
      <p:sp>
        <p:nvSpPr>
          <p:cNvPr id="60" name="Text 43"/>
          <p:cNvSpPr txBox="1"/>
          <p:nvPr/>
        </p:nvSpPr>
        <p:spPr>
          <a:xfrm>
            <a:off x="9341510" y="4914900"/>
            <a:ext cx="3529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</a:t>
            </a:r>
            <a:endParaRPr lang="en-US" sz="800" dirty="0"/>
          </a:p>
        </p:txBody>
      </p:sp>
      <p:pic>
        <p:nvPicPr>
          <p:cNvPr id="61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7652614" y="4006901"/>
            <a:ext cx="619049" cy="619049"/>
          </a:xfrm>
          <a:prstGeom prst="rect">
            <a:avLst/>
          </a:prstGeom>
        </p:spPr>
      </p:pic>
      <p:pic>
        <p:nvPicPr>
          <p:cNvPr id="62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7876642" y="4173322"/>
            <a:ext cx="171907" cy="171907"/>
          </a:xfrm>
          <a:prstGeom prst="rect">
            <a:avLst/>
          </a:prstGeom>
        </p:spPr>
      </p:pic>
      <p:sp>
        <p:nvSpPr>
          <p:cNvPr id="63" name="Text 44"/>
          <p:cNvSpPr txBox="1"/>
          <p:nvPr/>
        </p:nvSpPr>
        <p:spPr>
          <a:xfrm>
            <a:off x="7816291" y="4345229"/>
            <a:ext cx="3721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Refine</a:t>
            </a:r>
            <a:endParaRPr lang="en-US" sz="800" dirty="0"/>
          </a:p>
        </p:txBody>
      </p:sp>
      <p:pic>
        <p:nvPicPr>
          <p:cNvPr id="64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-12" b="-12"/>
          <a:stretch/>
        </p:blipFill>
        <p:spPr>
          <a:xfrm>
            <a:off x="9059875" y="4043477"/>
            <a:ext cx="834847" cy="476402"/>
          </a:xfrm>
          <a:prstGeom prst="rect">
            <a:avLst/>
          </a:prstGeom>
        </p:spPr>
      </p:pic>
      <p:sp>
        <p:nvSpPr>
          <p:cNvPr id="65" name="Text 45"/>
          <p:cNvSpPr txBox="1"/>
          <p:nvPr/>
        </p:nvSpPr>
        <p:spPr>
          <a:xfrm>
            <a:off x="9135770" y="4081882"/>
            <a:ext cx="6858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66" kern="0" dirty="0">
                <a:solidFill>
                  <a:srgbClr val="BFDB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Step</a:t>
            </a:r>
            <a:endParaRPr lang="en-US" sz="800" dirty="0"/>
          </a:p>
        </p:txBody>
      </p:sp>
      <p:sp>
        <p:nvSpPr>
          <p:cNvPr id="66" name="Text 46"/>
          <p:cNvSpPr txBox="1"/>
          <p:nvPr/>
        </p:nvSpPr>
        <p:spPr>
          <a:xfrm>
            <a:off x="9135770" y="4310482"/>
            <a:ext cx="6858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Synthesize</a:t>
            </a:r>
            <a:endParaRPr lang="en-US" sz="800" dirty="0"/>
          </a:p>
        </p:txBody>
      </p:sp>
      <p:sp>
        <p:nvSpPr>
          <p:cNvPr id="67" name="Text 47"/>
          <p:cNvSpPr txBox="1"/>
          <p:nvPr/>
        </p:nvSpPr>
        <p:spPr>
          <a:xfrm>
            <a:off x="10299802" y="304495"/>
            <a:ext cx="14383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1300" dirty="0"/>
          </a:p>
        </p:txBody>
      </p:sp>
      <p:sp>
        <p:nvSpPr>
          <p:cNvPr id="68" name="Text 48"/>
          <p:cNvSpPr txBox="1"/>
          <p:nvPr/>
        </p:nvSpPr>
        <p:spPr>
          <a:xfrm>
            <a:off x="10299802" y="609905"/>
            <a:ext cx="1438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0"/>
            <a:ext cx="12191695" cy="115214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0" y="1143000"/>
            <a:ext cx="121916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381305"/>
            <a:ext cx="43918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Evolution of the Pipeline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09905"/>
            <a:ext cx="565465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68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Single-Hop vs. Multi-Hop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457200" y="1380744"/>
            <a:ext cx="11277295" cy="2619756"/>
          </a:xfrm>
          <a:prstGeom prst="roundRect">
            <a:avLst>
              <a:gd name="adj" fmla="val 1015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374151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" y="1390802"/>
          <a:ext cx="11259007" cy="2600554"/>
        </p:xfrm>
        <a:graphic>
          <a:graphicData uri="http://schemas.openxmlformats.org/drawingml/2006/table">
            <a:tbl>
              <a:tblPr/>
              <a:tblGrid>
                <a:gridCol w="1688897"/>
                <a:gridCol w="4785055"/>
                <a:gridCol w="4785055"/>
              </a:tblGrid>
              <a:tr h="4334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FEATURE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90195" marR="190195" marT="114300" marB="114300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5A059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SINGLE-HOP (STANDARD)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90195" marR="190195" marT="114300" marB="114300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5A059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MULTI-HOP (AGENTIC)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90195" marR="190195" marT="114300" marB="114300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A059">
                        <a:alpha val="5000"/>
                      </a:srgbClr>
                    </a:solidFill>
                  </a:tcPr>
                </a:tc>
              </a:tr>
              <a:tr h="4334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Query Type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90195" marR="190195" marT="114300" marB="114300" anchor="t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Factual, explicit ("What is X?")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90195" marR="190195" marT="114300" marB="114300" anchor="t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Complex, multi-part ("How does X impact Y?")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90195" marR="190195" marT="114300" marB="114300" anchor="t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A059">
                        <a:alpha val="5000"/>
                      </a:srgbClr>
                    </a:solidFill>
                  </a:tcPr>
                </a:tc>
              </a:tr>
              <a:tr h="4334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Data Source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90195" marR="190195" marT="114300" marB="114300" anchor="t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Single Document / Chunk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90195" marR="190195" marT="114300" marB="114300" anchor="t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Multiple Disconnected Documents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90195" marR="190195" marT="114300" marB="114300" anchor="t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A059">
                        <a:alpha val="5000"/>
                      </a:srgbClr>
                    </a:solidFill>
                  </a:tcPr>
                </a:tc>
              </a:tr>
              <a:tr h="4334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Process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90195" marR="190195" marT="114300" marB="114300" anchor="t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Linear (One pass)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90195" marR="190195" marT="114300" marB="114300" anchor="t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5A059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Iterative / Recursive (Looping)</a:t>
                      </a:r>
                      <a:endParaRPr lang="en-US" sz="1200" dirty="0"/>
                    </a:p>
                  </a:txBody>
                  <a:tcPr marL="190195" marR="190195" marT="114300" marB="114300" anchor="t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A059">
                        <a:alpha val="5000"/>
                      </a:srgbClr>
                    </a:solidFill>
                  </a:tcPr>
                </a:tc>
              </a:tr>
              <a:tr h="4334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Reasoning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90195" marR="190195" marT="114300" marB="114300" anchor="t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Read and Summarize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90195" marR="190195" marT="114300" marB="114300" anchor="t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Deduce and Connect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90195" marR="190195" marT="114300" marB="114300" anchor="t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A059">
                        <a:alpha val="5000"/>
                      </a:srgbClr>
                    </a:solidFill>
                  </a:tcPr>
                </a:tc>
              </a:tr>
              <a:tr h="4334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Fin. Example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90195" marR="190195" marT="114300" marB="114300" anchor="t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E2E8F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"Show me the 2023 Annual Report."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90195" marR="190195" marT="114300" marB="114300" anchor="t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E2E8F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"Is the CEO's compensation linked to ESG goals?"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90195" marR="190195" marT="114300" marB="114300" anchor="t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A059">
                        <a:alpha val="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57200" y="4229100"/>
            <a:ext cx="5486400" cy="2400300"/>
          </a:xfrm>
          <a:prstGeom prst="roundRect">
            <a:avLst>
              <a:gd name="adj" fmla="val 1209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457200" y="4229100"/>
            <a:ext cx="5486400" cy="9144"/>
          </a:xfrm>
          <a:prstGeom prst="roundRect">
            <a:avLst>
              <a:gd name="adj" fmla="val 31746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52298" y="4390949"/>
            <a:ext cx="52962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 Workflow: Linear</a:t>
            </a:r>
            <a:endParaRPr lang="en-US" sz="9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100" b="-1100"/>
          <a:stretch/>
        </p:blipFill>
        <p:spPr>
          <a:xfrm>
            <a:off x="2714854" y="5519318"/>
            <a:ext cx="114300" cy="133502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100" b="-1100"/>
          <a:stretch/>
        </p:blipFill>
        <p:spPr>
          <a:xfrm>
            <a:off x="3524098" y="5519318"/>
            <a:ext cx="114300" cy="13350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248095" y="4229100"/>
            <a:ext cx="5495544" cy="2400300"/>
          </a:xfrm>
          <a:prstGeom prst="roundRect">
            <a:avLst>
              <a:gd name="adj" fmla="val 1209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248095" y="4229100"/>
            <a:ext cx="5495544" cy="9144"/>
          </a:xfrm>
          <a:prstGeom prst="roundRect">
            <a:avLst>
              <a:gd name="adj" fmla="val 31746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353251" y="4390949"/>
            <a:ext cx="52870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Agentic Workflow: Cyclic</a:t>
            </a:r>
            <a:endParaRPr lang="en-US" sz="9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544154" y="4817059"/>
            <a:ext cx="133502" cy="13350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605418" y="4791456"/>
            <a:ext cx="90708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Retrieval 1</a:t>
            </a:r>
            <a:endParaRPr lang="en-US" sz="12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528609" y="5903366"/>
            <a:ext cx="133502" cy="13350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586216" y="5876849"/>
            <a:ext cx="952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Retrieval 2</a:t>
            </a:r>
            <a:endParaRPr lang="en-US" sz="12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3" b="-43"/>
          <a:stretch/>
        </p:blipFill>
        <p:spPr>
          <a:xfrm>
            <a:off x="6562649" y="5343754"/>
            <a:ext cx="133502" cy="152705"/>
          </a:xfrm>
          <a:prstGeom prst="rect">
            <a:avLst/>
          </a:prstGeom>
        </p:spPr>
      </p:pic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43" b="-43"/>
          <a:stretch/>
        </p:blipFill>
        <p:spPr>
          <a:xfrm>
            <a:off x="11287354" y="5343754"/>
            <a:ext cx="133502" cy="152705"/>
          </a:xfrm>
          <a:prstGeom prst="rect">
            <a:avLst/>
          </a:prstGeom>
        </p:spPr>
      </p:pic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00" b="-400"/>
          <a:stretch/>
        </p:blipFill>
        <p:spPr>
          <a:xfrm>
            <a:off x="6791249" y="5429707"/>
            <a:ext cx="457200" cy="19202"/>
          </a:xfrm>
          <a:prstGeom prst="rect">
            <a:avLst/>
          </a:prstGeom>
        </p:spPr>
      </p:pic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400" b="-400"/>
          <a:stretch/>
        </p:blipFill>
        <p:spPr>
          <a:xfrm>
            <a:off x="10735056" y="5429707"/>
            <a:ext cx="457200" cy="19202"/>
          </a:xfrm>
          <a:prstGeom prst="rect">
            <a:avLst/>
          </a:prstGeom>
        </p:spPr>
      </p:pic>
      <p:sp>
        <p:nvSpPr>
          <p:cNvPr id="28" name="Shape 16"/>
          <p:cNvSpPr/>
          <p:nvPr/>
        </p:nvSpPr>
        <p:spPr>
          <a:xfrm>
            <a:off x="8382305" y="4819802"/>
            <a:ext cx="1218895" cy="1218895"/>
          </a:xfrm>
          <a:prstGeom prst="ellips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29" name="Text 17"/>
          <p:cNvSpPr txBox="1"/>
          <p:nvPr/>
        </p:nvSpPr>
        <p:spPr>
          <a:xfrm>
            <a:off x="6353251" y="6238951"/>
            <a:ext cx="5287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Refines query based on intermediate results</a:t>
            </a:r>
            <a:endParaRPr lang="en-US" sz="12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2181758" y="5281574"/>
            <a:ext cx="381305" cy="381305"/>
          </a:xfrm>
          <a:prstGeom prst="rect">
            <a:avLst/>
          </a:prstGeom>
        </p:spPr>
      </p:pic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43" b="-43"/>
          <a:stretch/>
        </p:blipFill>
        <p:spPr>
          <a:xfrm>
            <a:off x="2305202" y="5395874"/>
            <a:ext cx="133502" cy="152705"/>
          </a:xfrm>
          <a:prstGeom prst="rect">
            <a:avLst/>
          </a:prstGeom>
        </p:spPr>
      </p:pic>
      <p:sp>
        <p:nvSpPr>
          <p:cNvPr id="32" name="Text 18"/>
          <p:cNvSpPr txBox="1"/>
          <p:nvPr/>
        </p:nvSpPr>
        <p:spPr>
          <a:xfrm>
            <a:off x="2197303" y="5738774"/>
            <a:ext cx="4288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Query</a:t>
            </a:r>
            <a:endParaRPr lang="en-US" sz="90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2986430" y="5281574"/>
            <a:ext cx="381305" cy="381305"/>
          </a:xfrm>
          <a:prstGeom prst="rect">
            <a:avLst/>
          </a:prstGeom>
        </p:spPr>
      </p:pic>
      <p:pic>
        <p:nvPicPr>
          <p:cNvPr id="34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3100730" y="5395874"/>
            <a:ext cx="152705" cy="152705"/>
          </a:xfrm>
          <a:prstGeom prst="rect">
            <a:avLst/>
          </a:prstGeom>
        </p:spPr>
      </p:pic>
      <p:sp>
        <p:nvSpPr>
          <p:cNvPr id="35" name="Text 19"/>
          <p:cNvSpPr txBox="1"/>
          <p:nvPr/>
        </p:nvSpPr>
        <p:spPr>
          <a:xfrm>
            <a:off x="2981858" y="5738774"/>
            <a:ext cx="4672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</a:t>
            </a:r>
            <a:endParaRPr lang="en-US" sz="900" dirty="0"/>
          </a:p>
        </p:txBody>
      </p:sp>
      <p:pic>
        <p:nvPicPr>
          <p:cNvPr id="36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3813962" y="5281574"/>
            <a:ext cx="381305" cy="381305"/>
          </a:xfrm>
          <a:prstGeom prst="rect">
            <a:avLst/>
          </a:prstGeom>
        </p:spPr>
      </p:pic>
      <p:pic>
        <p:nvPicPr>
          <p:cNvPr id="37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43" b="-43"/>
          <a:stretch/>
        </p:blipFill>
        <p:spPr>
          <a:xfrm>
            <a:off x="3938321" y="5395874"/>
            <a:ext cx="133502" cy="152705"/>
          </a:xfrm>
          <a:prstGeom prst="rect">
            <a:avLst/>
          </a:prstGeom>
        </p:spPr>
      </p:pic>
      <p:sp>
        <p:nvSpPr>
          <p:cNvPr id="38" name="Text 20"/>
          <p:cNvSpPr txBox="1"/>
          <p:nvPr/>
        </p:nvSpPr>
        <p:spPr>
          <a:xfrm>
            <a:off x="3791102" y="5738774"/>
            <a:ext cx="505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Answer</a:t>
            </a:r>
            <a:endParaRPr lang="en-US" sz="900" dirty="0"/>
          </a:p>
        </p:txBody>
      </p:sp>
      <p:sp>
        <p:nvSpPr>
          <p:cNvPr id="39" name="Shape 21"/>
          <p:cNvSpPr/>
          <p:nvPr/>
        </p:nvSpPr>
        <p:spPr>
          <a:xfrm>
            <a:off x="8534095" y="4972507"/>
            <a:ext cx="914400" cy="914400"/>
          </a:xfrm>
          <a:prstGeom prst="ellips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40" name="Text 22"/>
          <p:cNvSpPr txBox="1"/>
          <p:nvPr/>
        </p:nvSpPr>
        <p:spPr>
          <a:xfrm>
            <a:off x="8563356" y="5450738"/>
            <a:ext cx="857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Planner</a:t>
            </a:r>
            <a:endParaRPr lang="en-US" sz="1200" dirty="0"/>
          </a:p>
        </p:txBody>
      </p:sp>
      <p:pic>
        <p:nvPicPr>
          <p:cNvPr id="41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8896198" y="5179162"/>
            <a:ext cx="190195" cy="190195"/>
          </a:xfrm>
          <a:prstGeom prst="rect">
            <a:avLst/>
          </a:prstGeom>
        </p:spPr>
      </p:pic>
      <p:sp>
        <p:nvSpPr>
          <p:cNvPr id="42" name="Text 23"/>
          <p:cNvSpPr txBox="1"/>
          <p:nvPr/>
        </p:nvSpPr>
        <p:spPr>
          <a:xfrm>
            <a:off x="10376611" y="228600"/>
            <a:ext cx="14383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1300" dirty="0"/>
          </a:p>
        </p:txBody>
      </p:sp>
      <p:sp>
        <p:nvSpPr>
          <p:cNvPr id="43" name="Text 24"/>
          <p:cNvSpPr txBox="1"/>
          <p:nvPr/>
        </p:nvSpPr>
        <p:spPr>
          <a:xfrm>
            <a:off x="11198657" y="495605"/>
            <a:ext cx="6464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115214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0" y="1143000"/>
            <a:ext cx="121916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81305"/>
            <a:ext cx="57634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Workflow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09905"/>
            <a:ext cx="725119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68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"Retrieve-Read-Reason" Loop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06340" y="6120079"/>
            <a:ext cx="114300" cy="11430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197450" y="6100877"/>
            <a:ext cx="10661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Processing Step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266383" y="6120079"/>
            <a:ext cx="114300" cy="114300"/>
          </a:xfrm>
          <a:prstGeom prst="ellipse">
            <a:avLst/>
          </a:prstGeom>
          <a:solidFill>
            <a:srgbClr val="78350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56578" y="6100877"/>
            <a:ext cx="8531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Output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609905" y="2605126"/>
            <a:ext cx="10972800" cy="1920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09905" y="1757477"/>
            <a:ext cx="2667305" cy="1714500"/>
          </a:xfrm>
          <a:prstGeom prst="roundRect">
            <a:avLst>
              <a:gd name="adj" fmla="val 237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9244" y="1957730"/>
            <a:ext cx="485546" cy="571500"/>
          </a:xfrm>
          <a:prstGeom prst="roundRect">
            <a:avLst>
              <a:gd name="adj" fmla="val 29541"/>
            </a:avLst>
          </a:prstGeom>
          <a:solidFill>
            <a:srgbClr val="C5A05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5" b="-45"/>
          <a:stretch/>
        </p:blipFill>
        <p:spPr>
          <a:xfrm>
            <a:off x="923544" y="2119579"/>
            <a:ext cx="256946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9244" y="2671877"/>
            <a:ext cx="14575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Decomposition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09244" y="3014777"/>
            <a:ext cx="23436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Agent breaks the complex query into a logical dependency chain.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143146" y="2499970"/>
            <a:ext cx="247802" cy="228600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80" b="-180"/>
          <a:stretch/>
        </p:blipFill>
        <p:spPr>
          <a:xfrm>
            <a:off x="4219956" y="2529230"/>
            <a:ext cx="95098" cy="152705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4762195" y="1757477"/>
            <a:ext cx="2667305" cy="1714500"/>
          </a:xfrm>
          <a:prstGeom prst="roundRect">
            <a:avLst>
              <a:gd name="adj" fmla="val 237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962449" y="1957730"/>
            <a:ext cx="457200" cy="571500"/>
          </a:xfrm>
          <a:prstGeom prst="roundRect">
            <a:avLst>
              <a:gd name="adj" fmla="val 33333"/>
            </a:avLst>
          </a:prstGeom>
          <a:solidFill>
            <a:srgbClr val="C5A05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076749" y="2119579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962449" y="2671877"/>
            <a:ext cx="173461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Retrieval (Hop 1)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4962449" y="3014777"/>
            <a:ext cx="23436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Execute the first broad search to identify the target entity or concept.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7800746" y="2499970"/>
            <a:ext cx="247802" cy="228600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80" b="-180"/>
          <a:stretch/>
        </p:blipFill>
        <p:spPr>
          <a:xfrm>
            <a:off x="7877556" y="2529230"/>
            <a:ext cx="95098" cy="152705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8915400" y="1757477"/>
            <a:ext cx="2667305" cy="1714500"/>
          </a:xfrm>
          <a:prstGeom prst="roundRect">
            <a:avLst>
              <a:gd name="adj" fmla="val 237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9115654" y="1957730"/>
            <a:ext cx="514807" cy="571500"/>
          </a:xfrm>
          <a:prstGeom prst="roundRect">
            <a:avLst>
              <a:gd name="adj" fmla="val 26314"/>
            </a:avLst>
          </a:prstGeom>
          <a:solidFill>
            <a:srgbClr val="C5A05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rcRect l="-80" r="-80" t="0" b="0"/>
          <a:stretch/>
        </p:blipFill>
        <p:spPr>
          <a:xfrm>
            <a:off x="9229954" y="2119579"/>
            <a:ext cx="286207" cy="22860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9115654" y="2671877"/>
            <a:ext cx="17629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Bridge Discovery</a:t>
            </a:r>
            <a:endParaRPr lang="en-US" sz="1300" dirty="0"/>
          </a:p>
        </p:txBody>
      </p:sp>
      <p:sp>
        <p:nvSpPr>
          <p:cNvPr id="32" name="Text 23"/>
          <p:cNvSpPr txBox="1"/>
          <p:nvPr/>
        </p:nvSpPr>
        <p:spPr>
          <a:xfrm>
            <a:off x="9115654" y="3014777"/>
            <a:ext cx="23436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Extract key "Bridge Entities" (e.g., "Target is Acme Corp") from results.</a:t>
            </a:r>
            <a:endParaRPr lang="en-US" sz="900" dirty="0"/>
          </a:p>
        </p:txBody>
      </p:sp>
      <p:sp>
        <p:nvSpPr>
          <p:cNvPr id="33" name="Shape 24"/>
          <p:cNvSpPr/>
          <p:nvPr/>
        </p:nvSpPr>
        <p:spPr>
          <a:xfrm>
            <a:off x="11867998" y="3054096"/>
            <a:ext cx="19202" cy="121889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 rot="5400000">
            <a:off x="11536070" y="3929177"/>
            <a:ext cx="6574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Iterate</a:t>
            </a:r>
            <a:endParaRPr lang="en-US" sz="9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00" b="-400"/>
          <a:stretch/>
        </p:blipFill>
        <p:spPr>
          <a:xfrm>
            <a:off x="609905" y="4929530"/>
            <a:ext cx="10972800" cy="19202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915400" y="4081882"/>
            <a:ext cx="2667305" cy="1714500"/>
          </a:xfrm>
          <a:prstGeom prst="roundRect">
            <a:avLst>
              <a:gd name="adj" fmla="val 237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9115654" y="4281221"/>
            <a:ext cx="457200" cy="571500"/>
          </a:xfrm>
          <a:prstGeom prst="roundRect">
            <a:avLst>
              <a:gd name="adj" fmla="val 33333"/>
            </a:avLst>
          </a:prstGeom>
          <a:solidFill>
            <a:srgbClr val="C5A05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9229954" y="4443070"/>
            <a:ext cx="228600" cy="22860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9115654" y="4996282"/>
            <a:ext cx="1143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Refinement</a:t>
            </a:r>
            <a:endParaRPr lang="en-US" sz="1300" dirty="0"/>
          </a:p>
        </p:txBody>
      </p:sp>
      <p:sp>
        <p:nvSpPr>
          <p:cNvPr id="40" name="Text 29"/>
          <p:cNvSpPr txBox="1"/>
          <p:nvPr/>
        </p:nvSpPr>
        <p:spPr>
          <a:xfrm>
            <a:off x="9115654" y="5339182"/>
            <a:ext cx="23436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Reformulate the query using new knowledge (e.g., "Acme Corp Revenue").</a:t>
            </a:r>
            <a:endParaRPr lang="en-US" sz="900" dirty="0"/>
          </a:p>
        </p:txBody>
      </p:sp>
      <p:sp>
        <p:nvSpPr>
          <p:cNvPr id="41" name="Shape 30"/>
          <p:cNvSpPr/>
          <p:nvPr/>
        </p:nvSpPr>
        <p:spPr>
          <a:xfrm>
            <a:off x="7800746" y="4824374"/>
            <a:ext cx="247802" cy="228600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80" b="-180"/>
          <a:stretch/>
        </p:blipFill>
        <p:spPr>
          <a:xfrm>
            <a:off x="7877556" y="4852721"/>
            <a:ext cx="95098" cy="152705"/>
          </a:xfrm>
          <a:prstGeom prst="rect">
            <a:avLst/>
          </a:prstGeom>
        </p:spPr>
      </p:pic>
      <p:sp>
        <p:nvSpPr>
          <p:cNvPr id="43" name="Shape 31"/>
          <p:cNvSpPr/>
          <p:nvPr/>
        </p:nvSpPr>
        <p:spPr>
          <a:xfrm>
            <a:off x="4762195" y="4081882"/>
            <a:ext cx="2667305" cy="1714500"/>
          </a:xfrm>
          <a:prstGeom prst="roundRect">
            <a:avLst>
              <a:gd name="adj" fmla="val 237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4" name="Shape 32"/>
          <p:cNvSpPr/>
          <p:nvPr/>
        </p:nvSpPr>
        <p:spPr>
          <a:xfrm>
            <a:off x="4962449" y="4281221"/>
            <a:ext cx="457200" cy="571500"/>
          </a:xfrm>
          <a:prstGeom prst="roundRect">
            <a:avLst>
              <a:gd name="adj" fmla="val 33333"/>
            </a:avLst>
          </a:prstGeom>
          <a:solidFill>
            <a:srgbClr val="C5A05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5076749" y="4443070"/>
            <a:ext cx="228600" cy="228600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4962449" y="4996282"/>
            <a:ext cx="178033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Retrieval (Hop 2)</a:t>
            </a:r>
            <a:endParaRPr lang="en-US" sz="1300" dirty="0"/>
          </a:p>
        </p:txBody>
      </p:sp>
      <p:sp>
        <p:nvSpPr>
          <p:cNvPr id="47" name="Text 34"/>
          <p:cNvSpPr txBox="1"/>
          <p:nvPr/>
        </p:nvSpPr>
        <p:spPr>
          <a:xfrm>
            <a:off x="4962449" y="5339182"/>
            <a:ext cx="23436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Execute the second, targeted search using the refined parameters.</a:t>
            </a:r>
            <a:endParaRPr lang="en-US" sz="900" dirty="0"/>
          </a:p>
        </p:txBody>
      </p:sp>
      <p:sp>
        <p:nvSpPr>
          <p:cNvPr id="48" name="Shape 35"/>
          <p:cNvSpPr/>
          <p:nvPr/>
        </p:nvSpPr>
        <p:spPr>
          <a:xfrm>
            <a:off x="4143146" y="4824374"/>
            <a:ext cx="247802" cy="228600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180" b="-180"/>
          <a:stretch/>
        </p:blipFill>
        <p:spPr>
          <a:xfrm>
            <a:off x="4219956" y="4852721"/>
            <a:ext cx="95098" cy="152705"/>
          </a:xfrm>
          <a:prstGeom prst="rect">
            <a:avLst/>
          </a:prstGeom>
        </p:spPr>
      </p:pic>
      <p:sp>
        <p:nvSpPr>
          <p:cNvPr id="50" name="Shape 36"/>
          <p:cNvSpPr/>
          <p:nvPr/>
        </p:nvSpPr>
        <p:spPr>
          <a:xfrm>
            <a:off x="609905" y="4081882"/>
            <a:ext cx="2667305" cy="1714500"/>
          </a:xfrm>
          <a:prstGeom prst="roundRect">
            <a:avLst>
              <a:gd name="adj" fmla="val 2370"/>
            </a:avLst>
          </a:prstGeom>
          <a:solidFill>
            <a:srgbClr val="C5A059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1" name="Shape 37"/>
          <p:cNvSpPr/>
          <p:nvPr/>
        </p:nvSpPr>
        <p:spPr>
          <a:xfrm>
            <a:off x="809244" y="4281221"/>
            <a:ext cx="428854" cy="571500"/>
          </a:xfrm>
          <a:prstGeom prst="roundRect">
            <a:avLst>
              <a:gd name="adj" fmla="val 37906"/>
            </a:avLst>
          </a:prstGeom>
          <a:solidFill>
            <a:srgbClr val="C5A0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2" name="Image 12" descr="preencoded.png">    </p:cNvPr>
          <p:cNvPicPr>
            <a:picLocks noChangeAspect="1"/>
          </p:cNvPicPr>
          <p:nvPr/>
        </p:nvPicPr>
        <p:blipFill>
          <a:blip r:embed="rId13"/>
          <a:srcRect l="-57" r="-57" t="0" b="0"/>
          <a:stretch/>
        </p:blipFill>
        <p:spPr>
          <a:xfrm>
            <a:off x="923544" y="4443070"/>
            <a:ext cx="200254" cy="228600"/>
          </a:xfrm>
          <a:prstGeom prst="rect">
            <a:avLst/>
          </a:prstGeom>
        </p:spPr>
      </p:pic>
      <p:sp>
        <p:nvSpPr>
          <p:cNvPr id="53" name="Text 38"/>
          <p:cNvSpPr txBox="1"/>
          <p:nvPr/>
        </p:nvSpPr>
        <p:spPr>
          <a:xfrm>
            <a:off x="809244" y="4996282"/>
            <a:ext cx="99212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Synthesis</a:t>
            </a:r>
            <a:endParaRPr lang="en-US" sz="1300" dirty="0"/>
          </a:p>
        </p:txBody>
      </p:sp>
      <p:sp>
        <p:nvSpPr>
          <p:cNvPr id="54" name="Text 39"/>
          <p:cNvSpPr txBox="1"/>
          <p:nvPr/>
        </p:nvSpPr>
        <p:spPr>
          <a:xfrm>
            <a:off x="809244" y="5339182"/>
            <a:ext cx="23436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Combine context from Hop 1 and Hop 2 for the final cited answer.</a:t>
            </a:r>
            <a:endParaRPr lang="en-US" sz="900" dirty="0"/>
          </a:p>
        </p:txBody>
      </p:sp>
      <p:pic>
        <p:nvPicPr>
          <p:cNvPr id="5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9244" y="1623974"/>
            <a:ext cx="286207" cy="286207"/>
          </a:xfrm>
          <a:prstGeom prst="rect">
            <a:avLst/>
          </a:prstGeom>
        </p:spPr>
      </p:pic>
      <p:sp>
        <p:nvSpPr>
          <p:cNvPr id="56" name="Text 40"/>
          <p:cNvSpPr/>
          <p:nvPr/>
        </p:nvSpPr>
        <p:spPr>
          <a:xfrm>
            <a:off x="809244" y="1623974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E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pic>
        <p:nvPicPr>
          <p:cNvPr id="5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62449" y="1623974"/>
            <a:ext cx="286207" cy="286207"/>
          </a:xfrm>
          <a:prstGeom prst="rect">
            <a:avLst/>
          </a:prstGeom>
        </p:spPr>
      </p:pic>
      <p:sp>
        <p:nvSpPr>
          <p:cNvPr id="58" name="Text 41"/>
          <p:cNvSpPr/>
          <p:nvPr/>
        </p:nvSpPr>
        <p:spPr>
          <a:xfrm>
            <a:off x="4962449" y="1623974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E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pic>
        <p:nvPicPr>
          <p:cNvPr id="5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15654" y="1623974"/>
            <a:ext cx="286207" cy="286207"/>
          </a:xfrm>
          <a:prstGeom prst="rect">
            <a:avLst/>
          </a:prstGeom>
        </p:spPr>
      </p:pic>
      <p:sp>
        <p:nvSpPr>
          <p:cNvPr id="60" name="Text 42"/>
          <p:cNvSpPr/>
          <p:nvPr/>
        </p:nvSpPr>
        <p:spPr>
          <a:xfrm>
            <a:off x="9115654" y="1623974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E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pic>
        <p:nvPicPr>
          <p:cNvPr id="6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15654" y="3948379"/>
            <a:ext cx="286207" cy="286207"/>
          </a:xfrm>
          <a:prstGeom prst="rect">
            <a:avLst/>
          </a:prstGeom>
        </p:spPr>
      </p:pic>
      <p:sp>
        <p:nvSpPr>
          <p:cNvPr id="62" name="Text 43"/>
          <p:cNvSpPr/>
          <p:nvPr/>
        </p:nvSpPr>
        <p:spPr>
          <a:xfrm>
            <a:off x="9115654" y="3948379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E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pic>
        <p:nvPicPr>
          <p:cNvPr id="63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62449" y="3948379"/>
            <a:ext cx="286207" cy="286207"/>
          </a:xfrm>
          <a:prstGeom prst="rect">
            <a:avLst/>
          </a:prstGeom>
        </p:spPr>
      </p:pic>
      <p:sp>
        <p:nvSpPr>
          <p:cNvPr id="64" name="Text 44"/>
          <p:cNvSpPr/>
          <p:nvPr/>
        </p:nvSpPr>
        <p:spPr>
          <a:xfrm>
            <a:off x="4962449" y="3948379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E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pic>
        <p:nvPicPr>
          <p:cNvPr id="6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9244" y="3948379"/>
            <a:ext cx="286207" cy="286207"/>
          </a:xfrm>
          <a:prstGeom prst="rect">
            <a:avLst/>
          </a:prstGeom>
        </p:spPr>
      </p:pic>
      <p:sp>
        <p:nvSpPr>
          <p:cNvPr id="66" name="Text 45"/>
          <p:cNvSpPr/>
          <p:nvPr/>
        </p:nvSpPr>
        <p:spPr>
          <a:xfrm>
            <a:off x="809244" y="3948379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E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00" dirty="0"/>
          </a:p>
        </p:txBody>
      </p:sp>
      <p:sp>
        <p:nvSpPr>
          <p:cNvPr id="67" name="Text 46"/>
          <p:cNvSpPr txBox="1"/>
          <p:nvPr/>
        </p:nvSpPr>
        <p:spPr>
          <a:xfrm>
            <a:off x="10299802" y="304495"/>
            <a:ext cx="14383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1300" dirty="0"/>
          </a:p>
        </p:txBody>
      </p:sp>
      <p:sp>
        <p:nvSpPr>
          <p:cNvPr id="68" name="Text 47"/>
          <p:cNvSpPr txBox="1"/>
          <p:nvPr/>
        </p:nvSpPr>
        <p:spPr>
          <a:xfrm>
            <a:off x="10299802" y="609905"/>
            <a:ext cx="1438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122895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0" y="1219810"/>
            <a:ext cx="121916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81305"/>
            <a:ext cx="37536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Technique A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09905"/>
            <a:ext cx="45153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68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Query Decomposition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533449"/>
            <a:ext cx="43214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Breaking Down the "Deal Question"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57200" y="2180844"/>
            <a:ext cx="3657600" cy="1324051"/>
          </a:xfrm>
          <a:prstGeom prst="roundRect">
            <a:avLst>
              <a:gd name="adj" fmla="val 397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07999" y="2381098"/>
            <a:ext cx="31217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6" kern="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The Challenge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57454" y="2648102"/>
            <a:ext cx="333390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LLMs struggle to fetch all facets of a complex, multi-hop query in a single pass. Context windows get flooded with irrelevant noise.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3727094"/>
            <a:ext cx="3657600" cy="1324051"/>
          </a:xfrm>
          <a:prstGeom prst="roundRect">
            <a:avLst>
              <a:gd name="adj" fmla="val 397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9653" y="3926434"/>
            <a:ext cx="315010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6" kern="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The Solution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57454" y="4193438"/>
            <a:ext cx="333390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"Agent" decomposes the prompt into a dependency chain. Each step retrieves specific facts needed for the next.</a:t>
            </a:r>
            <a:endParaRPr lang="en-US" sz="10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-3" r="-3" t="0" b="0"/>
          <a:stretch/>
        </p:blipFill>
        <p:spPr>
          <a:xfrm>
            <a:off x="457200" y="5639105"/>
            <a:ext cx="3654857" cy="9144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47395" y="5790895"/>
            <a:ext cx="3429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647395" y="6019495"/>
            <a:ext cx="33915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"You cannot answer Sub-Q 3 without knowing the answer to Sub-Q 1."</a:t>
            </a:r>
            <a:endParaRPr lang="en-US" sz="10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7454" y="2407615"/>
            <a:ext cx="133502" cy="133502"/>
          </a:xfrm>
          <a:prstGeom prst="rect">
            <a:avLst/>
          </a:prstGeom>
        </p:spPr>
      </p:pic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-2512" r="-2512" t="0" b="0"/>
          <a:stretch/>
        </p:blipFill>
        <p:spPr>
          <a:xfrm>
            <a:off x="657454" y="3952951"/>
            <a:ext cx="105156" cy="133502"/>
          </a:xfrm>
          <a:prstGeom prst="rect">
            <a:avLst/>
          </a:prstGeom>
        </p:spPr>
      </p:pic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>
            <a:alphaModFix amt="60000"/>
          </a:blip>
          <a:srcRect l="0" r="0" t="-400" b="-400"/>
          <a:stretch/>
        </p:blipFill>
        <p:spPr>
          <a:xfrm>
            <a:off x="457200" y="1914754"/>
            <a:ext cx="457200" cy="38405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4416552" y="1533449"/>
            <a:ext cx="9144" cy="502005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-360" r="-360" t="0" b="0"/>
          <a:stretch/>
        </p:blipFill>
        <p:spPr>
          <a:xfrm>
            <a:off x="8223199" y="2391156"/>
            <a:ext cx="19202" cy="381305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4959706" y="3286354"/>
            <a:ext cx="19202" cy="2553005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175650" y="2747772"/>
            <a:ext cx="114300" cy="11430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5606186" y="1609344"/>
            <a:ext cx="5257800" cy="1067105"/>
          </a:xfrm>
          <a:prstGeom prst="roundRect">
            <a:avLst>
              <a:gd name="adj" fmla="val 6121"/>
            </a:avLst>
          </a:prstGeom>
          <a:solidFill>
            <a:srgbClr val="C5A059">
              <a:alpha val="10000"/>
            </a:srgbClr>
          </a:solidFill>
          <a:ln w="25400">
            <a:solidFill>
              <a:srgbClr val="C5A059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0"/>
              </a:srgbClr>
            </a:outerShdw>
          </a:effectLst>
        </p:spPr>
      </p:sp>
      <p:sp>
        <p:nvSpPr>
          <p:cNvPr id="27" name="Text 18"/>
          <p:cNvSpPr txBox="1"/>
          <p:nvPr/>
        </p:nvSpPr>
        <p:spPr>
          <a:xfrm>
            <a:off x="5720486" y="1781251"/>
            <a:ext cx="50292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Query</a:t>
            </a:r>
            <a:endParaRPr lang="en-US" sz="900" dirty="0"/>
          </a:p>
        </p:txBody>
      </p:sp>
      <p:sp>
        <p:nvSpPr>
          <p:cNvPr id="28" name="Text 19"/>
          <p:cNvSpPr txBox="1"/>
          <p:nvPr/>
        </p:nvSpPr>
        <p:spPr>
          <a:xfrm>
            <a:off x="5739689" y="1971446"/>
            <a:ext cx="49917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"How will the new tariff policy impact our largest automotive holding?"</a:t>
            </a:r>
            <a:endParaRPr lang="en-US" sz="1300" dirty="0"/>
          </a:p>
        </p:txBody>
      </p:sp>
      <p:sp>
        <p:nvSpPr>
          <p:cNvPr id="29" name="Shape 20"/>
          <p:cNvSpPr/>
          <p:nvPr/>
        </p:nvSpPr>
        <p:spPr>
          <a:xfrm>
            <a:off x="5111496" y="3057754"/>
            <a:ext cx="6476695" cy="705002"/>
          </a:xfrm>
          <a:prstGeom prst="roundRect">
            <a:avLst>
              <a:gd name="adj" fmla="val 14022"/>
            </a:avLst>
          </a:prstGeom>
          <a:solidFill>
            <a:srgbClr val="0B1E3D">
              <a:alpha val="8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5111496" y="3057754"/>
            <a:ext cx="38405" cy="705002"/>
          </a:xfrm>
          <a:prstGeom prst="roundRect">
            <a:avLst>
              <a:gd name="adj" fmla="val 257399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5302606" y="3219602"/>
            <a:ext cx="32772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1: Entity Identification</a:t>
            </a:r>
            <a:endParaRPr lang="en-US" sz="900" dirty="0"/>
          </a:p>
        </p:txBody>
      </p:sp>
      <p:sp>
        <p:nvSpPr>
          <p:cNvPr id="32" name="Text 23"/>
          <p:cNvSpPr txBox="1"/>
          <p:nvPr/>
        </p:nvSpPr>
        <p:spPr>
          <a:xfrm>
            <a:off x="5302606" y="3409798"/>
            <a:ext cx="375178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"Identify our fund's largest automotive holding"</a:t>
            </a:r>
            <a:endParaRPr lang="en-US" sz="10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7389" y="3295498"/>
            <a:ext cx="1228954" cy="256946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492740" y="3295498"/>
            <a:ext cx="933602" cy="25786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0B981">
                <a:alpha val="3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Retrieves: Ford</a:t>
            </a:r>
            <a:endParaRPr lang="en-US" sz="8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rcRect l="-1677" r="-1677" t="0" b="0"/>
          <a:stretch/>
        </p:blipFill>
        <p:spPr>
          <a:xfrm>
            <a:off x="10320833" y="3369564"/>
            <a:ext cx="95098" cy="105156"/>
          </a:xfrm>
          <a:prstGeom prst="rect">
            <a:avLst/>
          </a:prstGeom>
        </p:spPr>
      </p:pic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rcRect l="-450" r="-450" t="0" b="0"/>
          <a:stretch/>
        </p:blipFill>
        <p:spPr>
          <a:xfrm>
            <a:off x="5111496" y="3991356"/>
            <a:ext cx="19202" cy="304495"/>
          </a:xfrm>
          <a:prstGeom prst="rect">
            <a:avLst/>
          </a:prstGeom>
        </p:spPr>
      </p:pic>
      <p:sp>
        <p:nvSpPr>
          <p:cNvPr id="37" name="Shape 25"/>
          <p:cNvSpPr/>
          <p:nvPr/>
        </p:nvSpPr>
        <p:spPr>
          <a:xfrm>
            <a:off x="5111496" y="3991356"/>
            <a:ext cx="6476695" cy="705002"/>
          </a:xfrm>
          <a:prstGeom prst="roundRect">
            <a:avLst>
              <a:gd name="adj" fmla="val 14022"/>
            </a:avLst>
          </a:prstGeom>
          <a:solidFill>
            <a:srgbClr val="0B1E3D">
              <a:alpha val="8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0"/>
              </a:srgbClr>
            </a:outerShdw>
          </a:effectLst>
        </p:spPr>
      </p:sp>
      <p:sp>
        <p:nvSpPr>
          <p:cNvPr id="38" name="Shape 26"/>
          <p:cNvSpPr/>
          <p:nvPr/>
        </p:nvSpPr>
        <p:spPr>
          <a:xfrm>
            <a:off x="5111496" y="3991356"/>
            <a:ext cx="38405" cy="705002"/>
          </a:xfrm>
          <a:prstGeom prst="roundRect">
            <a:avLst>
              <a:gd name="adj" fmla="val 257399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9" name="Text 27"/>
          <p:cNvSpPr txBox="1"/>
          <p:nvPr/>
        </p:nvSpPr>
        <p:spPr>
          <a:xfrm>
            <a:off x="5302606" y="4153205"/>
            <a:ext cx="39529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2: External Factor Lookup</a:t>
            </a:r>
            <a:endParaRPr lang="en-US" sz="900" dirty="0"/>
          </a:p>
        </p:txBody>
      </p:sp>
      <p:sp>
        <p:nvSpPr>
          <p:cNvPr id="40" name="Text 28"/>
          <p:cNvSpPr txBox="1"/>
          <p:nvPr/>
        </p:nvSpPr>
        <p:spPr>
          <a:xfrm>
            <a:off x="5302606" y="4343400"/>
            <a:ext cx="45244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"What are the new tariff policies for automotive imports?"</a:t>
            </a:r>
            <a:endParaRPr lang="en-US" sz="1000" dirty="0"/>
          </a:p>
        </p:txBody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66706" y="4229100"/>
            <a:ext cx="1657807" cy="256946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10062058" y="4229100"/>
            <a:ext cx="1362456" cy="25786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0B981">
                <a:alpha val="3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Retrieves: 25% on Steel</a:t>
            </a:r>
            <a:endParaRPr lang="en-US" sz="800" dirty="0"/>
          </a:p>
        </p:txBody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rcRect l="-1677" r="-1677" t="0" b="0"/>
          <a:stretch/>
        </p:blipFill>
        <p:spPr>
          <a:xfrm>
            <a:off x="9891065" y="4303166"/>
            <a:ext cx="95098" cy="105156"/>
          </a:xfrm>
          <a:prstGeom prst="rect">
            <a:avLst/>
          </a:prstGeom>
        </p:spPr>
      </p:pic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rcRect l="-450" r="-450" t="0" b="0"/>
          <a:stretch/>
        </p:blipFill>
        <p:spPr>
          <a:xfrm>
            <a:off x="5111496" y="4924044"/>
            <a:ext cx="19202" cy="304495"/>
          </a:xfrm>
          <a:prstGeom prst="rect">
            <a:avLst/>
          </a:prstGeom>
        </p:spPr>
      </p:pic>
      <p:sp>
        <p:nvSpPr>
          <p:cNvPr id="45" name="Shape 30"/>
          <p:cNvSpPr/>
          <p:nvPr/>
        </p:nvSpPr>
        <p:spPr>
          <a:xfrm>
            <a:off x="5111496" y="4924044"/>
            <a:ext cx="6476695" cy="1143000"/>
          </a:xfrm>
          <a:prstGeom prst="roundRect">
            <a:avLst>
              <a:gd name="adj" fmla="val 5333"/>
            </a:avLst>
          </a:prstGeom>
          <a:solidFill>
            <a:srgbClr val="0B1E3D">
              <a:alpha val="8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0"/>
              </a:srgbClr>
            </a:outerShdw>
          </a:effectLst>
        </p:spPr>
      </p:sp>
      <p:sp>
        <p:nvSpPr>
          <p:cNvPr id="46" name="Shape 31"/>
          <p:cNvSpPr/>
          <p:nvPr/>
        </p:nvSpPr>
        <p:spPr>
          <a:xfrm>
            <a:off x="5111496" y="4924044"/>
            <a:ext cx="38405" cy="1143000"/>
          </a:xfrm>
          <a:prstGeom prst="roundRect">
            <a:avLst>
              <a:gd name="adj" fmla="val 158729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7" name="Text 32"/>
          <p:cNvSpPr txBox="1"/>
          <p:nvPr/>
        </p:nvSpPr>
        <p:spPr>
          <a:xfrm>
            <a:off x="5302606" y="5086807"/>
            <a:ext cx="31345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3: Impact Analysis (Dependency)</a:t>
            </a:r>
            <a:endParaRPr lang="en-US" sz="900" dirty="0"/>
          </a:p>
        </p:txBody>
      </p:sp>
      <p:sp>
        <p:nvSpPr>
          <p:cNvPr id="48" name="Text 33"/>
          <p:cNvSpPr txBox="1"/>
          <p:nvPr/>
        </p:nvSpPr>
        <p:spPr>
          <a:xfrm>
            <a:off x="5302606" y="5277002"/>
            <a:ext cx="358719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"What is </a:t>
            </a:r>
            <a:pPr algn="l" indent="0" marL="0">
              <a:buNone/>
            </a:pPr>
            <a:r>
              <a:rPr lang="en-US" sz="10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Ford's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exposure to </a:t>
            </a:r>
            <a:pPr algn="l" indent="0" marL="0">
              <a:buNone/>
            </a:pPr>
            <a:r>
              <a:rPr lang="en-US" sz="10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imported steel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?"</a:t>
            </a:r>
            <a:endParaRPr lang="en-US" sz="1000" dirty="0"/>
          </a:p>
        </p:txBody>
      </p:sp>
      <p:pic>
        <p:nvPicPr>
          <p:cNvPr id="4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52737" y="5162702"/>
            <a:ext cx="1876349" cy="256946"/>
          </a:xfrm>
          <a:prstGeom prst="rect">
            <a:avLst/>
          </a:prstGeom>
        </p:spPr>
      </p:pic>
      <p:sp>
        <p:nvSpPr>
          <p:cNvPr id="50" name="Text 34"/>
          <p:cNvSpPr/>
          <p:nvPr/>
        </p:nvSpPr>
        <p:spPr>
          <a:xfrm>
            <a:off x="9828886" y="5162702"/>
            <a:ext cx="1601114" cy="25786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0B981">
                <a:alpha val="3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Retrieves: 10-K Risk Factors</a:t>
            </a:r>
            <a:endParaRPr lang="en-US" sz="800" dirty="0"/>
          </a:p>
        </p:txBody>
      </p:sp>
      <p:pic>
        <p:nvPicPr>
          <p:cNvPr id="51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1958" b="-1958"/>
          <a:stretch/>
        </p:blipFill>
        <p:spPr>
          <a:xfrm>
            <a:off x="9676181" y="5236769"/>
            <a:ext cx="75895" cy="105156"/>
          </a:xfrm>
          <a:prstGeom prst="rect">
            <a:avLst/>
          </a:prstGeom>
        </p:spPr>
      </p:pic>
      <p:pic>
        <p:nvPicPr>
          <p:cNvPr id="5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02606" y="5581498"/>
            <a:ext cx="1485900" cy="323698"/>
          </a:xfrm>
          <a:prstGeom prst="rect">
            <a:avLst/>
          </a:prstGeom>
        </p:spPr>
      </p:pic>
      <p:sp>
        <p:nvSpPr>
          <p:cNvPr id="53" name="Text 35"/>
          <p:cNvSpPr/>
          <p:nvPr/>
        </p:nvSpPr>
        <p:spPr>
          <a:xfrm>
            <a:off x="5302606" y="5581498"/>
            <a:ext cx="1485900" cy="3246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37415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 from Step 1</a:t>
            </a:r>
            <a:endParaRPr lang="en-US" sz="1200" dirty="0"/>
          </a:p>
        </p:txBody>
      </p:sp>
      <p:pic>
        <p:nvPicPr>
          <p:cNvPr id="5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0" y="5581498"/>
            <a:ext cx="1514246" cy="323698"/>
          </a:xfrm>
          <a:prstGeom prst="rect">
            <a:avLst/>
          </a:prstGeom>
        </p:spPr>
      </p:pic>
      <p:sp>
        <p:nvSpPr>
          <p:cNvPr id="55" name="Text 36"/>
          <p:cNvSpPr/>
          <p:nvPr/>
        </p:nvSpPr>
        <p:spPr>
          <a:xfrm>
            <a:off x="6858000" y="5581498"/>
            <a:ext cx="1515161" cy="3246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37415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 from Step 2</a:t>
            </a:r>
            <a:endParaRPr lang="en-US" sz="1200" dirty="0"/>
          </a:p>
        </p:txBody>
      </p:sp>
      <p:sp>
        <p:nvSpPr>
          <p:cNvPr id="56" name="Text 37"/>
          <p:cNvSpPr txBox="1"/>
          <p:nvPr/>
        </p:nvSpPr>
        <p:spPr>
          <a:xfrm>
            <a:off x="10475366" y="1304849"/>
            <a:ext cx="13432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Execution Flow</a:t>
            </a:r>
            <a:endParaRPr lang="en-US" sz="900" dirty="0"/>
          </a:p>
        </p:txBody>
      </p:sp>
      <p:sp>
        <p:nvSpPr>
          <p:cNvPr id="57" name="Shape 38"/>
          <p:cNvSpPr/>
          <p:nvPr/>
        </p:nvSpPr>
        <p:spPr>
          <a:xfrm>
            <a:off x="5111496" y="3209544"/>
            <a:ext cx="152705" cy="152705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8" name="Shape 39"/>
          <p:cNvSpPr/>
          <p:nvPr/>
        </p:nvSpPr>
        <p:spPr>
          <a:xfrm>
            <a:off x="5111496" y="4143146"/>
            <a:ext cx="152705" cy="152705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9" name="Shape 40"/>
          <p:cNvSpPr/>
          <p:nvPr/>
        </p:nvSpPr>
        <p:spPr>
          <a:xfrm>
            <a:off x="5111496" y="5076749"/>
            <a:ext cx="152705" cy="152705"/>
          </a:xfrm>
          <a:prstGeom prst="ellipse">
            <a:avLst/>
          </a:prstGeom>
          <a:solidFill>
            <a:srgbClr val="C5A05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0" name="Text 41"/>
          <p:cNvSpPr txBox="1"/>
          <p:nvPr/>
        </p:nvSpPr>
        <p:spPr>
          <a:xfrm>
            <a:off x="10299802" y="304495"/>
            <a:ext cx="14383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1300" dirty="0"/>
          </a:p>
        </p:txBody>
      </p:sp>
      <p:sp>
        <p:nvSpPr>
          <p:cNvPr id="61" name="Text 42"/>
          <p:cNvSpPr txBox="1"/>
          <p:nvPr/>
        </p:nvSpPr>
        <p:spPr>
          <a:xfrm>
            <a:off x="10299802" y="609905"/>
            <a:ext cx="1438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6467551"/>
            <a:ext cx="11277295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0" y="0"/>
            <a:ext cx="12191695" cy="122895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0" y="1219810"/>
            <a:ext cx="121916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57200" y="381305"/>
            <a:ext cx="33439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Technique A (Continued)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09905"/>
            <a:ext cx="45153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68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Recursive Retrieval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10299802" y="533095"/>
            <a:ext cx="14383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0299802" y="800100"/>
            <a:ext cx="1438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07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1751076"/>
            <a:ext cx="37243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"Drill-Down" Method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2456078"/>
            <a:ext cx="3686861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Instead of searching for specific details immediately, the system first retrieves a high-level summary to understand the context, then generates targeted queries for the details.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3856025"/>
            <a:ext cx="3610051" cy="1438351"/>
          </a:xfrm>
          <a:prstGeom prst="roundRect">
            <a:avLst>
              <a:gd name="adj" fmla="val 336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17143" y="4094683"/>
            <a:ext cx="30266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6" kern="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Key Insight 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694944" y="4399178"/>
            <a:ext cx="3210458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"The system learns what to look for from the initial retrieval, then drills deeper into specific sections."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5592470"/>
            <a:ext cx="37243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 Logic</a:t>
            </a:r>
            <a:endParaRPr lang="en-US" sz="9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859475"/>
            <a:ext cx="990295" cy="47640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57200" y="5859475"/>
            <a:ext cx="991210" cy="47640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D4E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Broad Search</a:t>
            </a:r>
            <a:endParaRPr lang="en-US" sz="10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-2571" r="-2571" t="0" b="0"/>
          <a:stretch/>
        </p:blipFill>
        <p:spPr>
          <a:xfrm>
            <a:off x="1522476" y="6039612"/>
            <a:ext cx="105156" cy="114300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3527" y="5859475"/>
            <a:ext cx="923544" cy="47640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703527" y="5859475"/>
            <a:ext cx="924458" cy="47640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D4E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Cue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-2571" r="-2571" t="0" b="0"/>
          <a:stretch/>
        </p:blipFill>
        <p:spPr>
          <a:xfrm>
            <a:off x="2693822" y="6039612"/>
            <a:ext cx="105156" cy="114300"/>
          </a:xfrm>
          <a:prstGeom prst="rect">
            <a:avLst/>
          </a:prstGeom>
        </p:spPr>
      </p:pic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4874" y="5859475"/>
            <a:ext cx="1190549" cy="47640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2874874" y="5859475"/>
            <a:ext cx="1191463" cy="47640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D4E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Targeted Lookup</a:t>
            </a:r>
            <a:endParaRPr lang="en-US" sz="10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rcRect l="-2512" r="-2512" t="0" b="0"/>
          <a:stretch/>
        </p:blipFill>
        <p:spPr>
          <a:xfrm>
            <a:off x="694944" y="4121201"/>
            <a:ext cx="105156" cy="133502"/>
          </a:xfrm>
          <a:prstGeom prst="rect">
            <a:avLst/>
          </a:prstGeom>
        </p:spPr>
      </p:pic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>
            <a:alphaModFix amt="60000"/>
          </a:blip>
          <a:srcRect l="0" r="0" t="-400" b="-400"/>
          <a:stretch/>
        </p:blipFill>
        <p:spPr>
          <a:xfrm>
            <a:off x="457200" y="2189988"/>
            <a:ext cx="457200" cy="38405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9086393" y="1533449"/>
            <a:ext cx="276423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Scenario: Earnings Call Analysis</a:t>
            </a:r>
            <a:endParaRPr lang="en-US" sz="900" dirty="0"/>
          </a:p>
        </p:txBody>
      </p:sp>
      <p:sp>
        <p:nvSpPr>
          <p:cNvPr id="30" name="Shape 19"/>
          <p:cNvSpPr/>
          <p:nvPr/>
        </p:nvSpPr>
        <p:spPr>
          <a:xfrm>
            <a:off x="4927702" y="1809598"/>
            <a:ext cx="6400800" cy="1057046"/>
          </a:xfrm>
          <a:prstGeom prst="roundRect">
            <a:avLst>
              <a:gd name="adj" fmla="val 6235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1" name="Shape 20"/>
          <p:cNvSpPr/>
          <p:nvPr/>
        </p:nvSpPr>
        <p:spPr>
          <a:xfrm>
            <a:off x="4927702" y="1809598"/>
            <a:ext cx="38405" cy="1057046"/>
          </a:xfrm>
          <a:prstGeom prst="roundRect">
            <a:avLst>
              <a:gd name="adj" fmla="val 171599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2" name="Shape 21"/>
          <p:cNvSpPr/>
          <p:nvPr/>
        </p:nvSpPr>
        <p:spPr>
          <a:xfrm>
            <a:off x="5194706" y="2033626"/>
            <a:ext cx="418795" cy="476402"/>
          </a:xfrm>
          <a:prstGeom prst="roundRect">
            <a:avLst>
              <a:gd name="adj" fmla="val 218341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5318150" y="2168957"/>
            <a:ext cx="171907" cy="171907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5766206" y="2033626"/>
            <a:ext cx="34866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Hop 1: Broad Context</a:t>
            </a:r>
            <a:endParaRPr lang="en-US" sz="900" dirty="0"/>
          </a:p>
        </p:txBody>
      </p:sp>
      <p:sp>
        <p:nvSpPr>
          <p:cNvPr id="35" name="Text 23"/>
          <p:cNvSpPr txBox="1"/>
          <p:nvPr/>
        </p:nvSpPr>
        <p:spPr>
          <a:xfrm>
            <a:off x="5766206" y="2223821"/>
            <a:ext cx="34866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Retrieve CEO's Opening Remarks</a:t>
            </a:r>
            <a:endParaRPr lang="en-US" sz="1200" dirty="0"/>
          </a:p>
        </p:txBody>
      </p:sp>
      <p:sp>
        <p:nvSpPr>
          <p:cNvPr id="36" name="Text 24"/>
          <p:cNvSpPr txBox="1"/>
          <p:nvPr/>
        </p:nvSpPr>
        <p:spPr>
          <a:xfrm>
            <a:off x="5766206" y="2490826"/>
            <a:ext cx="37490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Query: "Summary of headwinds mentioned in Q3 opening"</a:t>
            </a:r>
            <a:endParaRPr lang="en-US" sz="900" dirty="0"/>
          </a:p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62388" y="1971446"/>
            <a:ext cx="1133856" cy="237744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9962388" y="1971446"/>
            <a:ext cx="1133856" cy="23865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1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38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Transcript</a:t>
            </a:r>
            <a:endParaRPr lang="en-US" sz="800" dirty="0"/>
          </a:p>
        </p:txBody>
      </p:sp>
      <p:sp>
        <p:nvSpPr>
          <p:cNvPr id="39" name="Text 26"/>
          <p:cNvSpPr txBox="1"/>
          <p:nvPr/>
        </p:nvSpPr>
        <p:spPr>
          <a:xfrm>
            <a:off x="10029139" y="2286000"/>
            <a:ext cx="10671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Docs Scanned</a:t>
            </a:r>
            <a:endParaRPr lang="en-US" sz="900" dirty="0"/>
          </a:p>
        </p:txBody>
      </p:sp>
      <p:sp>
        <p:nvSpPr>
          <p:cNvPr id="40" name="Text 27"/>
          <p:cNvSpPr txBox="1"/>
          <p:nvPr/>
        </p:nvSpPr>
        <p:spPr>
          <a:xfrm>
            <a:off x="9916668" y="2438705"/>
            <a:ext cx="117957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Sections</a:t>
            </a:r>
            <a:endParaRPr lang="en-US" sz="130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rcRect l="-360" r="-360" t="0" b="0"/>
          <a:stretch/>
        </p:blipFill>
        <p:spPr>
          <a:xfrm>
            <a:off x="8118043" y="2866644"/>
            <a:ext cx="19202" cy="381305"/>
          </a:xfrm>
          <a:prstGeom prst="rect">
            <a:avLst/>
          </a:prstGeom>
        </p:spPr>
      </p:pic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rcRect l="-360" r="-360" t="0" b="0"/>
          <a:stretch/>
        </p:blipFill>
        <p:spPr>
          <a:xfrm>
            <a:off x="8118043" y="3343046"/>
            <a:ext cx="19202" cy="381305"/>
          </a:xfrm>
          <a:prstGeom prst="rect">
            <a:avLst/>
          </a:prstGeom>
        </p:spPr>
      </p:pic>
      <p:sp>
        <p:nvSpPr>
          <p:cNvPr id="43" name="Shape 28"/>
          <p:cNvSpPr/>
          <p:nvPr/>
        </p:nvSpPr>
        <p:spPr>
          <a:xfrm>
            <a:off x="5407762" y="3724351"/>
            <a:ext cx="5447995" cy="1200607"/>
          </a:xfrm>
          <a:prstGeom prst="roundRect">
            <a:avLst>
              <a:gd name="adj" fmla="val 4836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4" name="Shape 29"/>
          <p:cNvSpPr/>
          <p:nvPr/>
        </p:nvSpPr>
        <p:spPr>
          <a:xfrm>
            <a:off x="5407762" y="3724351"/>
            <a:ext cx="38405" cy="1200607"/>
          </a:xfrm>
          <a:prstGeom prst="roundRect">
            <a:avLst>
              <a:gd name="adj" fmla="val 151171"/>
            </a:avLst>
          </a:prstGeom>
          <a:solidFill>
            <a:srgbClr val="C5A059"/>
          </a:solidFill>
          <a:ln w="12700">
            <a:solidFill>
              <a:srgbClr val="C5A059">
                <a:alpha val="0"/>
              </a:srgbClr>
            </a:solidFill>
            <a:prstDash val="solid"/>
          </a:ln>
        </p:spPr>
      </p:sp>
      <p:sp>
        <p:nvSpPr>
          <p:cNvPr id="45" name="Shape 30"/>
          <p:cNvSpPr/>
          <p:nvPr/>
        </p:nvSpPr>
        <p:spPr>
          <a:xfrm>
            <a:off x="5674766" y="3943807"/>
            <a:ext cx="466344" cy="476402"/>
          </a:xfrm>
          <a:prstGeom prst="roundRect">
            <a:avLst>
              <a:gd name="adj" fmla="val 196078"/>
            </a:avLst>
          </a:prstGeom>
          <a:solidFill>
            <a:srgbClr val="78350F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46" name="Image 13" descr="preencoded.png">    </p:cNvPr>
          <p:cNvPicPr>
            <a:picLocks noChangeAspect="1"/>
          </p:cNvPicPr>
          <p:nvPr/>
        </p:nvPicPr>
        <p:blipFill>
          <a:blip r:embed="rId14"/>
          <a:srcRect l="-1064" r="-1064" t="0" b="0"/>
          <a:stretch/>
        </p:blipFill>
        <p:spPr>
          <a:xfrm>
            <a:off x="5798210" y="4079138"/>
            <a:ext cx="219456" cy="171907"/>
          </a:xfrm>
          <a:prstGeom prst="rect">
            <a:avLst/>
          </a:prstGeom>
        </p:spPr>
      </p:pic>
      <p:sp>
        <p:nvSpPr>
          <p:cNvPr id="47" name="Text 31"/>
          <p:cNvSpPr txBox="1"/>
          <p:nvPr/>
        </p:nvSpPr>
        <p:spPr>
          <a:xfrm>
            <a:off x="6293815" y="3943807"/>
            <a:ext cx="33631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Hop 2: Refined Query</a:t>
            </a:r>
            <a:endParaRPr lang="en-US" sz="900" dirty="0"/>
          </a:p>
        </p:txBody>
      </p:sp>
      <p:sp>
        <p:nvSpPr>
          <p:cNvPr id="48" name="Text 32"/>
          <p:cNvSpPr txBox="1"/>
          <p:nvPr/>
        </p:nvSpPr>
        <p:spPr>
          <a:xfrm>
            <a:off x="6293815" y="4134002"/>
            <a:ext cx="3363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Locate CFO's "FX Impact" Commentary</a:t>
            </a:r>
            <a:endParaRPr lang="en-US" sz="1200" dirty="0"/>
          </a:p>
        </p:txBody>
      </p:sp>
      <p:sp>
        <p:nvSpPr>
          <p:cNvPr id="49" name="Text 33"/>
          <p:cNvSpPr txBox="1"/>
          <p:nvPr/>
        </p:nvSpPr>
        <p:spPr>
          <a:xfrm>
            <a:off x="6293815" y="4401007"/>
            <a:ext cx="332475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Query: "Quantify FX impact on APAC revenue in CFO section"</a:t>
            </a:r>
            <a:endParaRPr lang="en-US" sz="900" dirty="0"/>
          </a:p>
        </p:txBody>
      </p:sp>
      <p:pic>
        <p:nvPicPr>
          <p:cNvPr id="5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33534" y="3886200"/>
            <a:ext cx="1086307" cy="381305"/>
          </a:xfrm>
          <a:prstGeom prst="rect">
            <a:avLst/>
          </a:prstGeom>
        </p:spPr>
      </p:pic>
      <p:sp>
        <p:nvSpPr>
          <p:cNvPr id="51" name="Text 34"/>
          <p:cNvSpPr/>
          <p:nvPr/>
        </p:nvSpPr>
        <p:spPr>
          <a:xfrm>
            <a:off x="9533534" y="3886200"/>
            <a:ext cx="1086307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1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38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Specific Section</a:t>
            </a:r>
            <a:endParaRPr lang="en-US" sz="800" dirty="0"/>
          </a:p>
        </p:txBody>
      </p:sp>
      <p:sp>
        <p:nvSpPr>
          <p:cNvPr id="52" name="Text 35"/>
          <p:cNvSpPr txBox="1"/>
          <p:nvPr/>
        </p:nvSpPr>
        <p:spPr>
          <a:xfrm>
            <a:off x="9485986" y="4343400"/>
            <a:ext cx="11338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</a:t>
            </a:r>
            <a:endParaRPr lang="en-US" sz="900" dirty="0"/>
          </a:p>
        </p:txBody>
      </p:sp>
      <p:sp>
        <p:nvSpPr>
          <p:cNvPr id="53" name="Text 36"/>
          <p:cNvSpPr txBox="1"/>
          <p:nvPr/>
        </p:nvSpPr>
        <p:spPr>
          <a:xfrm>
            <a:off x="9408262" y="4496105"/>
            <a:ext cx="121158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Paragraph</a:t>
            </a:r>
            <a:endParaRPr lang="en-US" sz="1300" dirty="0"/>
          </a:p>
        </p:txBody>
      </p:sp>
      <p:pic>
        <p:nvPicPr>
          <p:cNvPr id="54" name="Image 15" descr="preencoded.png">    </p:cNvPr>
          <p:cNvPicPr>
            <a:picLocks noChangeAspect="1"/>
          </p:cNvPicPr>
          <p:nvPr/>
        </p:nvPicPr>
        <p:blipFill>
          <a:blip r:embed="rId16"/>
          <a:srcRect l="-360" r="-360" t="0" b="0"/>
          <a:stretch/>
        </p:blipFill>
        <p:spPr>
          <a:xfrm>
            <a:off x="8118043" y="4924044"/>
            <a:ext cx="19202" cy="381305"/>
          </a:xfrm>
          <a:prstGeom prst="rect">
            <a:avLst/>
          </a:prstGeom>
        </p:spPr>
      </p:pic>
      <p:sp>
        <p:nvSpPr>
          <p:cNvPr id="55" name="Shape 37"/>
          <p:cNvSpPr/>
          <p:nvPr/>
        </p:nvSpPr>
        <p:spPr>
          <a:xfrm>
            <a:off x="5887822" y="5305349"/>
            <a:ext cx="4486046" cy="972007"/>
          </a:xfrm>
          <a:prstGeom prst="roundRect">
            <a:avLst>
              <a:gd name="adj" fmla="val 7378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6" name="Shape 38"/>
          <p:cNvSpPr/>
          <p:nvPr/>
        </p:nvSpPr>
        <p:spPr>
          <a:xfrm>
            <a:off x="5887822" y="5305349"/>
            <a:ext cx="38405" cy="972007"/>
          </a:xfrm>
          <a:prstGeom prst="roundRect">
            <a:avLst>
              <a:gd name="adj" fmla="val 186740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7" name="Shape 39"/>
          <p:cNvSpPr/>
          <p:nvPr/>
        </p:nvSpPr>
        <p:spPr>
          <a:xfrm>
            <a:off x="6153912" y="5467198"/>
            <a:ext cx="418795" cy="476402"/>
          </a:xfrm>
          <a:prstGeom prst="roundRect">
            <a:avLst>
              <a:gd name="adj" fmla="val 218341"/>
            </a:avLst>
          </a:prstGeom>
          <a:solidFill>
            <a:srgbClr val="064E3B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58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6278270" y="5603443"/>
            <a:ext cx="171907" cy="171907"/>
          </a:xfrm>
          <a:prstGeom prst="rect">
            <a:avLst/>
          </a:prstGeom>
        </p:spPr>
      </p:pic>
      <p:sp>
        <p:nvSpPr>
          <p:cNvPr id="59" name="Text 40"/>
          <p:cNvSpPr txBox="1"/>
          <p:nvPr/>
        </p:nvSpPr>
        <p:spPr>
          <a:xfrm>
            <a:off x="6725412" y="5467198"/>
            <a:ext cx="21799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Extraction</a:t>
            </a:r>
            <a:endParaRPr lang="en-US" sz="900" dirty="0"/>
          </a:p>
        </p:txBody>
      </p:sp>
      <p:sp>
        <p:nvSpPr>
          <p:cNvPr id="60" name="Text 41"/>
          <p:cNvSpPr txBox="1"/>
          <p:nvPr/>
        </p:nvSpPr>
        <p:spPr>
          <a:xfrm>
            <a:off x="6725412" y="5658307"/>
            <a:ext cx="217993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"FX Impact: -$45M"</a:t>
            </a:r>
            <a:endParaRPr lang="en-US" sz="1300" dirty="0"/>
          </a:p>
        </p:txBody>
      </p:sp>
      <p:sp>
        <p:nvSpPr>
          <p:cNvPr id="61" name="Text 42"/>
          <p:cNvSpPr txBox="1"/>
          <p:nvPr/>
        </p:nvSpPr>
        <p:spPr>
          <a:xfrm>
            <a:off x="6725412" y="5962802"/>
            <a:ext cx="249448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CFO Financial Review, Para 3</a:t>
            </a:r>
            <a:endParaRPr lang="en-US" sz="900" dirty="0"/>
          </a:p>
        </p:txBody>
      </p:sp>
      <p:pic>
        <p:nvPicPr>
          <p:cNvPr id="6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13164" y="5672023"/>
            <a:ext cx="819302" cy="237744"/>
          </a:xfrm>
          <a:prstGeom prst="rect">
            <a:avLst/>
          </a:prstGeom>
        </p:spPr>
      </p:pic>
      <p:sp>
        <p:nvSpPr>
          <p:cNvPr id="63" name="Text 43"/>
          <p:cNvSpPr/>
          <p:nvPr/>
        </p:nvSpPr>
        <p:spPr>
          <a:xfrm>
            <a:off x="9313164" y="5672023"/>
            <a:ext cx="819302" cy="23865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1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38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Exact Data</a:t>
            </a:r>
            <a:endParaRPr lang="en-US" sz="800" dirty="0"/>
          </a:p>
        </p:txBody>
      </p:sp>
      <p:pic>
        <p:nvPicPr>
          <p:cNvPr id="64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853989" y="3133649"/>
            <a:ext cx="4552798" cy="323698"/>
          </a:xfrm>
          <a:prstGeom prst="rect">
            <a:avLst/>
          </a:prstGeom>
        </p:spPr>
      </p:pic>
      <p:sp>
        <p:nvSpPr>
          <p:cNvPr id="65" name="Text 44"/>
          <p:cNvSpPr/>
          <p:nvPr/>
        </p:nvSpPr>
        <p:spPr>
          <a:xfrm>
            <a:off x="5853989" y="3133649"/>
            <a:ext cx="4553712" cy="3246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4B55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Result: "Headwinds in APAC due to currency fluctuation"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6467551"/>
            <a:ext cx="11277295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0"/>
            <a:ext cx="12191695" cy="122895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0" y="1219810"/>
            <a:ext cx="121916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381305"/>
            <a:ext cx="53437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Technique B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09905"/>
            <a:ext cx="633953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68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Knowledge Graphs (GraphRAG)</a:t>
            </a:r>
            <a:endParaRPr lang="en-US" sz="2700" dirty="0"/>
          </a:p>
        </p:txBody>
      </p:sp>
      <p:sp>
        <p:nvSpPr>
          <p:cNvPr id="10" name="Text 7"/>
          <p:cNvSpPr txBox="1"/>
          <p:nvPr/>
        </p:nvSpPr>
        <p:spPr>
          <a:xfrm>
            <a:off x="10299802" y="533095"/>
            <a:ext cx="14383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299802" y="800100"/>
            <a:ext cx="1438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08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1533449"/>
            <a:ext cx="37435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 Reasoning for Corporate Hierarchies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57200" y="2447849"/>
            <a:ext cx="3657600" cy="1362456"/>
          </a:xfrm>
          <a:prstGeom prst="roundRect">
            <a:avLst>
              <a:gd name="adj" fmla="val 375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07999" y="2648102"/>
            <a:ext cx="31217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6" kern="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Why Vectors Fail Here 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57454" y="2952598"/>
            <a:ext cx="333390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Vector databases find similar text, not connected entities. They struggle with explicit relationships like ownership, family trees, or supply chains.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4031590"/>
            <a:ext cx="3657600" cy="1371600"/>
          </a:xfrm>
          <a:prstGeom prst="roundRect">
            <a:avLst>
              <a:gd name="adj" fmla="val 370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27202" y="4231843"/>
            <a:ext cx="310255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6" kern="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The Graph Advantage 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57454" y="4536338"/>
            <a:ext cx="33339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Data stored as </a:t>
            </a:r>
            <a:pPr algn="l" indent="0" marL="0">
              <a:buNone/>
            </a:pPr>
            <a:r>
              <a:rPr lang="en-US" sz="1000" b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Nodes</a:t>
            </a:r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(Companies, People) and </a:t>
            </a:r>
            <a:pPr algn="l" indent="0" marL="0">
              <a:buNone/>
            </a:pPr>
            <a:r>
              <a:rPr lang="en-US" sz="1000" b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Edges</a:t>
            </a:r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(OWNS, SUPPLIES). 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57454" y="5045659"/>
            <a:ext cx="386059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"Hop" = traversing graph edges, not text similarity.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" y="5550408"/>
            <a:ext cx="3657600" cy="1086307"/>
          </a:xfrm>
          <a:prstGeom prst="roundRect">
            <a:avLst>
              <a:gd name="adj" fmla="val 5907"/>
            </a:avLst>
          </a:prstGeom>
          <a:solidFill>
            <a:srgbClr val="1E3A8A">
              <a:alpha val="50000"/>
            </a:srgbClr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19049" y="5712257"/>
            <a:ext cx="34482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Graph Legend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790956" y="5979262"/>
            <a:ext cx="6382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Company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19049" y="6017666"/>
            <a:ext cx="95098" cy="9509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456993" y="5979262"/>
            <a:ext cx="8193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Person/Fund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286000" y="6017666"/>
            <a:ext cx="95098" cy="9509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90956" y="6227064"/>
            <a:ext cx="7342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Sanctioned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19049" y="6265469"/>
            <a:ext cx="95098" cy="9509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456993" y="6227064"/>
            <a:ext cx="85222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Relationship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286000" y="6265469"/>
            <a:ext cx="95098" cy="9509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7454" y="2673706"/>
            <a:ext cx="133502" cy="133502"/>
          </a:xfrm>
          <a:prstGeom prst="rect">
            <a:avLst/>
          </a:prstGeom>
        </p:spPr>
      </p:pic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rcRect l="-837" r="-837" t="0" b="0"/>
          <a:stretch/>
        </p:blipFill>
        <p:spPr>
          <a:xfrm>
            <a:off x="657454" y="4257446"/>
            <a:ext cx="152705" cy="133502"/>
          </a:xfrm>
          <a:prstGeom prst="rect">
            <a:avLst/>
          </a:prstGeom>
        </p:spPr>
      </p:pic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rcRect l="-1" r="-1" t="0" b="0"/>
          <a:stretch/>
        </p:blipFill>
        <p:spPr>
          <a:xfrm>
            <a:off x="4419295" y="1457554"/>
            <a:ext cx="7315200" cy="5171846"/>
          </a:xfrm>
          <a:prstGeom prst="rect">
            <a:avLst/>
          </a:prstGeom>
        </p:spPr>
      </p:pic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rcRect l="-72" r="-72" t="0" b="0"/>
          <a:stretch/>
        </p:blipFill>
        <p:spPr>
          <a:xfrm>
            <a:off x="4429354" y="1466698"/>
            <a:ext cx="7306056" cy="5152644"/>
          </a:xfrm>
          <a:prstGeom prst="rect">
            <a:avLst/>
          </a:prstGeom>
        </p:spPr>
      </p:pic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0" b="-10"/>
          <a:stretch/>
        </p:blipFill>
        <p:spPr>
          <a:xfrm>
            <a:off x="4587545" y="1554480"/>
            <a:ext cx="3047695" cy="752551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4901184" y="1677924"/>
            <a:ext cx="272216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 Path Identified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4710989" y="1868119"/>
            <a:ext cx="28767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 → Invests In → Fund A → Owns → Entity X (Sanctioned)</a:t>
            </a:r>
            <a:endParaRPr lang="en-US" sz="90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710989" y="1692554"/>
            <a:ext cx="11430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122895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0" y="1219810"/>
            <a:ext cx="121916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81305"/>
            <a:ext cx="55723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 • Compliance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09905"/>
            <a:ext cx="725119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68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Ultimate Beneficial Owner (UBO)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533449"/>
            <a:ext cx="422452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Following the Ownership Trail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57200" y="2162556"/>
            <a:ext cx="3657600" cy="1533449"/>
          </a:xfrm>
          <a:prstGeom prst="roundRect">
            <a:avLst>
              <a:gd name="adj" fmla="val 296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07999" y="2361895"/>
            <a:ext cx="31217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6" kern="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The Challenge 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57454" y="262890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Scenario:</a:t>
            </a:r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Compliance check for a new investor. 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57454" y="2959913"/>
            <a:ext cx="3258007" cy="533095"/>
          </a:xfrm>
          <a:prstGeom prst="roundRect">
            <a:avLst>
              <a:gd name="adj" fmla="val 12252"/>
            </a:avLst>
          </a:prstGeom>
          <a:solidFill>
            <a:srgbClr val="1F2937">
              <a:alpha val="5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657454" y="2959913"/>
            <a:ext cx="19202" cy="533095"/>
          </a:xfrm>
          <a:prstGeom prst="roundRect">
            <a:avLst>
              <a:gd name="adj" fmla="val 340143"/>
            </a:avLst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0956" y="3074213"/>
            <a:ext cx="3086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"Does the new investor have any exposure to sanctioned entities?"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" y="3883457"/>
            <a:ext cx="3657600" cy="1571854"/>
          </a:xfrm>
          <a:prstGeom prst="roundRect">
            <a:avLst>
              <a:gd name="adj" fmla="val 282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79653" y="4083710"/>
            <a:ext cx="315010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6" kern="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Key Insight 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57454" y="4388206"/>
            <a:ext cx="3333902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"hop" follows relationship edges (A owns B, B invested in C) rather than text similarity. This path is often invisible to standard vector search which looks for keywords.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5531206"/>
            <a:ext cx="3657600" cy="1086307"/>
          </a:xfrm>
          <a:prstGeom prst="roundRect">
            <a:avLst>
              <a:gd name="adj" fmla="val 5907"/>
            </a:avLst>
          </a:prstGeom>
          <a:solidFill>
            <a:srgbClr val="1E3A8A">
              <a:alpha val="50000"/>
            </a:srgbClr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19049" y="5693969"/>
            <a:ext cx="34482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Entity Types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790956" y="5960059"/>
            <a:ext cx="10652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Investor/Person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19049" y="5998464"/>
            <a:ext cx="95098" cy="9509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456993" y="5960059"/>
            <a:ext cx="8769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Fund/Holding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286000" y="5998464"/>
            <a:ext cx="95098" cy="9509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90956" y="6207862"/>
            <a:ext cx="6382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Company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19049" y="6246266"/>
            <a:ext cx="95098" cy="9509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456993" y="6207862"/>
            <a:ext cx="88422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Sanction List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2286000" y="6246266"/>
            <a:ext cx="95098" cy="9509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7454" y="2388413"/>
            <a:ext cx="133502" cy="133502"/>
          </a:xfrm>
          <a:prstGeom prst="rect">
            <a:avLst/>
          </a:prstGeom>
        </p:spPr>
      </p:pic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rcRect l="-2512" r="-2512" t="0" b="0"/>
          <a:stretch/>
        </p:blipFill>
        <p:spPr>
          <a:xfrm>
            <a:off x="657454" y="4110228"/>
            <a:ext cx="105156" cy="133502"/>
          </a:xfrm>
          <a:prstGeom prst="rect">
            <a:avLst/>
          </a:prstGeom>
        </p:spPr>
      </p:pic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rcRect l="-1" r="-1" t="0" b="0"/>
          <a:stretch/>
        </p:blipFill>
        <p:spPr>
          <a:xfrm>
            <a:off x="4419295" y="1457554"/>
            <a:ext cx="7315200" cy="5171846"/>
          </a:xfrm>
          <a:prstGeom prst="rect">
            <a:avLst/>
          </a:prstGeom>
        </p:spPr>
      </p:pic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rcRect l="-72" r="-72" t="0" b="0"/>
          <a:stretch/>
        </p:blipFill>
        <p:spPr>
          <a:xfrm>
            <a:off x="4429354" y="1466698"/>
            <a:ext cx="7306056" cy="5152644"/>
          </a:xfrm>
          <a:prstGeom prst="rect">
            <a:avLst/>
          </a:prstGeom>
        </p:spPr>
      </p:pic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7" b="-17"/>
          <a:stretch/>
        </p:blipFill>
        <p:spPr>
          <a:xfrm>
            <a:off x="8131759" y="5655564"/>
            <a:ext cx="3364992" cy="73609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483803" y="5817413"/>
            <a:ext cx="297271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 Exposure Detected</a:t>
            </a:r>
            <a:endParaRPr lang="en-US" sz="90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293608" y="5832043"/>
            <a:ext cx="114300" cy="11430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8293608" y="6046013"/>
            <a:ext cx="31629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Investor A → Fund B → Company C → OFAC</a:t>
            </a:r>
            <a:endParaRPr lang="en-US" sz="1000" dirty="0"/>
          </a:p>
        </p:txBody>
      </p:sp>
      <p:sp>
        <p:nvSpPr>
          <p:cNvPr id="37" name="Text 28"/>
          <p:cNvSpPr txBox="1"/>
          <p:nvPr/>
        </p:nvSpPr>
        <p:spPr>
          <a:xfrm>
            <a:off x="10299802" y="228600"/>
            <a:ext cx="14383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10299802" y="495605"/>
            <a:ext cx="1438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122895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0" y="1219810"/>
            <a:ext cx="121916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81305"/>
            <a:ext cx="3591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Concrete Example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09905"/>
            <a:ext cx="474299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68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Financial Bridge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10299802" y="495605"/>
            <a:ext cx="14383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299802" y="800100"/>
            <a:ext cx="1438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10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67151" y="1533449"/>
            <a:ext cx="9144" cy="502005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1533449"/>
            <a:ext cx="265176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Reality: Siloed Data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1876349"/>
            <a:ext cx="2581351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Financial data lives in disconnected islands. Standard RAG finds one, but can't link them.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8270" y="2661818"/>
            <a:ext cx="780898" cy="838505"/>
          </a:xfrm>
          <a:prstGeom prst="roundRect">
            <a:avLst>
              <a:gd name="adj" fmla="val 5854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28270" y="3576218"/>
            <a:ext cx="8385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10-K Filings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261872" y="2967228"/>
            <a:ext cx="838505" cy="8385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263701" y="38816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News/Web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253082" y="2661818"/>
            <a:ext cx="838505" cy="8385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253082" y="3576218"/>
            <a:ext cx="9482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Legal Docs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4262018"/>
            <a:ext cx="2505456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93038" y="4347058"/>
            <a:ext cx="2045513" cy="2295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logical connection 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4881982"/>
            <a:ext cx="2505456" cy="1285646"/>
          </a:xfrm>
          <a:prstGeom prst="roundRect">
            <a:avLst>
              <a:gd name="adj" fmla="val 4215"/>
            </a:avLst>
          </a:prstGeom>
          <a:solidFill>
            <a:srgbClr val="1E40AF">
              <a:alpha val="3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19049" y="5043830"/>
            <a:ext cx="22686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Complex User Query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619049" y="5272430"/>
            <a:ext cx="2257654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"How will proposed tariff increases on Chinese EV imports impact the margins of Tesla's main battery supplier?"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3657600" y="1533449"/>
            <a:ext cx="2422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Multi-Hop Solution</a:t>
            </a:r>
            <a:endParaRPr lang="en-US" sz="13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5774" y="1543507"/>
            <a:ext cx="1666951" cy="24780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0418674" y="1543507"/>
            <a:ext cx="1324051" cy="24780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Connecting the Dots</a:t>
            </a:r>
            <a:endParaRPr lang="en-US" sz="9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62610" y="4376318"/>
            <a:ext cx="152705" cy="152705"/>
          </a:xfrm>
          <a:prstGeom prst="rect">
            <a:avLst/>
          </a:prstGeom>
        </p:spPr>
      </p:pic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10199218" y="1604772"/>
            <a:ext cx="142646" cy="11430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3657600" y="2433218"/>
            <a:ext cx="2286000" cy="1742846"/>
          </a:xfrm>
          <a:prstGeom prst="roundRect">
            <a:avLst>
              <a:gd name="adj" fmla="val 229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819449" y="2595982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42" b="-842"/>
          <a:stretch/>
        </p:blipFill>
        <p:spPr>
          <a:xfrm>
            <a:off x="3914546" y="2700223"/>
            <a:ext cx="190195" cy="171907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4992624" y="2595982"/>
            <a:ext cx="8851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Entity ID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3819449" y="3090672"/>
            <a:ext cx="20391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Sub-Q: "Who is Tesla's main battery supplier?"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3819449" y="3510382"/>
            <a:ext cx="1962302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4000500" y="3595421"/>
            <a:ext cx="18598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CATL</a:t>
            </a:r>
            <a:endParaRPr lang="en-US" sz="10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rcRect l="-2571" r="-2571" t="0" b="0"/>
          <a:stretch/>
        </p:blipFill>
        <p:spPr>
          <a:xfrm>
            <a:off x="3819449" y="3638398"/>
            <a:ext cx="105156" cy="11430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3819449" y="3786530"/>
            <a:ext cx="2181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Supply Chain DB</a:t>
            </a:r>
            <a:endParaRPr lang="en-US" sz="1200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400" b="-400"/>
          <a:stretch/>
        </p:blipFill>
        <p:spPr>
          <a:xfrm>
            <a:off x="6038698" y="3295498"/>
            <a:ext cx="3314700" cy="19202"/>
          </a:xfrm>
          <a:prstGeom prst="rect">
            <a:avLst/>
          </a:prstGeom>
        </p:spPr>
      </p:pic>
      <p:sp>
        <p:nvSpPr>
          <p:cNvPr id="40" name="Shape 31"/>
          <p:cNvSpPr/>
          <p:nvPr/>
        </p:nvSpPr>
        <p:spPr>
          <a:xfrm>
            <a:off x="9448495" y="2318918"/>
            <a:ext cx="2286000" cy="1971446"/>
          </a:xfrm>
          <a:prstGeom prst="roundRect">
            <a:avLst>
              <a:gd name="adj" fmla="val 179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9610344" y="2481682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rcRect l="-1773" r="-1773" t="0" b="0"/>
          <a:stretch/>
        </p:blipFill>
        <p:spPr>
          <a:xfrm>
            <a:off x="9734702" y="2585923"/>
            <a:ext cx="133502" cy="171907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10681106" y="2481682"/>
            <a:ext cx="972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Exposure</a:t>
            </a:r>
            <a:endParaRPr lang="en-US" sz="1200" dirty="0"/>
          </a:p>
        </p:txBody>
      </p:sp>
      <p:sp>
        <p:nvSpPr>
          <p:cNvPr id="44" name="Text 34"/>
          <p:cNvSpPr txBox="1"/>
          <p:nvPr/>
        </p:nvSpPr>
        <p:spPr>
          <a:xfrm>
            <a:off x="9610344" y="2976372"/>
            <a:ext cx="20391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Sub-Q: "CATL's revenue exposure to US market?"</a:t>
            </a:r>
            <a:endParaRPr lang="en-US" sz="900" dirty="0"/>
          </a:p>
        </p:txBody>
      </p:sp>
      <p:sp>
        <p:nvSpPr>
          <p:cNvPr id="45" name="Shape 35"/>
          <p:cNvSpPr/>
          <p:nvPr/>
        </p:nvSpPr>
        <p:spPr>
          <a:xfrm>
            <a:off x="9610344" y="3396082"/>
            <a:ext cx="1962302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46" name="Text 36"/>
          <p:cNvSpPr txBox="1"/>
          <p:nvPr/>
        </p:nvSpPr>
        <p:spPr>
          <a:xfrm>
            <a:off x="9791395" y="3481121"/>
            <a:ext cx="18598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14% of Rev</a:t>
            </a:r>
            <a:endParaRPr lang="en-US" sz="1000" dirty="0"/>
          </a:p>
        </p:txBody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rcRect l="-2571" r="-2571" t="0" b="0"/>
          <a:stretch/>
        </p:blipFill>
        <p:spPr>
          <a:xfrm>
            <a:off x="9610344" y="3524098"/>
            <a:ext cx="105156" cy="114300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9610344" y="3672230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CATL Annual Report</a:t>
            </a:r>
            <a:endParaRPr lang="en-US" sz="1200" dirty="0"/>
          </a:p>
        </p:txBody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0"/>
          <a:srcRect l="-400" r="-400" t="0" b="0"/>
          <a:stretch/>
        </p:blipFill>
        <p:spPr>
          <a:xfrm>
            <a:off x="6001207" y="4276649"/>
            <a:ext cx="19202" cy="571500"/>
          </a:xfrm>
          <a:prstGeom prst="rect">
            <a:avLst/>
          </a:prstGeom>
        </p:spPr>
      </p:pic>
      <p:pic>
        <p:nvPicPr>
          <p:cNvPr id="50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360" b="-360"/>
          <a:stretch/>
        </p:blipFill>
        <p:spPr>
          <a:xfrm>
            <a:off x="6001207" y="4848149"/>
            <a:ext cx="381305" cy="19202"/>
          </a:xfrm>
          <a:prstGeom prst="rect">
            <a:avLst/>
          </a:prstGeom>
        </p:spPr>
      </p:pic>
      <p:sp>
        <p:nvSpPr>
          <p:cNvPr id="51" name="Shape 38"/>
          <p:cNvSpPr/>
          <p:nvPr/>
        </p:nvSpPr>
        <p:spPr>
          <a:xfrm>
            <a:off x="4572000" y="4519879"/>
            <a:ext cx="2286000" cy="1742846"/>
          </a:xfrm>
          <a:prstGeom prst="roundRect">
            <a:avLst>
              <a:gd name="adj" fmla="val 229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2" name="Shape 39"/>
          <p:cNvSpPr/>
          <p:nvPr/>
        </p:nvSpPr>
        <p:spPr>
          <a:xfrm>
            <a:off x="4733849" y="4681728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4839005" y="4785970"/>
            <a:ext cx="171907" cy="171907"/>
          </a:xfrm>
          <a:prstGeom prst="rect">
            <a:avLst/>
          </a:prstGeom>
        </p:spPr>
      </p:pic>
      <p:sp>
        <p:nvSpPr>
          <p:cNvPr id="54" name="Text 40"/>
          <p:cNvSpPr txBox="1"/>
          <p:nvPr/>
        </p:nvSpPr>
        <p:spPr>
          <a:xfrm>
            <a:off x="5807354" y="4681728"/>
            <a:ext cx="972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Logic App</a:t>
            </a:r>
            <a:endParaRPr lang="en-US" sz="1200" dirty="0"/>
          </a:p>
        </p:txBody>
      </p:sp>
      <p:sp>
        <p:nvSpPr>
          <p:cNvPr id="55" name="Text 41"/>
          <p:cNvSpPr txBox="1"/>
          <p:nvPr/>
        </p:nvSpPr>
        <p:spPr>
          <a:xfrm>
            <a:off x="4733849" y="5176418"/>
            <a:ext cx="20391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Sub-Q: "Tariff rate for battery imports?"</a:t>
            </a:r>
            <a:endParaRPr lang="en-US" sz="900" dirty="0"/>
          </a:p>
        </p:txBody>
      </p:sp>
      <p:sp>
        <p:nvSpPr>
          <p:cNvPr id="56" name="Shape 42"/>
          <p:cNvSpPr/>
          <p:nvPr/>
        </p:nvSpPr>
        <p:spPr>
          <a:xfrm>
            <a:off x="4733849" y="5596128"/>
            <a:ext cx="1962302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57" name="Text 43"/>
          <p:cNvSpPr txBox="1"/>
          <p:nvPr/>
        </p:nvSpPr>
        <p:spPr>
          <a:xfrm>
            <a:off x="4914900" y="5682082"/>
            <a:ext cx="18598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25% Rate</a:t>
            </a:r>
            <a:endParaRPr lang="en-US" sz="1000" dirty="0"/>
          </a:p>
        </p:txBody>
      </p:sp>
      <p:pic>
        <p:nvPicPr>
          <p:cNvPr id="58" name="Image 12" descr="preencoded.png">    </p:cNvPr>
          <p:cNvPicPr>
            <a:picLocks noChangeAspect="1"/>
          </p:cNvPicPr>
          <p:nvPr/>
        </p:nvPicPr>
        <p:blipFill>
          <a:blip r:embed="rId13"/>
          <a:srcRect l="-2571" r="-2571" t="0" b="0"/>
          <a:stretch/>
        </p:blipFill>
        <p:spPr>
          <a:xfrm>
            <a:off x="4733849" y="5724144"/>
            <a:ext cx="105156" cy="114300"/>
          </a:xfrm>
          <a:prstGeom prst="rect">
            <a:avLst/>
          </a:prstGeom>
        </p:spPr>
      </p:pic>
      <p:sp>
        <p:nvSpPr>
          <p:cNvPr id="59" name="Text 44"/>
          <p:cNvSpPr txBox="1"/>
          <p:nvPr/>
        </p:nvSpPr>
        <p:spPr>
          <a:xfrm>
            <a:off x="4733849" y="5872277"/>
            <a:ext cx="22731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Trade Policy Doc</a:t>
            </a:r>
            <a:endParaRPr lang="en-US" sz="1200" dirty="0"/>
          </a:p>
        </p:txBody>
      </p:sp>
      <p:pic>
        <p:nvPicPr>
          <p:cNvPr id="60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393" b="-393"/>
          <a:stretch/>
        </p:blipFill>
        <p:spPr>
          <a:xfrm>
            <a:off x="6953098" y="5381244"/>
            <a:ext cx="2210105" cy="19202"/>
          </a:xfrm>
          <a:prstGeom prst="rect">
            <a:avLst/>
          </a:prstGeom>
        </p:spPr>
      </p:pic>
      <p:sp>
        <p:nvSpPr>
          <p:cNvPr id="61" name="Shape 45"/>
          <p:cNvSpPr/>
          <p:nvPr/>
        </p:nvSpPr>
        <p:spPr>
          <a:xfrm>
            <a:off x="9258300" y="4519879"/>
            <a:ext cx="2476195" cy="1742846"/>
          </a:xfrm>
          <a:prstGeom prst="roundRect">
            <a:avLst>
              <a:gd name="adj" fmla="val 3440"/>
            </a:avLst>
          </a:prstGeom>
          <a:solidFill>
            <a:srgbClr val="C5A059">
              <a:alpha val="10000"/>
            </a:srgbClr>
          </a:solidFill>
          <a:ln w="12700">
            <a:solidFill>
              <a:srgbClr val="C5A059"/>
            </a:solidFill>
            <a:prstDash val="solid"/>
          </a:ln>
        </p:spPr>
      </p:sp>
      <p:pic>
        <p:nvPicPr>
          <p:cNvPr id="62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100" b="-100"/>
          <a:stretch/>
        </p:blipFill>
        <p:spPr>
          <a:xfrm>
            <a:off x="9553651" y="4796028"/>
            <a:ext cx="114300" cy="152705"/>
          </a:xfrm>
          <a:prstGeom prst="rect">
            <a:avLst/>
          </a:prstGeom>
        </p:spPr>
      </p:pic>
      <p:sp>
        <p:nvSpPr>
          <p:cNvPr id="63" name="Text 46"/>
          <p:cNvSpPr txBox="1"/>
          <p:nvPr/>
        </p:nvSpPr>
        <p:spPr>
          <a:xfrm>
            <a:off x="9877349" y="4776826"/>
            <a:ext cx="857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Synthesis</a:t>
            </a:r>
            <a:endParaRPr lang="en-US" sz="1000" dirty="0"/>
          </a:p>
        </p:txBody>
      </p:sp>
      <p:sp>
        <p:nvSpPr>
          <p:cNvPr id="64" name="Text 47"/>
          <p:cNvSpPr txBox="1"/>
          <p:nvPr/>
        </p:nvSpPr>
        <p:spPr>
          <a:xfrm>
            <a:off x="9458554" y="5138928"/>
            <a:ext cx="6007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Supplier:</a:t>
            </a:r>
            <a:endParaRPr lang="en-US" sz="900" dirty="0"/>
          </a:p>
        </p:txBody>
      </p:sp>
      <p:sp>
        <p:nvSpPr>
          <p:cNvPr id="65" name="Text 48"/>
          <p:cNvSpPr txBox="1"/>
          <p:nvPr/>
        </p:nvSpPr>
        <p:spPr>
          <a:xfrm>
            <a:off x="11245291" y="5138928"/>
            <a:ext cx="3721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CATL</a:t>
            </a:r>
            <a:endParaRPr lang="en-US" sz="900" dirty="0"/>
          </a:p>
        </p:txBody>
      </p:sp>
      <p:sp>
        <p:nvSpPr>
          <p:cNvPr id="66" name="Text 49"/>
          <p:cNvSpPr txBox="1"/>
          <p:nvPr/>
        </p:nvSpPr>
        <p:spPr>
          <a:xfrm>
            <a:off x="9458554" y="5367528"/>
            <a:ext cx="505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 Exp:</a:t>
            </a:r>
            <a:endParaRPr lang="en-US" sz="900" dirty="0"/>
          </a:p>
        </p:txBody>
      </p:sp>
      <p:sp>
        <p:nvSpPr>
          <p:cNvPr id="67" name="Text 50"/>
          <p:cNvSpPr txBox="1"/>
          <p:nvPr/>
        </p:nvSpPr>
        <p:spPr>
          <a:xfrm>
            <a:off x="11326673" y="5367528"/>
            <a:ext cx="2862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14%</a:t>
            </a:r>
            <a:endParaRPr lang="en-US" sz="900" dirty="0"/>
          </a:p>
        </p:txBody>
      </p:sp>
      <p:sp>
        <p:nvSpPr>
          <p:cNvPr id="68" name="Text 51"/>
          <p:cNvSpPr txBox="1"/>
          <p:nvPr/>
        </p:nvSpPr>
        <p:spPr>
          <a:xfrm>
            <a:off x="9458554" y="5596128"/>
            <a:ext cx="3913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Tariff:</a:t>
            </a:r>
            <a:endParaRPr lang="en-US" sz="900" dirty="0"/>
          </a:p>
        </p:txBody>
      </p:sp>
      <p:sp>
        <p:nvSpPr>
          <p:cNvPr id="69" name="Text 52"/>
          <p:cNvSpPr txBox="1"/>
          <p:nvPr/>
        </p:nvSpPr>
        <p:spPr>
          <a:xfrm>
            <a:off x="11247120" y="5596128"/>
            <a:ext cx="3721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+25%</a:t>
            </a:r>
            <a:endParaRPr lang="en-US" sz="900" dirty="0"/>
          </a:p>
        </p:txBody>
      </p:sp>
      <p:sp>
        <p:nvSpPr>
          <p:cNvPr id="70" name="Shape 53"/>
          <p:cNvSpPr/>
          <p:nvPr/>
        </p:nvSpPr>
        <p:spPr>
          <a:xfrm>
            <a:off x="9458554" y="5824728"/>
            <a:ext cx="2076602" cy="9144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</p:sp>
      <p:sp>
        <p:nvSpPr>
          <p:cNvPr id="71" name="Text 54"/>
          <p:cNvSpPr txBox="1"/>
          <p:nvPr/>
        </p:nvSpPr>
        <p:spPr>
          <a:xfrm>
            <a:off x="9416491" y="5910682"/>
            <a:ext cx="215981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Est. Margin Impact: -3.5%</a:t>
            </a:r>
            <a:endParaRPr lang="en-US" sz="900" dirty="0"/>
          </a:p>
        </p:txBody>
      </p:sp>
      <p:pic>
        <p:nvPicPr>
          <p:cNvPr id="7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52444" y="2328977"/>
            <a:ext cx="267005" cy="267005"/>
          </a:xfrm>
          <a:prstGeom prst="rect">
            <a:avLst/>
          </a:prstGeom>
        </p:spPr>
      </p:pic>
      <p:sp>
        <p:nvSpPr>
          <p:cNvPr id="73" name="Text 55"/>
          <p:cNvSpPr/>
          <p:nvPr/>
        </p:nvSpPr>
        <p:spPr>
          <a:xfrm>
            <a:off x="3552444" y="2328977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B1E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pic>
        <p:nvPicPr>
          <p:cNvPr id="7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44254" y="2214677"/>
            <a:ext cx="267005" cy="267005"/>
          </a:xfrm>
          <a:prstGeom prst="rect">
            <a:avLst/>
          </a:prstGeom>
        </p:spPr>
      </p:pic>
      <p:sp>
        <p:nvSpPr>
          <p:cNvPr id="75" name="Text 56"/>
          <p:cNvSpPr/>
          <p:nvPr/>
        </p:nvSpPr>
        <p:spPr>
          <a:xfrm>
            <a:off x="9344254" y="2214677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B1E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pic>
        <p:nvPicPr>
          <p:cNvPr id="7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66844" y="4414723"/>
            <a:ext cx="267005" cy="267005"/>
          </a:xfrm>
          <a:prstGeom prst="rect">
            <a:avLst/>
          </a:prstGeom>
        </p:spPr>
      </p:pic>
      <p:sp>
        <p:nvSpPr>
          <p:cNvPr id="77" name="Text 57"/>
          <p:cNvSpPr/>
          <p:nvPr/>
        </p:nvSpPr>
        <p:spPr>
          <a:xfrm>
            <a:off x="4466844" y="4414723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B1E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0" y="1371600"/>
            <a:ext cx="12191695" cy="9144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0" y="2743200"/>
            <a:ext cx="12191695" cy="9144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0" y="4114800"/>
            <a:ext cx="12191695" cy="9144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rcRect l="-2083" r="-2083" t="0" b="0"/>
          <a:stretch/>
        </p:blipFill>
        <p:spPr>
          <a:xfrm>
            <a:off x="0" y="5486400"/>
            <a:ext cx="12191695" cy="9144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2083" b="-2083"/>
          <a:stretch/>
        </p:blipFill>
        <p:spPr>
          <a:xfrm>
            <a:off x="2438705" y="0"/>
            <a:ext cx="9144" cy="6858000"/>
          </a:xfrm>
          <a:prstGeom prst="rect">
            <a:avLst/>
          </a:prstGeom>
        </p:spPr>
      </p:pic>
      <p:pic>
        <p:nvPicPr>
          <p:cNvPr id="1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2083" b="-2083"/>
          <a:stretch/>
        </p:blipFill>
        <p:spPr>
          <a:xfrm>
            <a:off x="4876495" y="0"/>
            <a:ext cx="9144" cy="6858000"/>
          </a:xfrm>
          <a:prstGeom prst="rect">
            <a:avLst/>
          </a:prstGeom>
        </p:spPr>
      </p:pic>
      <p:pic>
        <p:nvPicPr>
          <p:cNvPr id="1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2083" b="-2083"/>
          <a:stretch/>
        </p:blipFill>
        <p:spPr>
          <a:xfrm>
            <a:off x="7315200" y="0"/>
            <a:ext cx="9144" cy="6858000"/>
          </a:xfrm>
          <a:prstGeom prst="rect">
            <a:avLst/>
          </a:prstGeom>
        </p:spPr>
      </p:pic>
      <p:pic>
        <p:nvPicPr>
          <p:cNvPr id="1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2083" b="-2083"/>
          <a:stretch/>
        </p:blipFill>
        <p:spPr>
          <a:xfrm>
            <a:off x="9753905" y="0"/>
            <a:ext cx="9144" cy="6858000"/>
          </a:xfrm>
          <a:prstGeom prst="rect">
            <a:avLst/>
          </a:prstGeom>
        </p:spPr>
      </p:pic>
      <p:sp>
        <p:nvSpPr>
          <p:cNvPr id="14" name="Shape 3"/>
          <p:cNvSpPr/>
          <p:nvPr/>
        </p:nvSpPr>
        <p:spPr>
          <a:xfrm>
            <a:off x="457200" y="6467551"/>
            <a:ext cx="11277295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5" name="Shape 4"/>
          <p:cNvSpPr/>
          <p:nvPr/>
        </p:nvSpPr>
        <p:spPr>
          <a:xfrm>
            <a:off x="0" y="0"/>
            <a:ext cx="12191695" cy="115214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16" name="Shape 5"/>
          <p:cNvSpPr/>
          <p:nvPr/>
        </p:nvSpPr>
        <p:spPr>
          <a:xfrm>
            <a:off x="0" y="1143000"/>
            <a:ext cx="121916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17" name="Text 6"/>
          <p:cNvSpPr txBox="1"/>
          <p:nvPr/>
        </p:nvSpPr>
        <p:spPr>
          <a:xfrm>
            <a:off x="457200" y="381305"/>
            <a:ext cx="57342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Complex Example - CMBS/SASB Transaction Search</a:t>
            </a:r>
            <a:endParaRPr lang="en-US" sz="900" dirty="0"/>
          </a:p>
        </p:txBody>
      </p:sp>
      <p:sp>
        <p:nvSpPr>
          <p:cNvPr id="18" name="Text 7"/>
          <p:cNvSpPr txBox="1"/>
          <p:nvPr/>
        </p:nvSpPr>
        <p:spPr>
          <a:xfrm>
            <a:off x="457200" y="609905"/>
            <a:ext cx="747887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68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Multi-Constraint Financial Query</a:t>
            </a:r>
            <a:endParaRPr lang="en-US" sz="2700" dirty="0"/>
          </a:p>
        </p:txBody>
      </p:sp>
      <p:sp>
        <p:nvSpPr>
          <p:cNvPr id="19" name="Text 8"/>
          <p:cNvSpPr txBox="1"/>
          <p:nvPr/>
        </p:nvSpPr>
        <p:spPr>
          <a:xfrm>
            <a:off x="10299802" y="495605"/>
            <a:ext cx="14383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1300" dirty="0"/>
          </a:p>
        </p:txBody>
      </p:sp>
      <p:sp>
        <p:nvSpPr>
          <p:cNvPr id="20" name="Text 9"/>
          <p:cNvSpPr txBox="1"/>
          <p:nvPr/>
        </p:nvSpPr>
        <p:spPr>
          <a:xfrm>
            <a:off x="10299802" y="800100"/>
            <a:ext cx="1438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11</a:t>
            </a:r>
            <a:endParaRPr lang="en-US" sz="1000" dirty="0"/>
          </a:p>
        </p:txBody>
      </p:sp>
      <p:sp>
        <p:nvSpPr>
          <p:cNvPr id="21" name="Text 10"/>
          <p:cNvSpPr txBox="1"/>
          <p:nvPr/>
        </p:nvSpPr>
        <p:spPr>
          <a:xfrm>
            <a:off x="457200" y="1790395"/>
            <a:ext cx="389443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"Needle in a Haystack" Query</a:t>
            </a:r>
            <a:endParaRPr lang="en-US" sz="1500" dirty="0"/>
          </a:p>
        </p:txBody>
      </p:sp>
      <p:sp>
        <p:nvSpPr>
          <p:cNvPr id="22" name="Shape 11"/>
          <p:cNvSpPr/>
          <p:nvPr/>
        </p:nvSpPr>
        <p:spPr>
          <a:xfrm>
            <a:off x="457200" y="2333549"/>
            <a:ext cx="3638398" cy="990295"/>
          </a:xfrm>
          <a:prstGeom prst="roundRect">
            <a:avLst>
              <a:gd name="adj" fmla="val 5327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C5A059">
                <a:alpha val="40000"/>
              </a:srgbClr>
            </a:solidFill>
            <a:prstDash val="solid"/>
          </a:ln>
        </p:spPr>
      </p:sp>
      <p:sp>
        <p:nvSpPr>
          <p:cNvPr id="23" name="Text 12"/>
          <p:cNvSpPr txBox="1"/>
          <p:nvPr/>
        </p:nvSpPr>
        <p:spPr>
          <a:xfrm>
            <a:off x="580644" y="2457907"/>
            <a:ext cx="3467405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"Find all 2024 US SASB transactions secured by Hotels or Resorts that included condominium interest managed by the hotel but owned by third parties"</a:t>
            </a:r>
            <a:endParaRPr lang="en-US" sz="900" dirty="0"/>
          </a:p>
        </p:txBody>
      </p:sp>
      <p:sp>
        <p:nvSpPr>
          <p:cNvPr id="24" name="Text 13"/>
          <p:cNvSpPr txBox="1"/>
          <p:nvPr/>
        </p:nvSpPr>
        <p:spPr>
          <a:xfrm>
            <a:off x="457200" y="3476549"/>
            <a:ext cx="3715207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single query contains four distinct constraints that typically reside in completely different sections of deal documentation or separate databases.</a:t>
            </a:r>
            <a:endParaRPr lang="en-US" sz="1000" dirty="0"/>
          </a:p>
        </p:txBody>
      </p:sp>
      <p:sp>
        <p:nvSpPr>
          <p:cNvPr id="25" name="Shape 14"/>
          <p:cNvSpPr/>
          <p:nvPr/>
        </p:nvSpPr>
        <p:spPr>
          <a:xfrm>
            <a:off x="457200" y="4507992"/>
            <a:ext cx="3638398" cy="1714500"/>
          </a:xfrm>
          <a:prstGeom prst="roundRect">
            <a:avLst>
              <a:gd name="adj" fmla="val 237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6" name="Text 15"/>
          <p:cNvSpPr txBox="1"/>
          <p:nvPr/>
        </p:nvSpPr>
        <p:spPr>
          <a:xfrm>
            <a:off x="883310" y="4707331"/>
            <a:ext cx="312724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Why Single-Hop Fails </a:t>
            </a:r>
            <a:endParaRPr lang="en-US" sz="900" dirty="0"/>
          </a:p>
        </p:txBody>
      </p:sp>
      <p:sp>
        <p:nvSpPr>
          <p:cNvPr id="27" name="Text 16"/>
          <p:cNvSpPr txBox="1"/>
          <p:nvPr/>
        </p:nvSpPr>
        <p:spPr>
          <a:xfrm>
            <a:off x="657454" y="4935931"/>
            <a:ext cx="331470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single document contains all four attributes in one paragraph. A standard vector search will match "Hotels" or "2024" but fail to enforce the complex "third-party owned" structure constraint simultaneously.</a:t>
            </a:r>
            <a:endParaRPr lang="en-US" sz="100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57454" y="4721962"/>
            <a:ext cx="114300" cy="114300"/>
          </a:xfrm>
          <a:prstGeom prst="rect">
            <a:avLst/>
          </a:prstGeom>
        </p:spPr>
      </p:pic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>
            <a:alphaModFix amt="60000"/>
          </a:blip>
          <a:srcRect l="0" r="0" t="-400" b="-400"/>
          <a:stretch/>
        </p:blipFill>
        <p:spPr>
          <a:xfrm>
            <a:off x="457200" y="2143354"/>
            <a:ext cx="457200" cy="38405"/>
          </a:xfrm>
          <a:prstGeom prst="rect">
            <a:avLst/>
          </a:prstGeom>
        </p:spPr>
      </p:pic>
      <p:sp>
        <p:nvSpPr>
          <p:cNvPr id="30" name="Text 17"/>
          <p:cNvSpPr txBox="1"/>
          <p:nvPr/>
        </p:nvSpPr>
        <p:spPr>
          <a:xfrm>
            <a:off x="9298534" y="1380744"/>
            <a:ext cx="255574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Progressive Filtering Pipeline</a:t>
            </a:r>
            <a:endParaRPr lang="en-US" sz="900" dirty="0"/>
          </a:p>
        </p:txBody>
      </p:sp>
      <p:sp>
        <p:nvSpPr>
          <p:cNvPr id="31" name="Shape 18"/>
          <p:cNvSpPr/>
          <p:nvPr/>
        </p:nvSpPr>
        <p:spPr>
          <a:xfrm>
            <a:off x="4902098" y="2357323"/>
            <a:ext cx="6400800" cy="647395"/>
          </a:xfrm>
          <a:prstGeom prst="roundRect">
            <a:avLst>
              <a:gd name="adj" fmla="val 16617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2" name="Shape 19"/>
          <p:cNvSpPr/>
          <p:nvPr/>
        </p:nvSpPr>
        <p:spPr>
          <a:xfrm>
            <a:off x="4902098" y="2357323"/>
            <a:ext cx="38405" cy="647395"/>
          </a:xfrm>
          <a:prstGeom prst="roundRect">
            <a:avLst>
              <a:gd name="adj" fmla="val 280111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3" name="Shape 20"/>
          <p:cNvSpPr/>
          <p:nvPr/>
        </p:nvSpPr>
        <p:spPr>
          <a:xfrm>
            <a:off x="5130698" y="2481682"/>
            <a:ext cx="286207" cy="400507"/>
          </a:xfrm>
          <a:prstGeom prst="roundRect">
            <a:avLst>
              <a:gd name="adj" fmla="val 319489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1100" b="-1100"/>
          <a:stretch/>
        </p:blipFill>
        <p:spPr>
          <a:xfrm>
            <a:off x="5216652" y="2612441"/>
            <a:ext cx="114300" cy="133502"/>
          </a:xfrm>
          <a:prstGeom prst="rect">
            <a:avLst/>
          </a:prstGeom>
        </p:spPr>
      </p:pic>
      <p:sp>
        <p:nvSpPr>
          <p:cNvPr id="35" name="Text 21"/>
          <p:cNvSpPr txBox="1"/>
          <p:nvPr/>
        </p:nvSpPr>
        <p:spPr>
          <a:xfrm>
            <a:off x="5568696" y="2510028"/>
            <a:ext cx="18288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 1: Deal Type</a:t>
            </a:r>
            <a:endParaRPr lang="en-US" sz="900" dirty="0"/>
          </a:p>
        </p:txBody>
      </p:sp>
      <p:sp>
        <p:nvSpPr>
          <p:cNvPr id="36" name="Text 22"/>
          <p:cNvSpPr txBox="1"/>
          <p:nvPr/>
        </p:nvSpPr>
        <p:spPr>
          <a:xfrm>
            <a:off x="5568696" y="2661818"/>
            <a:ext cx="18891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SASB CMBS Transactions</a:t>
            </a:r>
            <a:endParaRPr lang="en-US" sz="1000" dirty="0"/>
          </a:p>
        </p:txBody>
      </p:sp>
      <p:sp>
        <p:nvSpPr>
          <p:cNvPr id="37" name="Text 23"/>
          <p:cNvSpPr txBox="1"/>
          <p:nvPr/>
        </p:nvSpPr>
        <p:spPr>
          <a:xfrm>
            <a:off x="10012680" y="2490826"/>
            <a:ext cx="10954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Universe</a:t>
            </a:r>
            <a:endParaRPr lang="en-US" sz="900" dirty="0"/>
          </a:p>
        </p:txBody>
      </p:sp>
      <p:sp>
        <p:nvSpPr>
          <p:cNvPr id="38" name="Text 24"/>
          <p:cNvSpPr txBox="1"/>
          <p:nvPr/>
        </p:nvSpPr>
        <p:spPr>
          <a:xfrm>
            <a:off x="9933127" y="2643530"/>
            <a:ext cx="11750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~5,000 Deals</a:t>
            </a:r>
            <a:endParaRPr lang="en-US" sz="1200" dirty="0"/>
          </a:p>
        </p:txBody>
      </p:sp>
      <p:pic>
        <p:nvPicPr>
          <p:cNvPr id="39" name="Image 12" descr="preencoded.png">    </p:cNvPr>
          <p:cNvPicPr>
            <a:picLocks noChangeAspect="1"/>
          </p:cNvPicPr>
          <p:nvPr/>
        </p:nvPicPr>
        <p:blipFill>
          <a:blip r:embed="rId13"/>
          <a:srcRect l="-400" r="-400" t="0" b="0"/>
          <a:stretch/>
        </p:blipFill>
        <p:spPr>
          <a:xfrm>
            <a:off x="8093354" y="3004718"/>
            <a:ext cx="19202" cy="228600"/>
          </a:xfrm>
          <a:prstGeom prst="rect">
            <a:avLst/>
          </a:prstGeom>
        </p:spPr>
      </p:pic>
      <p:sp>
        <p:nvSpPr>
          <p:cNvPr id="40" name="Shape 25"/>
          <p:cNvSpPr/>
          <p:nvPr/>
        </p:nvSpPr>
        <p:spPr>
          <a:xfrm>
            <a:off x="5222138" y="3233318"/>
            <a:ext cx="5762549" cy="647395"/>
          </a:xfrm>
          <a:prstGeom prst="roundRect">
            <a:avLst>
              <a:gd name="adj" fmla="val 16617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1" name="Shape 26"/>
          <p:cNvSpPr/>
          <p:nvPr/>
        </p:nvSpPr>
        <p:spPr>
          <a:xfrm>
            <a:off x="5222138" y="3233318"/>
            <a:ext cx="38405" cy="647395"/>
          </a:xfrm>
          <a:prstGeom prst="roundRect">
            <a:avLst>
              <a:gd name="adj" fmla="val 280111"/>
            </a:avLst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42" name="Shape 27"/>
          <p:cNvSpPr/>
          <p:nvPr/>
        </p:nvSpPr>
        <p:spPr>
          <a:xfrm>
            <a:off x="5450738" y="3357677"/>
            <a:ext cx="286207" cy="400507"/>
          </a:xfrm>
          <a:prstGeom prst="roundRect">
            <a:avLst>
              <a:gd name="adj" fmla="val 319489"/>
            </a:avLst>
          </a:prstGeom>
          <a:solidFill>
            <a:srgbClr val="1E40AF"/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43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1100" b="-1100"/>
          <a:stretch/>
        </p:blipFill>
        <p:spPr>
          <a:xfrm>
            <a:off x="5536692" y="3488436"/>
            <a:ext cx="114300" cy="133502"/>
          </a:xfrm>
          <a:prstGeom prst="rect">
            <a:avLst/>
          </a:prstGeom>
        </p:spPr>
      </p:pic>
      <p:sp>
        <p:nvSpPr>
          <p:cNvPr id="44" name="Text 28"/>
          <p:cNvSpPr txBox="1"/>
          <p:nvPr/>
        </p:nvSpPr>
        <p:spPr>
          <a:xfrm>
            <a:off x="5888736" y="3386023"/>
            <a:ext cx="15435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 2: Time Period</a:t>
            </a:r>
            <a:endParaRPr lang="en-US" sz="900" dirty="0"/>
          </a:p>
        </p:txBody>
      </p:sp>
      <p:sp>
        <p:nvSpPr>
          <p:cNvPr id="45" name="Text 29"/>
          <p:cNvSpPr txBox="1"/>
          <p:nvPr/>
        </p:nvSpPr>
        <p:spPr>
          <a:xfrm>
            <a:off x="5888736" y="3538728"/>
            <a:ext cx="14484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Issued in 2024</a:t>
            </a:r>
            <a:endParaRPr lang="en-US" sz="1000" dirty="0"/>
          </a:p>
        </p:txBody>
      </p:sp>
      <p:sp>
        <p:nvSpPr>
          <p:cNvPr id="46" name="Text 30"/>
          <p:cNvSpPr txBox="1"/>
          <p:nvPr/>
        </p:nvSpPr>
        <p:spPr>
          <a:xfrm>
            <a:off x="9831629" y="3366821"/>
            <a:ext cx="952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Matches</a:t>
            </a:r>
            <a:endParaRPr lang="en-US" sz="900" dirty="0"/>
          </a:p>
        </p:txBody>
      </p:sp>
      <p:sp>
        <p:nvSpPr>
          <p:cNvPr id="47" name="Text 31"/>
          <p:cNvSpPr txBox="1"/>
          <p:nvPr/>
        </p:nvSpPr>
        <p:spPr>
          <a:xfrm>
            <a:off x="9804197" y="3519526"/>
            <a:ext cx="9802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~450 Deals</a:t>
            </a:r>
            <a:endParaRPr lang="en-US" sz="1200" dirty="0"/>
          </a:p>
        </p:txBody>
      </p:sp>
      <p:pic>
        <p:nvPicPr>
          <p:cNvPr id="48" name="Image 14" descr="preencoded.png">    </p:cNvPr>
          <p:cNvPicPr>
            <a:picLocks noChangeAspect="1"/>
          </p:cNvPicPr>
          <p:nvPr/>
        </p:nvPicPr>
        <p:blipFill>
          <a:blip r:embed="rId15"/>
          <a:srcRect l="-400" r="-400" t="0" b="0"/>
          <a:stretch/>
        </p:blipFill>
        <p:spPr>
          <a:xfrm>
            <a:off x="8093354" y="3881628"/>
            <a:ext cx="19202" cy="228600"/>
          </a:xfrm>
          <a:prstGeom prst="rect">
            <a:avLst/>
          </a:prstGeom>
        </p:spPr>
      </p:pic>
      <p:sp>
        <p:nvSpPr>
          <p:cNvPr id="49" name="Shape 32"/>
          <p:cNvSpPr/>
          <p:nvPr/>
        </p:nvSpPr>
        <p:spPr>
          <a:xfrm>
            <a:off x="5542178" y="4110228"/>
            <a:ext cx="5124298" cy="647395"/>
          </a:xfrm>
          <a:prstGeom prst="roundRect">
            <a:avLst>
              <a:gd name="adj" fmla="val 16617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0" name="Shape 33"/>
          <p:cNvSpPr/>
          <p:nvPr/>
        </p:nvSpPr>
        <p:spPr>
          <a:xfrm>
            <a:off x="5542178" y="4110228"/>
            <a:ext cx="38405" cy="647395"/>
          </a:xfrm>
          <a:prstGeom prst="roundRect">
            <a:avLst>
              <a:gd name="adj" fmla="val 280111"/>
            </a:avLst>
          </a:prstGeom>
          <a:solidFill>
            <a:srgbClr val="C5A059"/>
          </a:solidFill>
          <a:ln w="12700">
            <a:solidFill>
              <a:srgbClr val="C5A059">
                <a:alpha val="0"/>
              </a:srgbClr>
            </a:solidFill>
            <a:prstDash val="solid"/>
          </a:ln>
        </p:spPr>
      </p:sp>
      <p:sp>
        <p:nvSpPr>
          <p:cNvPr id="51" name="Shape 34"/>
          <p:cNvSpPr/>
          <p:nvPr/>
        </p:nvSpPr>
        <p:spPr>
          <a:xfrm>
            <a:off x="5770778" y="4233672"/>
            <a:ext cx="304495" cy="400507"/>
          </a:xfrm>
          <a:prstGeom prst="roundRect">
            <a:avLst>
              <a:gd name="adj" fmla="val 300300"/>
            </a:avLst>
          </a:prstGeom>
          <a:solidFill>
            <a:srgbClr val="78350F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52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5856732" y="4364431"/>
            <a:ext cx="133502" cy="133502"/>
          </a:xfrm>
          <a:prstGeom prst="rect">
            <a:avLst/>
          </a:prstGeom>
        </p:spPr>
      </p:pic>
      <p:sp>
        <p:nvSpPr>
          <p:cNvPr id="53" name="Text 35"/>
          <p:cNvSpPr txBox="1"/>
          <p:nvPr/>
        </p:nvSpPr>
        <p:spPr>
          <a:xfrm>
            <a:off x="6227978" y="4262018"/>
            <a:ext cx="183977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 3: Collateral Type</a:t>
            </a:r>
            <a:endParaRPr lang="en-US" sz="900" dirty="0"/>
          </a:p>
        </p:txBody>
      </p:sp>
      <p:sp>
        <p:nvSpPr>
          <p:cNvPr id="54" name="Text 36"/>
          <p:cNvSpPr txBox="1"/>
          <p:nvPr/>
        </p:nvSpPr>
        <p:spPr>
          <a:xfrm>
            <a:off x="6227978" y="4414723"/>
            <a:ext cx="1772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Hotels / Resorts</a:t>
            </a:r>
            <a:endParaRPr lang="en-US" sz="1000" dirty="0"/>
          </a:p>
        </p:txBody>
      </p:sp>
      <p:sp>
        <p:nvSpPr>
          <p:cNvPr id="55" name="Text 37"/>
          <p:cNvSpPr txBox="1"/>
          <p:nvPr/>
        </p:nvSpPr>
        <p:spPr>
          <a:xfrm>
            <a:off x="9635033" y="4243730"/>
            <a:ext cx="8293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Matches</a:t>
            </a:r>
            <a:endParaRPr lang="en-US" sz="900" dirty="0"/>
          </a:p>
        </p:txBody>
      </p:sp>
      <p:sp>
        <p:nvSpPr>
          <p:cNvPr id="56" name="Text 38"/>
          <p:cNvSpPr txBox="1"/>
          <p:nvPr/>
        </p:nvSpPr>
        <p:spPr>
          <a:xfrm>
            <a:off x="9582912" y="4395521"/>
            <a:ext cx="8805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~35 Deals</a:t>
            </a:r>
            <a:endParaRPr lang="en-US" sz="1200" dirty="0"/>
          </a:p>
        </p:txBody>
      </p:sp>
      <p:pic>
        <p:nvPicPr>
          <p:cNvPr id="57" name="Image 16" descr="preencoded.png">    </p:cNvPr>
          <p:cNvPicPr>
            <a:picLocks noChangeAspect="1"/>
          </p:cNvPicPr>
          <p:nvPr/>
        </p:nvPicPr>
        <p:blipFill>
          <a:blip r:embed="rId17"/>
          <a:srcRect l="-400" r="-400" t="0" b="0"/>
          <a:stretch/>
        </p:blipFill>
        <p:spPr>
          <a:xfrm>
            <a:off x="8093354" y="4757623"/>
            <a:ext cx="19202" cy="228600"/>
          </a:xfrm>
          <a:prstGeom prst="rect">
            <a:avLst/>
          </a:prstGeom>
        </p:spPr>
      </p:pic>
      <p:sp>
        <p:nvSpPr>
          <p:cNvPr id="58" name="Shape 39"/>
          <p:cNvSpPr/>
          <p:nvPr/>
        </p:nvSpPr>
        <p:spPr>
          <a:xfrm>
            <a:off x="5862218" y="4986223"/>
            <a:ext cx="4486046" cy="666598"/>
          </a:xfrm>
          <a:prstGeom prst="roundRect">
            <a:avLst>
              <a:gd name="adj" fmla="val 15677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9" name="Shape 40"/>
          <p:cNvSpPr/>
          <p:nvPr/>
        </p:nvSpPr>
        <p:spPr>
          <a:xfrm>
            <a:off x="5862218" y="4986223"/>
            <a:ext cx="38405" cy="666598"/>
          </a:xfrm>
          <a:prstGeom prst="roundRect">
            <a:avLst>
              <a:gd name="adj" fmla="val 272107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60" name="Shape 41"/>
          <p:cNvSpPr/>
          <p:nvPr/>
        </p:nvSpPr>
        <p:spPr>
          <a:xfrm>
            <a:off x="6090818" y="5119726"/>
            <a:ext cx="276149" cy="400507"/>
          </a:xfrm>
          <a:prstGeom prst="roundRect">
            <a:avLst>
              <a:gd name="adj" fmla="val 331126"/>
            </a:avLst>
          </a:prstGeom>
          <a:solidFill>
            <a:srgbClr val="064E3B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61" name="Image 17" descr="preencoded.png">    </p:cNvPr>
          <p:cNvPicPr>
            <a:picLocks noChangeAspect="1"/>
          </p:cNvPicPr>
          <p:nvPr/>
        </p:nvPicPr>
        <p:blipFill>
          <a:blip r:embed="rId18"/>
          <a:srcRect l="-2512" r="-2512" t="0" b="0"/>
          <a:stretch/>
        </p:blipFill>
        <p:spPr>
          <a:xfrm>
            <a:off x="6176772" y="5250485"/>
            <a:ext cx="105156" cy="133502"/>
          </a:xfrm>
          <a:prstGeom prst="rect">
            <a:avLst/>
          </a:prstGeom>
        </p:spPr>
      </p:pic>
      <p:sp>
        <p:nvSpPr>
          <p:cNvPr id="62" name="Text 42"/>
          <p:cNvSpPr txBox="1"/>
          <p:nvPr/>
        </p:nvSpPr>
        <p:spPr>
          <a:xfrm>
            <a:off x="6519672" y="5148072"/>
            <a:ext cx="250637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 4: Deal Structure</a:t>
            </a:r>
            <a:endParaRPr lang="en-US" sz="900" dirty="0"/>
          </a:p>
        </p:txBody>
      </p:sp>
      <p:sp>
        <p:nvSpPr>
          <p:cNvPr id="63" name="Text 43"/>
          <p:cNvSpPr txBox="1"/>
          <p:nvPr/>
        </p:nvSpPr>
        <p:spPr>
          <a:xfrm>
            <a:off x="6519672" y="5300777"/>
            <a:ext cx="2742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Third-Party Owned Condo Interest</a:t>
            </a:r>
            <a:endParaRPr lang="en-US" sz="1000" dirty="0"/>
          </a:p>
        </p:txBody>
      </p:sp>
      <p:sp>
        <p:nvSpPr>
          <p:cNvPr id="64" name="Text 44"/>
          <p:cNvSpPr txBox="1"/>
          <p:nvPr/>
        </p:nvSpPr>
        <p:spPr>
          <a:xfrm>
            <a:off x="9348826" y="5110582"/>
            <a:ext cx="8001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Set</a:t>
            </a:r>
            <a:endParaRPr lang="en-US" sz="900" dirty="0"/>
          </a:p>
        </p:txBody>
      </p:sp>
      <p:sp>
        <p:nvSpPr>
          <p:cNvPr id="65" name="Text 45"/>
          <p:cNvSpPr txBox="1"/>
          <p:nvPr/>
        </p:nvSpPr>
        <p:spPr>
          <a:xfrm>
            <a:off x="9293047" y="5262372"/>
            <a:ext cx="85587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Deals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961949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0" y="952805"/>
            <a:ext cx="121916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04495"/>
            <a:ext cx="36768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CMBS Example — Hop-by-Hop Execution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95605"/>
            <a:ext cx="42117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56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Three Hops to the Answer</a:t>
            </a:r>
            <a:endParaRPr lang="en-US" sz="2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01" b="-401"/>
          <a:stretch/>
        </p:blipFill>
        <p:spPr>
          <a:xfrm>
            <a:off x="914400" y="3900830"/>
            <a:ext cx="10362895" cy="1920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419149" y="2243023"/>
            <a:ext cx="2857500" cy="3333902"/>
          </a:xfrm>
          <a:prstGeom prst="roundRect">
            <a:avLst>
              <a:gd name="adj" fmla="val 85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580998" y="2443277"/>
            <a:ext cx="323698" cy="409651"/>
          </a:xfrm>
          <a:prstGeom prst="roundRect">
            <a:avLst>
              <a:gd name="adj" fmla="val 49850"/>
            </a:avLst>
          </a:prstGeom>
          <a:solidFill>
            <a:srgbClr val="C5A05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57807" y="2550262"/>
            <a:ext cx="171907" cy="17190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80998" y="2948026"/>
            <a:ext cx="16212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Universe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1735531" y="3252521"/>
            <a:ext cx="24807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75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Sub-Question</a:t>
            </a:r>
            <a:endParaRPr lang="en-US" sz="8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-6627" r="-6627" t="0" b="0"/>
          <a:stretch/>
        </p:blipFill>
        <p:spPr>
          <a:xfrm>
            <a:off x="1580998" y="3271723"/>
            <a:ext cx="85954" cy="7589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580998" y="3386023"/>
            <a:ext cx="26106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"What SASB CMBS transactions were issued in 2024 with hotel collateral?"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1725473" y="3776472"/>
            <a:ext cx="24908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75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Sources</a:t>
            </a:r>
            <a:endParaRPr lang="en-US" sz="8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-7143" r="-7143" t="0" b="0"/>
          <a:stretch/>
        </p:blipFill>
        <p:spPr>
          <a:xfrm>
            <a:off x="1580998" y="3795674"/>
            <a:ext cx="75895" cy="7589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0998" y="3929177"/>
            <a:ext cx="1133856" cy="286207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580998" y="3929177"/>
            <a:ext cx="1133856" cy="286207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37415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Trepp / Intex</a:t>
            </a:r>
            <a:endParaRPr lang="en-US" sz="12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0998" y="4291279"/>
            <a:ext cx="1657807" cy="286207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580998" y="4291279"/>
            <a:ext cx="1657807" cy="286207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37415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Prospectus (424B5)</a:t>
            </a:r>
            <a:endParaRPr lang="en-US" sz="12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54" b="-54"/>
          <a:stretch/>
        </p:blipFill>
        <p:spPr>
          <a:xfrm>
            <a:off x="1580998" y="5014570"/>
            <a:ext cx="2533802" cy="400507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1676095" y="5072177"/>
            <a:ext cx="24569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75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Output</a:t>
            </a:r>
            <a:endParaRPr lang="en-US" sz="800" dirty="0"/>
          </a:p>
        </p:txBody>
      </p:sp>
      <p:sp>
        <p:nvSpPr>
          <p:cNvPr id="25" name="Text 15"/>
          <p:cNvSpPr txBox="1"/>
          <p:nvPr/>
        </p:nvSpPr>
        <p:spPr>
          <a:xfrm>
            <a:off x="1676095" y="5205679"/>
            <a:ext cx="245699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 of ~15 deals</a:t>
            </a:r>
            <a:endParaRPr lang="en-US" sz="90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>
            <a:alphaModFix amt="50000"/>
          </a:blip>
          <a:srcRect l="-1923" r="-1923" t="0" b="0"/>
          <a:stretch/>
        </p:blipFill>
        <p:spPr>
          <a:xfrm>
            <a:off x="4410151" y="3792931"/>
            <a:ext cx="123444" cy="190195"/>
          </a:xfrm>
          <a:prstGeom prst="rect">
            <a:avLst/>
          </a:prstGeom>
        </p:spPr>
      </p:pic>
      <p:sp>
        <p:nvSpPr>
          <p:cNvPr id="27" name="Shape 16"/>
          <p:cNvSpPr/>
          <p:nvPr/>
        </p:nvSpPr>
        <p:spPr>
          <a:xfrm>
            <a:off x="4667098" y="2243023"/>
            <a:ext cx="2857500" cy="3333902"/>
          </a:xfrm>
          <a:prstGeom prst="roundRect">
            <a:avLst>
              <a:gd name="adj" fmla="val 85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8" name="Shape 17"/>
          <p:cNvSpPr/>
          <p:nvPr/>
        </p:nvSpPr>
        <p:spPr>
          <a:xfrm>
            <a:off x="4828946" y="2443277"/>
            <a:ext cx="286207" cy="409651"/>
          </a:xfrm>
          <a:prstGeom prst="roundRect">
            <a:avLst>
              <a:gd name="adj" fmla="val 63898"/>
            </a:avLst>
          </a:prstGeom>
          <a:solidFill>
            <a:srgbClr val="C5A05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rcRect l="-1773" r="-1773" t="0" b="0"/>
          <a:stretch/>
        </p:blipFill>
        <p:spPr>
          <a:xfrm>
            <a:off x="4905756" y="2550262"/>
            <a:ext cx="133502" cy="171907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4828946" y="2948026"/>
            <a:ext cx="15078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Retrieve Details</a:t>
            </a:r>
            <a:endParaRPr lang="en-US" sz="1200" dirty="0"/>
          </a:p>
        </p:txBody>
      </p:sp>
      <p:sp>
        <p:nvSpPr>
          <p:cNvPr id="31" name="Text 19"/>
          <p:cNvSpPr txBox="1"/>
          <p:nvPr/>
        </p:nvSpPr>
        <p:spPr>
          <a:xfrm>
            <a:off x="4983480" y="3252521"/>
            <a:ext cx="24807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75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Sub-Question</a:t>
            </a:r>
            <a:endParaRPr lang="en-US" sz="800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rcRect l="-6627" r="-6627" t="0" b="0"/>
          <a:stretch/>
        </p:blipFill>
        <p:spPr>
          <a:xfrm>
            <a:off x="4828946" y="3271723"/>
            <a:ext cx="85954" cy="75895"/>
          </a:xfrm>
          <a:prstGeom prst="rect">
            <a:avLst/>
          </a:prstGeom>
        </p:spPr>
      </p:pic>
      <p:sp>
        <p:nvSpPr>
          <p:cNvPr id="33" name="Text 20"/>
          <p:cNvSpPr txBox="1"/>
          <p:nvPr/>
        </p:nvSpPr>
        <p:spPr>
          <a:xfrm>
            <a:off x="4828946" y="3386023"/>
            <a:ext cx="26106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"For each deal, what is the specific property ownership structure?"</a:t>
            </a:r>
            <a:endParaRPr lang="en-US" sz="900" dirty="0"/>
          </a:p>
        </p:txBody>
      </p:sp>
      <p:sp>
        <p:nvSpPr>
          <p:cNvPr id="34" name="Text 21"/>
          <p:cNvSpPr txBox="1"/>
          <p:nvPr/>
        </p:nvSpPr>
        <p:spPr>
          <a:xfrm>
            <a:off x="4983480" y="3776472"/>
            <a:ext cx="24807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75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Look For</a:t>
            </a:r>
            <a:endParaRPr lang="en-US" sz="80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rcRect l="-6627" r="-6627" t="0" b="0"/>
          <a:stretch/>
        </p:blipFill>
        <p:spPr>
          <a:xfrm>
            <a:off x="4828946" y="3795674"/>
            <a:ext cx="85954" cy="75895"/>
          </a:xfrm>
          <a:prstGeom prst="rect">
            <a:avLst/>
          </a:prstGeom>
        </p:spPr>
      </p:pic>
      <p:sp>
        <p:nvSpPr>
          <p:cNvPr id="36" name="Shape 22"/>
          <p:cNvSpPr/>
          <p:nvPr/>
        </p:nvSpPr>
        <p:spPr>
          <a:xfrm>
            <a:off x="4828946" y="3929177"/>
            <a:ext cx="19202" cy="4572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</p:sp>
      <p:sp>
        <p:nvSpPr>
          <p:cNvPr id="37" name="Text 23"/>
          <p:cNvSpPr txBox="1"/>
          <p:nvPr/>
        </p:nvSpPr>
        <p:spPr>
          <a:xfrm>
            <a:off x="4924044" y="3929177"/>
            <a:ext cx="2515514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Fee simple vs. leasehold, condo structures, split ownership.</a:t>
            </a:r>
            <a:endParaRPr lang="en-US" sz="1200" dirty="0"/>
          </a:p>
        </p:txBody>
      </p:sp>
      <p:sp>
        <p:nvSpPr>
          <p:cNvPr id="38" name="Text 24"/>
          <p:cNvSpPr txBox="1"/>
          <p:nvPr/>
        </p:nvSpPr>
        <p:spPr>
          <a:xfrm>
            <a:off x="4973422" y="4805172"/>
            <a:ext cx="24908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75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Sources</a:t>
            </a:r>
            <a:endParaRPr lang="en-US" sz="800" dirty="0"/>
          </a:p>
        </p:txBody>
      </p:sp>
      <p:pic>
        <p:nvPicPr>
          <p:cNvPr id="39" name="Image 12" descr="preencoded.png">    </p:cNvPr>
          <p:cNvPicPr>
            <a:picLocks noChangeAspect="1"/>
          </p:cNvPicPr>
          <p:nvPr/>
        </p:nvPicPr>
        <p:blipFill>
          <a:blip r:embed="rId13"/>
          <a:srcRect l="-7143" r="-7143" t="0" b="0"/>
          <a:stretch/>
        </p:blipFill>
        <p:spPr>
          <a:xfrm>
            <a:off x="4828946" y="4824374"/>
            <a:ext cx="75895" cy="75895"/>
          </a:xfrm>
          <a:prstGeom prst="rect">
            <a:avLst/>
          </a:prstGeom>
        </p:spPr>
      </p:pic>
      <p:sp>
        <p:nvSpPr>
          <p:cNvPr id="40" name="Text 25"/>
          <p:cNvSpPr txBox="1"/>
          <p:nvPr/>
        </p:nvSpPr>
        <p:spPr>
          <a:xfrm>
            <a:off x="4828946" y="4957877"/>
            <a:ext cx="26106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"Description of Mortgage Pool", Offering Circulars</a:t>
            </a:r>
            <a:endParaRPr lang="en-US" sz="1200" dirty="0"/>
          </a:p>
        </p:txBody>
      </p:sp>
      <p:pic>
        <p:nvPicPr>
          <p:cNvPr id="41" name="Image 13" descr="preencoded.png">    </p:cNvPr>
          <p:cNvPicPr>
            <a:picLocks noChangeAspect="1"/>
          </p:cNvPicPr>
          <p:nvPr/>
        </p:nvPicPr>
        <p:blipFill>
          <a:blip r:embed="rId14">
            <a:alphaModFix amt="50000"/>
          </a:blip>
          <a:srcRect l="-1923" r="-1923" t="0" b="0"/>
          <a:stretch/>
        </p:blipFill>
        <p:spPr>
          <a:xfrm>
            <a:off x="7658100" y="3792931"/>
            <a:ext cx="123444" cy="190195"/>
          </a:xfrm>
          <a:prstGeom prst="rect">
            <a:avLst/>
          </a:prstGeom>
        </p:spPr>
      </p:pic>
      <p:sp>
        <p:nvSpPr>
          <p:cNvPr id="42" name="Shape 26"/>
          <p:cNvSpPr/>
          <p:nvPr/>
        </p:nvSpPr>
        <p:spPr>
          <a:xfrm>
            <a:off x="7915046" y="2243023"/>
            <a:ext cx="2857500" cy="3333902"/>
          </a:xfrm>
          <a:prstGeom prst="roundRect">
            <a:avLst>
              <a:gd name="adj" fmla="val 85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3" name="Shape 27"/>
          <p:cNvSpPr/>
          <p:nvPr/>
        </p:nvSpPr>
        <p:spPr>
          <a:xfrm>
            <a:off x="8076895" y="2443277"/>
            <a:ext cx="323698" cy="409651"/>
          </a:xfrm>
          <a:prstGeom prst="roundRect">
            <a:avLst>
              <a:gd name="adj" fmla="val 49850"/>
            </a:avLst>
          </a:prstGeom>
          <a:solidFill>
            <a:srgbClr val="C5A05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4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8153705" y="2550262"/>
            <a:ext cx="171907" cy="171907"/>
          </a:xfrm>
          <a:prstGeom prst="rect">
            <a:avLst/>
          </a:prstGeom>
        </p:spPr>
      </p:pic>
      <p:sp>
        <p:nvSpPr>
          <p:cNvPr id="45" name="Text 28"/>
          <p:cNvSpPr txBox="1"/>
          <p:nvPr/>
        </p:nvSpPr>
        <p:spPr>
          <a:xfrm>
            <a:off x="8076895" y="2948026"/>
            <a:ext cx="13267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 &amp; Select</a:t>
            </a:r>
            <a:endParaRPr lang="en-US" sz="1200" dirty="0"/>
          </a:p>
        </p:txBody>
      </p:sp>
      <p:sp>
        <p:nvSpPr>
          <p:cNvPr id="46" name="Text 29"/>
          <p:cNvSpPr txBox="1"/>
          <p:nvPr/>
        </p:nvSpPr>
        <p:spPr>
          <a:xfrm>
            <a:off x="8231429" y="3252521"/>
            <a:ext cx="24807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75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Sub-Question</a:t>
            </a:r>
            <a:endParaRPr lang="en-US" sz="800" dirty="0"/>
          </a:p>
        </p:txBody>
      </p:sp>
      <p:pic>
        <p:nvPicPr>
          <p:cNvPr id="47" name="Image 15" descr="preencoded.png">    </p:cNvPr>
          <p:cNvPicPr>
            <a:picLocks noChangeAspect="1"/>
          </p:cNvPicPr>
          <p:nvPr/>
        </p:nvPicPr>
        <p:blipFill>
          <a:blip r:embed="rId16"/>
          <a:srcRect l="-6627" r="-6627" t="0" b="0"/>
          <a:stretch/>
        </p:blipFill>
        <p:spPr>
          <a:xfrm>
            <a:off x="8076895" y="3271723"/>
            <a:ext cx="85954" cy="75895"/>
          </a:xfrm>
          <a:prstGeom prst="rect">
            <a:avLst/>
          </a:prstGeom>
        </p:spPr>
      </p:pic>
      <p:sp>
        <p:nvSpPr>
          <p:cNvPr id="48" name="Text 30"/>
          <p:cNvSpPr txBox="1"/>
          <p:nvPr/>
        </p:nvSpPr>
        <p:spPr>
          <a:xfrm>
            <a:off x="8076895" y="3386023"/>
            <a:ext cx="26106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"Which deals include third-party owned condo units?"</a:t>
            </a:r>
            <a:endParaRPr lang="en-US" sz="900" dirty="0"/>
          </a:p>
        </p:txBody>
      </p:sp>
      <p:sp>
        <p:nvSpPr>
          <p:cNvPr id="49" name="Text 31"/>
          <p:cNvSpPr txBox="1"/>
          <p:nvPr/>
        </p:nvSpPr>
        <p:spPr>
          <a:xfrm>
            <a:off x="8231429" y="3776472"/>
            <a:ext cx="24807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75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Keywords</a:t>
            </a:r>
            <a:endParaRPr lang="en-US" sz="800" dirty="0"/>
          </a:p>
        </p:txBody>
      </p:sp>
      <p:pic>
        <p:nvPicPr>
          <p:cNvPr id="50" name="Image 16" descr="preencoded.png">    </p:cNvPr>
          <p:cNvPicPr>
            <a:picLocks noChangeAspect="1"/>
          </p:cNvPicPr>
          <p:nvPr/>
        </p:nvPicPr>
        <p:blipFill>
          <a:blip r:embed="rId17"/>
          <a:srcRect l="-6627" r="-6627" t="0" b="0"/>
          <a:stretch/>
        </p:blipFill>
        <p:spPr>
          <a:xfrm>
            <a:off x="8076895" y="3795674"/>
            <a:ext cx="85954" cy="75895"/>
          </a:xfrm>
          <a:prstGeom prst="rect">
            <a:avLst/>
          </a:prstGeom>
        </p:spPr>
      </p:pic>
      <p:sp>
        <p:nvSpPr>
          <p:cNvPr id="51" name="Text 32"/>
          <p:cNvSpPr txBox="1"/>
          <p:nvPr/>
        </p:nvSpPr>
        <p:spPr>
          <a:xfrm>
            <a:off x="8076895" y="3929177"/>
            <a:ext cx="12316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"Condo-hotel"</a:t>
            </a:r>
            <a:endParaRPr lang="en-US" sz="1200" dirty="0"/>
          </a:p>
        </p:txBody>
      </p:sp>
      <p:sp>
        <p:nvSpPr>
          <p:cNvPr id="52" name="Text 33"/>
          <p:cNvSpPr txBox="1"/>
          <p:nvPr/>
        </p:nvSpPr>
        <p:spPr>
          <a:xfrm>
            <a:off x="9178747" y="3929177"/>
            <a:ext cx="543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"HOA"</a:t>
            </a:r>
            <a:endParaRPr lang="en-US" sz="1200" dirty="0"/>
          </a:p>
        </p:txBody>
      </p:sp>
      <p:sp>
        <p:nvSpPr>
          <p:cNvPr id="53" name="Text 34"/>
          <p:cNvSpPr txBox="1"/>
          <p:nvPr/>
        </p:nvSpPr>
        <p:spPr>
          <a:xfrm>
            <a:off x="8076895" y="4196182"/>
            <a:ext cx="16111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"Revenue sharing"</a:t>
            </a:r>
            <a:endParaRPr lang="en-US" sz="1200" dirty="0"/>
          </a:p>
        </p:txBody>
      </p:sp>
      <p:pic>
        <p:nvPicPr>
          <p:cNvPr id="54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-10" b="-10"/>
          <a:stretch/>
        </p:blipFill>
        <p:spPr>
          <a:xfrm>
            <a:off x="8076895" y="4824374"/>
            <a:ext cx="2533802" cy="590702"/>
          </a:xfrm>
          <a:prstGeom prst="rect">
            <a:avLst/>
          </a:prstGeom>
        </p:spPr>
      </p:pic>
      <p:sp>
        <p:nvSpPr>
          <p:cNvPr id="55" name="Text 35"/>
          <p:cNvSpPr txBox="1"/>
          <p:nvPr/>
        </p:nvSpPr>
        <p:spPr>
          <a:xfrm>
            <a:off x="8172907" y="4881982"/>
            <a:ext cx="24569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75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Answer</a:t>
            </a:r>
            <a:endParaRPr lang="en-US" sz="800" dirty="0"/>
          </a:p>
        </p:txBody>
      </p:sp>
      <p:sp>
        <p:nvSpPr>
          <p:cNvPr id="56" name="Text 36"/>
          <p:cNvSpPr txBox="1"/>
          <p:nvPr/>
        </p:nvSpPr>
        <p:spPr>
          <a:xfrm>
            <a:off x="8172907" y="5014570"/>
            <a:ext cx="24387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2-3 qualifying deals </a:t>
            </a:r>
            <a:pPr algn="l" indent="0" marL="0">
              <a:buNone/>
            </a:pPr>
            <a:r>
              <a:rPr lang="en-US" sz="900" b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 citation evidence</a:t>
            </a:r>
            <a:endParaRPr lang="en-US" sz="900" dirty="0"/>
          </a:p>
        </p:txBody>
      </p:sp>
      <p:pic>
        <p:nvPicPr>
          <p:cNvPr id="5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80998" y="2119579"/>
            <a:ext cx="267005" cy="267005"/>
          </a:xfrm>
          <a:prstGeom prst="rect">
            <a:avLst/>
          </a:prstGeom>
        </p:spPr>
      </p:pic>
      <p:sp>
        <p:nvSpPr>
          <p:cNvPr id="58" name="Text 37"/>
          <p:cNvSpPr/>
          <p:nvPr/>
        </p:nvSpPr>
        <p:spPr>
          <a:xfrm>
            <a:off x="1580998" y="2119579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B1E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E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pic>
        <p:nvPicPr>
          <p:cNvPr id="59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28946" y="2119579"/>
            <a:ext cx="267005" cy="267005"/>
          </a:xfrm>
          <a:prstGeom prst="rect">
            <a:avLst/>
          </a:prstGeom>
        </p:spPr>
      </p:pic>
      <p:sp>
        <p:nvSpPr>
          <p:cNvPr id="60" name="Text 38"/>
          <p:cNvSpPr/>
          <p:nvPr/>
        </p:nvSpPr>
        <p:spPr>
          <a:xfrm>
            <a:off x="4828946" y="2119579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B1E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E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pic>
        <p:nvPicPr>
          <p:cNvPr id="6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76895" y="2119579"/>
            <a:ext cx="267005" cy="267005"/>
          </a:xfrm>
          <a:prstGeom prst="rect">
            <a:avLst/>
          </a:prstGeom>
        </p:spPr>
      </p:pic>
      <p:sp>
        <p:nvSpPr>
          <p:cNvPr id="62" name="Text 39"/>
          <p:cNvSpPr/>
          <p:nvPr/>
        </p:nvSpPr>
        <p:spPr>
          <a:xfrm>
            <a:off x="8076895" y="2119579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B1E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E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63" name="Text 40"/>
          <p:cNvSpPr txBox="1"/>
          <p:nvPr/>
        </p:nvSpPr>
        <p:spPr>
          <a:xfrm>
            <a:off x="10299802" y="228600"/>
            <a:ext cx="14383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1300" dirty="0"/>
          </a:p>
        </p:txBody>
      </p:sp>
      <p:sp>
        <p:nvSpPr>
          <p:cNvPr id="64" name="Text 41"/>
          <p:cNvSpPr txBox="1"/>
          <p:nvPr/>
        </p:nvSpPr>
        <p:spPr>
          <a:xfrm>
            <a:off x="10299802" y="495605"/>
            <a:ext cx="1438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961949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0" y="952805"/>
            <a:ext cx="121916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81305" y="228600"/>
            <a:ext cx="4315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 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81305" y="495605"/>
            <a:ext cx="4886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56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M&amp;A Valuation Comp (3 Hops)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0376611" y="342900"/>
            <a:ext cx="14383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376611" y="647395"/>
            <a:ext cx="1438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13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925166" y="1266444"/>
            <a:ext cx="9144" cy="528614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81305" y="1266444"/>
            <a:ext cx="240761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Headline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81305" y="1533449"/>
            <a:ext cx="24076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Building Comparables from Scratch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381305" y="1800454"/>
            <a:ext cx="2391156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cannot search for an "average multiple" directly. The system must first identify the targets, retrieve their financials at deal time, and then compute the average.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81305" y="3438144"/>
            <a:ext cx="2314346" cy="1390802"/>
          </a:xfrm>
          <a:prstGeom prst="roundRect">
            <a:avLst>
              <a:gd name="adj" fmla="val 3603"/>
            </a:avLst>
          </a:prstGeom>
          <a:solidFill>
            <a:srgbClr val="1F2937">
              <a:alpha val="40000"/>
            </a:srgbClr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521" y="3600907"/>
            <a:ext cx="304495" cy="30449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66521" y="3600907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?</a:t>
            </a:r>
            <a:endParaRPr lang="en-US" sz="12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230" y="3600907"/>
            <a:ext cx="304495" cy="30449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86230" y="3600907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?</a:t>
            </a:r>
            <a:endParaRPr lang="en-US" sz="12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5026" y="3600907"/>
            <a:ext cx="304495" cy="30449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805026" y="3600907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?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04749" y="3981298"/>
            <a:ext cx="20674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 RAG fails to identify</a:t>
            </a:r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"Top 3 deals" dynamically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381305" y="5057546"/>
            <a:ext cx="2314346" cy="1257300"/>
          </a:xfrm>
          <a:prstGeom prst="roundRect">
            <a:avLst>
              <a:gd name="adj" fmla="val 4408"/>
            </a:avLst>
          </a:prstGeom>
          <a:solidFill>
            <a:srgbClr val="1E40AF">
              <a:alpha val="3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43154" y="5219395"/>
            <a:ext cx="20711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Query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543154" y="5524805"/>
            <a:ext cx="2067458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"What was the average EV/EBITDA multiple of the three largest SaaS acquisitions in North America last quarter?"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3238805" y="1314907"/>
            <a:ext cx="23509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Multi-Hop Execution Flow</a:t>
            </a:r>
            <a:endParaRPr lang="en-US" sz="12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2617" y="1266444"/>
            <a:ext cx="3219602" cy="32369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963863" y="1266444"/>
            <a:ext cx="2848356" cy="3246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Discovery → Retrieval → Calculation</a:t>
            </a:r>
            <a:endParaRPr lang="en-US" sz="12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rcRect l="-33" r="-33" t="0" b="0"/>
          <a:stretch/>
        </p:blipFill>
        <p:spPr>
          <a:xfrm>
            <a:off x="8716061" y="1343254"/>
            <a:ext cx="171907" cy="152705"/>
          </a:xfrm>
          <a:prstGeom prst="rect">
            <a:avLst/>
          </a:prstGeom>
        </p:spPr>
      </p:pic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398" b="-398"/>
          <a:stretch/>
        </p:blipFill>
        <p:spPr>
          <a:xfrm>
            <a:off x="5820156" y="1819656"/>
            <a:ext cx="3562502" cy="19202"/>
          </a:xfrm>
          <a:prstGeom prst="rect">
            <a:avLst/>
          </a:prstGeom>
        </p:spPr>
      </p:pic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37" b="-437"/>
          <a:stretch/>
        </p:blipFill>
        <p:spPr>
          <a:xfrm>
            <a:off x="8810244" y="4200754"/>
            <a:ext cx="443484" cy="19202"/>
          </a:xfrm>
          <a:prstGeom prst="rect">
            <a:avLst/>
          </a:prstGeom>
        </p:spPr>
      </p:pic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rcRect l="-424" r="-424" t="0" b="0"/>
          <a:stretch/>
        </p:blipFill>
        <p:spPr>
          <a:xfrm>
            <a:off x="10906049" y="4076395"/>
            <a:ext cx="19202" cy="809244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3390595" y="1819656"/>
            <a:ext cx="2286000" cy="1619402"/>
          </a:xfrm>
          <a:prstGeom prst="roundRect">
            <a:avLst>
              <a:gd name="adj" fmla="val 265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4" name="Shape 23"/>
          <p:cNvSpPr/>
          <p:nvPr/>
        </p:nvSpPr>
        <p:spPr>
          <a:xfrm>
            <a:off x="3552444" y="1981505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3638398" y="2066544"/>
            <a:ext cx="133502" cy="133502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4576572" y="1981505"/>
            <a:ext cx="10195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37" name="Text 25"/>
          <p:cNvSpPr txBox="1"/>
          <p:nvPr/>
        </p:nvSpPr>
        <p:spPr>
          <a:xfrm>
            <a:off x="3552444" y="2381098"/>
            <a:ext cx="203911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Sub-Q: "List top SaaS acquisitions in NA in Q3 2025"</a:t>
            </a:r>
            <a:endParaRPr lang="en-US" sz="1200" dirty="0"/>
          </a:p>
        </p:txBody>
      </p:sp>
      <p:sp>
        <p:nvSpPr>
          <p:cNvPr id="38" name="Shape 26"/>
          <p:cNvSpPr/>
          <p:nvPr/>
        </p:nvSpPr>
        <p:spPr>
          <a:xfrm>
            <a:off x="3552444" y="3086100"/>
            <a:ext cx="1962302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52444" y="3172054"/>
            <a:ext cx="381305" cy="209398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3552444" y="3172054"/>
            <a:ext cx="381305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Co. A</a:t>
            </a:r>
            <a:endParaRPr lang="en-US" sz="80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09644" y="3172054"/>
            <a:ext cx="381305" cy="209398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4009644" y="3172054"/>
            <a:ext cx="381305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Co. B</a:t>
            </a:r>
            <a:endParaRPr lang="en-US" sz="800" dirty="0"/>
          </a:p>
        </p:txBody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66844" y="3172054"/>
            <a:ext cx="381305" cy="209398"/>
          </a:xfrm>
          <a:prstGeom prst="rect">
            <a:avLst/>
          </a:prstGeom>
        </p:spPr>
      </p:pic>
      <p:sp>
        <p:nvSpPr>
          <p:cNvPr id="44" name="Text 29"/>
          <p:cNvSpPr/>
          <p:nvPr/>
        </p:nvSpPr>
        <p:spPr>
          <a:xfrm>
            <a:off x="4466844" y="3172054"/>
            <a:ext cx="381305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Co. C</a:t>
            </a:r>
            <a:endParaRPr lang="en-US" sz="800" dirty="0"/>
          </a:p>
        </p:txBody>
      </p:sp>
      <p:sp>
        <p:nvSpPr>
          <p:cNvPr id="45" name="Text 30"/>
          <p:cNvSpPr txBox="1"/>
          <p:nvPr/>
        </p:nvSpPr>
        <p:spPr>
          <a:xfrm>
            <a:off x="3552444" y="3414370"/>
            <a:ext cx="20409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Deal Database</a:t>
            </a:r>
            <a:endParaRPr lang="en-US" sz="1200" dirty="0"/>
          </a:p>
        </p:txBody>
      </p:sp>
      <p:pic>
        <p:nvPicPr>
          <p:cNvPr id="4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05556" y="1733702"/>
            <a:ext cx="228600" cy="228600"/>
          </a:xfrm>
          <a:prstGeom prst="rect">
            <a:avLst/>
          </a:prstGeom>
        </p:spPr>
      </p:pic>
      <p:sp>
        <p:nvSpPr>
          <p:cNvPr id="47" name="Text 31"/>
          <p:cNvSpPr/>
          <p:nvPr/>
        </p:nvSpPr>
        <p:spPr>
          <a:xfrm>
            <a:off x="3305556" y="1733702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B1E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900" dirty="0"/>
          </a:p>
        </p:txBody>
      </p:sp>
      <p:sp>
        <p:nvSpPr>
          <p:cNvPr id="48" name="Shape 32"/>
          <p:cNvSpPr/>
          <p:nvPr/>
        </p:nvSpPr>
        <p:spPr>
          <a:xfrm>
            <a:off x="9525305" y="1819656"/>
            <a:ext cx="2286000" cy="1619402"/>
          </a:xfrm>
          <a:prstGeom prst="roundRect">
            <a:avLst>
              <a:gd name="adj" fmla="val 265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9" name="Shape 33"/>
          <p:cNvSpPr/>
          <p:nvPr/>
        </p:nvSpPr>
        <p:spPr>
          <a:xfrm>
            <a:off x="9687154" y="1981505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50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1100" b="-1100"/>
          <a:stretch/>
        </p:blipFill>
        <p:spPr>
          <a:xfrm>
            <a:off x="9782251" y="2066544"/>
            <a:ext cx="114300" cy="133502"/>
          </a:xfrm>
          <a:prstGeom prst="rect">
            <a:avLst/>
          </a:prstGeom>
        </p:spPr>
      </p:pic>
      <p:sp>
        <p:nvSpPr>
          <p:cNvPr id="51" name="Text 34"/>
          <p:cNvSpPr txBox="1"/>
          <p:nvPr/>
        </p:nvSpPr>
        <p:spPr>
          <a:xfrm>
            <a:off x="10758830" y="1981505"/>
            <a:ext cx="972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Retrieval</a:t>
            </a:r>
            <a:endParaRPr lang="en-US" sz="1200" dirty="0"/>
          </a:p>
        </p:txBody>
      </p:sp>
      <p:sp>
        <p:nvSpPr>
          <p:cNvPr id="52" name="Text 35"/>
          <p:cNvSpPr txBox="1"/>
          <p:nvPr/>
        </p:nvSpPr>
        <p:spPr>
          <a:xfrm>
            <a:off x="9687154" y="2381098"/>
            <a:ext cx="20391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Sub-Q: "Get EV &amp; EBITDA for A, B, C at deal date"</a:t>
            </a:r>
            <a:endParaRPr lang="en-US" sz="1200" dirty="0"/>
          </a:p>
        </p:txBody>
      </p:sp>
      <p:sp>
        <p:nvSpPr>
          <p:cNvPr id="53" name="Shape 36"/>
          <p:cNvSpPr/>
          <p:nvPr/>
        </p:nvSpPr>
        <p:spPr>
          <a:xfrm>
            <a:off x="9687154" y="2876702"/>
            <a:ext cx="1962302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54" name="Text 37"/>
          <p:cNvSpPr txBox="1"/>
          <p:nvPr/>
        </p:nvSpPr>
        <p:spPr>
          <a:xfrm>
            <a:off x="9687154" y="2962656"/>
            <a:ext cx="20409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 A:</a:t>
            </a:r>
            <a:pPr algn="l" indent="0" marL="0">
              <a:buNone/>
            </a:pPr>
            <a:r>
              <a:rPr lang="en-US" sz="1200" dirty="0">
                <a:solidFill>
                  <a:srgbClr val="C5A05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14.5x</a:t>
            </a:r>
            <a:endParaRPr lang="en-US" sz="1200" dirty="0"/>
          </a:p>
        </p:txBody>
      </p:sp>
      <p:sp>
        <p:nvSpPr>
          <p:cNvPr id="55" name="Text 38"/>
          <p:cNvSpPr txBox="1"/>
          <p:nvPr/>
        </p:nvSpPr>
        <p:spPr>
          <a:xfrm>
            <a:off x="9687154" y="3267151"/>
            <a:ext cx="20409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 B:</a:t>
            </a:r>
            <a:pPr algn="l" indent="0" marL="0">
              <a:buNone/>
            </a:pPr>
            <a:r>
              <a:rPr lang="en-US" sz="1200" dirty="0">
                <a:solidFill>
                  <a:srgbClr val="C5A05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12.2x</a:t>
            </a:r>
            <a:endParaRPr lang="en-US" sz="1200" dirty="0"/>
          </a:p>
        </p:txBody>
      </p:sp>
      <p:sp>
        <p:nvSpPr>
          <p:cNvPr id="56" name="Text 39"/>
          <p:cNvSpPr txBox="1"/>
          <p:nvPr/>
        </p:nvSpPr>
        <p:spPr>
          <a:xfrm>
            <a:off x="9687154" y="3571646"/>
            <a:ext cx="20409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 C:</a:t>
            </a:r>
            <a:pPr algn="l" indent="0" marL="0">
              <a:buNone/>
            </a:pPr>
            <a:r>
              <a:rPr lang="en-US" sz="1200" dirty="0">
                <a:solidFill>
                  <a:srgbClr val="C5A05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15.8x</a:t>
            </a:r>
            <a:endParaRPr lang="en-US" sz="1200" dirty="0"/>
          </a:p>
        </p:txBody>
      </p:sp>
      <p:pic>
        <p:nvPicPr>
          <p:cNvPr id="5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39351" y="1733702"/>
            <a:ext cx="228600" cy="228600"/>
          </a:xfrm>
          <a:prstGeom prst="rect">
            <a:avLst/>
          </a:prstGeom>
        </p:spPr>
      </p:pic>
      <p:sp>
        <p:nvSpPr>
          <p:cNvPr id="58" name="Text 40"/>
          <p:cNvSpPr/>
          <p:nvPr/>
        </p:nvSpPr>
        <p:spPr>
          <a:xfrm>
            <a:off x="9439351" y="1733702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B1E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900" dirty="0"/>
          </a:p>
        </p:txBody>
      </p:sp>
      <p:sp>
        <p:nvSpPr>
          <p:cNvPr id="59" name="Shape 41"/>
          <p:cNvSpPr/>
          <p:nvPr/>
        </p:nvSpPr>
        <p:spPr>
          <a:xfrm>
            <a:off x="6439205" y="4200754"/>
            <a:ext cx="2229307" cy="1619402"/>
          </a:xfrm>
          <a:prstGeom prst="roundRect">
            <a:avLst>
              <a:gd name="adj" fmla="val 265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0" name="Shape 42"/>
          <p:cNvSpPr/>
          <p:nvPr/>
        </p:nvSpPr>
        <p:spPr>
          <a:xfrm>
            <a:off x="6601054" y="4362602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61" name="Image 16" descr="preencoded.png">    </p:cNvPr>
          <p:cNvPicPr>
            <a:picLocks noChangeAspect="1"/>
          </p:cNvPicPr>
          <p:nvPr/>
        </p:nvPicPr>
        <p:blipFill>
          <a:blip r:embed="rId17"/>
          <a:srcRect l="-2512" r="-2512" t="0" b="0"/>
          <a:stretch/>
        </p:blipFill>
        <p:spPr>
          <a:xfrm>
            <a:off x="6700723" y="4448556"/>
            <a:ext cx="105156" cy="133502"/>
          </a:xfrm>
          <a:prstGeom prst="rect">
            <a:avLst/>
          </a:prstGeom>
        </p:spPr>
      </p:pic>
      <p:sp>
        <p:nvSpPr>
          <p:cNvPr id="62" name="Text 43"/>
          <p:cNvSpPr txBox="1"/>
          <p:nvPr/>
        </p:nvSpPr>
        <p:spPr>
          <a:xfrm>
            <a:off x="7353605" y="4362602"/>
            <a:ext cx="12289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Calculation</a:t>
            </a:r>
            <a:endParaRPr lang="en-US" sz="1200" dirty="0"/>
          </a:p>
        </p:txBody>
      </p:sp>
      <p:sp>
        <p:nvSpPr>
          <p:cNvPr id="63" name="Text 44"/>
          <p:cNvSpPr txBox="1"/>
          <p:nvPr/>
        </p:nvSpPr>
        <p:spPr>
          <a:xfrm>
            <a:off x="6601054" y="4762195"/>
            <a:ext cx="19815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Sub-Q: "Calculate average multiple"</a:t>
            </a:r>
            <a:endParaRPr lang="en-US" sz="1200" dirty="0"/>
          </a:p>
        </p:txBody>
      </p:sp>
      <p:sp>
        <p:nvSpPr>
          <p:cNvPr id="64" name="Shape 45"/>
          <p:cNvSpPr/>
          <p:nvPr/>
        </p:nvSpPr>
        <p:spPr>
          <a:xfrm>
            <a:off x="6601054" y="5257800"/>
            <a:ext cx="19046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65" name="Text 46"/>
          <p:cNvSpPr txBox="1"/>
          <p:nvPr/>
        </p:nvSpPr>
        <p:spPr>
          <a:xfrm>
            <a:off x="6601054" y="5343754"/>
            <a:ext cx="19815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Computing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(14.5 + 12.2 + 15.8) / 3</a:t>
            </a:r>
            <a:endParaRPr lang="en-US" sz="1200" dirty="0"/>
          </a:p>
        </p:txBody>
      </p:sp>
      <p:pic>
        <p:nvPicPr>
          <p:cNvPr id="6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53251" y="4114800"/>
            <a:ext cx="228600" cy="228600"/>
          </a:xfrm>
          <a:prstGeom prst="rect">
            <a:avLst/>
          </a:prstGeom>
        </p:spPr>
      </p:pic>
      <p:sp>
        <p:nvSpPr>
          <p:cNvPr id="67" name="Text 47"/>
          <p:cNvSpPr/>
          <p:nvPr/>
        </p:nvSpPr>
        <p:spPr>
          <a:xfrm>
            <a:off x="6353251" y="4114800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B1E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900" dirty="0"/>
          </a:p>
        </p:txBody>
      </p:sp>
      <p:sp>
        <p:nvSpPr>
          <p:cNvPr id="68" name="Shape 48"/>
          <p:cNvSpPr/>
          <p:nvPr/>
        </p:nvSpPr>
        <p:spPr>
          <a:xfrm>
            <a:off x="9396374" y="4200754"/>
            <a:ext cx="2419502" cy="1809598"/>
          </a:xfrm>
          <a:prstGeom prst="roundRect">
            <a:avLst>
              <a:gd name="adj" fmla="val 2660"/>
            </a:avLst>
          </a:prstGeom>
          <a:solidFill>
            <a:srgbClr val="C5A059">
              <a:alpha val="10000"/>
            </a:srgbClr>
          </a:solidFill>
          <a:ln w="12700">
            <a:solidFill>
              <a:srgbClr val="C5A059"/>
            </a:solidFill>
            <a:prstDash val="solid"/>
          </a:ln>
        </p:spPr>
      </p:sp>
      <p:pic>
        <p:nvPicPr>
          <p:cNvPr id="69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-43" b="-43"/>
          <a:stretch/>
        </p:blipFill>
        <p:spPr>
          <a:xfrm>
            <a:off x="9644177" y="4438498"/>
            <a:ext cx="133502" cy="152705"/>
          </a:xfrm>
          <a:prstGeom prst="rect">
            <a:avLst/>
          </a:prstGeom>
        </p:spPr>
      </p:pic>
      <p:sp>
        <p:nvSpPr>
          <p:cNvPr id="70" name="Text 49"/>
          <p:cNvSpPr txBox="1"/>
          <p:nvPr/>
        </p:nvSpPr>
        <p:spPr>
          <a:xfrm>
            <a:off x="9920326" y="4401007"/>
            <a:ext cx="1334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Answer</a:t>
            </a:r>
            <a:endParaRPr lang="en-US" sz="1200" dirty="0"/>
          </a:p>
        </p:txBody>
      </p:sp>
      <p:sp>
        <p:nvSpPr>
          <p:cNvPr id="71" name="Shape 50"/>
          <p:cNvSpPr/>
          <p:nvPr/>
        </p:nvSpPr>
        <p:spPr>
          <a:xfrm>
            <a:off x="9577426" y="4762195"/>
            <a:ext cx="2057400" cy="304495"/>
          </a:xfrm>
          <a:prstGeom prst="roundRect">
            <a:avLst>
              <a:gd name="adj" fmla="val 3753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Text 51"/>
          <p:cNvSpPr txBox="1"/>
          <p:nvPr/>
        </p:nvSpPr>
        <p:spPr>
          <a:xfrm>
            <a:off x="9615830" y="4800600"/>
            <a:ext cx="8055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A:</a:t>
            </a:r>
            <a:endParaRPr lang="en-US" sz="1200" dirty="0"/>
          </a:p>
        </p:txBody>
      </p:sp>
      <p:sp>
        <p:nvSpPr>
          <p:cNvPr id="73" name="Text 52"/>
          <p:cNvSpPr txBox="1"/>
          <p:nvPr/>
        </p:nvSpPr>
        <p:spPr>
          <a:xfrm>
            <a:off x="11134649" y="4800600"/>
            <a:ext cx="543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14.5x</a:t>
            </a:r>
            <a:endParaRPr lang="en-US" sz="1200" dirty="0"/>
          </a:p>
        </p:txBody>
      </p:sp>
      <p:sp>
        <p:nvSpPr>
          <p:cNvPr id="74" name="Shape 53"/>
          <p:cNvSpPr/>
          <p:nvPr/>
        </p:nvSpPr>
        <p:spPr>
          <a:xfrm>
            <a:off x="9577426" y="5143500"/>
            <a:ext cx="2057400" cy="304495"/>
          </a:xfrm>
          <a:prstGeom prst="roundRect">
            <a:avLst>
              <a:gd name="adj" fmla="val 3753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Text 54"/>
          <p:cNvSpPr txBox="1"/>
          <p:nvPr/>
        </p:nvSpPr>
        <p:spPr>
          <a:xfrm>
            <a:off x="9615830" y="5181905"/>
            <a:ext cx="8165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B:</a:t>
            </a:r>
            <a:endParaRPr lang="en-US" sz="1200" dirty="0"/>
          </a:p>
        </p:txBody>
      </p:sp>
      <p:sp>
        <p:nvSpPr>
          <p:cNvPr id="76" name="Text 55"/>
          <p:cNvSpPr txBox="1"/>
          <p:nvPr/>
        </p:nvSpPr>
        <p:spPr>
          <a:xfrm>
            <a:off x="11134649" y="5181905"/>
            <a:ext cx="543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12.2x</a:t>
            </a:r>
            <a:endParaRPr lang="en-US" sz="1200" dirty="0"/>
          </a:p>
        </p:txBody>
      </p:sp>
      <p:sp>
        <p:nvSpPr>
          <p:cNvPr id="77" name="Shape 56"/>
          <p:cNvSpPr/>
          <p:nvPr/>
        </p:nvSpPr>
        <p:spPr>
          <a:xfrm>
            <a:off x="9577426" y="5524805"/>
            <a:ext cx="2057400" cy="304495"/>
          </a:xfrm>
          <a:prstGeom prst="roundRect">
            <a:avLst>
              <a:gd name="adj" fmla="val 3753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Text 57"/>
          <p:cNvSpPr txBox="1"/>
          <p:nvPr/>
        </p:nvSpPr>
        <p:spPr>
          <a:xfrm>
            <a:off x="9615830" y="5562295"/>
            <a:ext cx="8055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C:</a:t>
            </a:r>
            <a:endParaRPr lang="en-US" sz="1200" dirty="0"/>
          </a:p>
        </p:txBody>
      </p:sp>
      <p:sp>
        <p:nvSpPr>
          <p:cNvPr id="79" name="Text 58"/>
          <p:cNvSpPr txBox="1"/>
          <p:nvPr/>
        </p:nvSpPr>
        <p:spPr>
          <a:xfrm>
            <a:off x="11134649" y="5562295"/>
            <a:ext cx="543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15.8x</a:t>
            </a:r>
            <a:endParaRPr lang="en-US" sz="1200" dirty="0"/>
          </a:p>
        </p:txBody>
      </p:sp>
      <p:sp>
        <p:nvSpPr>
          <p:cNvPr id="80" name="Shape 59"/>
          <p:cNvSpPr/>
          <p:nvPr/>
        </p:nvSpPr>
        <p:spPr>
          <a:xfrm>
            <a:off x="9577426" y="5905195"/>
            <a:ext cx="20574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81" name="Text 60"/>
          <p:cNvSpPr txBox="1"/>
          <p:nvPr/>
        </p:nvSpPr>
        <p:spPr>
          <a:xfrm>
            <a:off x="9536278" y="5991149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2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Average EV/EBITDA</a:t>
            </a:r>
            <a:endParaRPr lang="en-US" sz="1200" dirty="0"/>
          </a:p>
        </p:txBody>
      </p:sp>
      <p:sp>
        <p:nvSpPr>
          <p:cNvPr id="82" name="Text 61"/>
          <p:cNvSpPr txBox="1"/>
          <p:nvPr/>
        </p:nvSpPr>
        <p:spPr>
          <a:xfrm>
            <a:off x="9536278" y="6258154"/>
            <a:ext cx="213969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5A05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14.2x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100035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0" y="991210"/>
            <a:ext cx="121916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81305" y="228600"/>
            <a:ext cx="6087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 2: Supply Chain Contagion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81305" y="495605"/>
            <a:ext cx="66586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56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Tracing Exposure Through the Value Chain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0265054" y="342900"/>
            <a:ext cx="15526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68" kern="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265054" y="647395"/>
            <a:ext cx="15526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14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162910" y="1228954"/>
            <a:ext cx="9144" cy="540044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81305" y="1228954"/>
            <a:ext cx="26554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81305" y="1533449"/>
            <a:ext cx="2628900" cy="991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Tracing downstream risk requires connecting entity relationships, geographic revenue data, and regulatory events.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3971" y="2676449"/>
            <a:ext cx="609905" cy="590702"/>
          </a:xfrm>
          <a:prstGeom prst="roundRect">
            <a:avLst>
              <a:gd name="adj" fmla="val 7739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3718" y="3305556"/>
            <a:ext cx="11384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Supply Chain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024482" y="2676449"/>
            <a:ext cx="590702" cy="590702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006194" y="3305556"/>
            <a:ext cx="715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Geo Rev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94030" y="3648456"/>
            <a:ext cx="590702" cy="590702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31266" y="4276649"/>
            <a:ext cx="10433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Regulations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024482" y="3648456"/>
            <a:ext cx="590702" cy="590702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848917" y="4276649"/>
            <a:ext cx="10442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Data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81305" y="4619549"/>
            <a:ext cx="2553005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47649" y="4704588"/>
            <a:ext cx="2162556" cy="4581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Multi-domain reasoning required 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81305" y="5352898"/>
            <a:ext cx="2553005" cy="1143000"/>
          </a:xfrm>
          <a:prstGeom prst="roundRect">
            <a:avLst>
              <a:gd name="adj" fmla="val 5333"/>
            </a:avLst>
          </a:prstGeom>
          <a:solidFill>
            <a:srgbClr val="1E40AF">
              <a:alpha val="3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04749" y="5477256"/>
            <a:ext cx="2397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Complex User Query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04749" y="5743346"/>
            <a:ext cx="238201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"Which of Tesla's battery suppliers has the highest revenue exposure to China, and how has their stock performed since US export controls were announced?"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3547872" y="1276502"/>
            <a:ext cx="19604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4-Hop Execution Path</a:t>
            </a:r>
            <a:endParaRPr lang="en-US" sz="12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9411" y="1228954"/>
            <a:ext cx="1895551" cy="32369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0233965" y="1228954"/>
            <a:ext cx="1580998" cy="3246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Chained Reasoning</a:t>
            </a:r>
            <a:endParaRPr lang="en-US" sz="12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7220" y="4733849"/>
            <a:ext cx="152705" cy="152705"/>
          </a:xfrm>
          <a:prstGeom prst="rect">
            <a:avLst/>
          </a:prstGeom>
        </p:spPr>
      </p:pic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80" b="-180"/>
          <a:stretch/>
        </p:blipFill>
        <p:spPr>
          <a:xfrm>
            <a:off x="10005365" y="1304849"/>
            <a:ext cx="190195" cy="152705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3547872" y="2072030"/>
            <a:ext cx="2000707" cy="1762049"/>
          </a:xfrm>
          <a:prstGeom prst="roundRect">
            <a:avLst>
              <a:gd name="adj" fmla="val 224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3652114" y="2176272"/>
            <a:ext cx="286207" cy="286207"/>
          </a:xfrm>
          <a:prstGeom prst="roundRect">
            <a:avLst>
              <a:gd name="adj" fmla="val 63898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rcRect l="-837" r="-837" t="0" b="0"/>
          <a:stretch/>
        </p:blipFill>
        <p:spPr>
          <a:xfrm>
            <a:off x="3718865" y="2253082"/>
            <a:ext cx="152705" cy="133502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4457700" y="2176272"/>
            <a:ext cx="1067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Entity Map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3652114" y="2538374"/>
            <a:ext cx="18626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Sub-Q: "Tesla's primary battery suppliers?"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3652114" y="3071470"/>
            <a:ext cx="17903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3794760" y="3119018"/>
            <a:ext cx="17245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CATL, Panasonic, LG</a:t>
            </a:r>
            <a:endParaRPr lang="en-US" sz="90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rcRect l="-2571" r="-2571" t="0" b="0"/>
          <a:stretch/>
        </p:blipFill>
        <p:spPr>
          <a:xfrm>
            <a:off x="3652114" y="3133649"/>
            <a:ext cx="105156" cy="11430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3652114" y="3271723"/>
            <a:ext cx="18626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Supply Chain DB</a:t>
            </a:r>
            <a:endParaRPr lang="en-US" sz="1200" dirty="0"/>
          </a:p>
        </p:txBody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403" b="-403"/>
          <a:stretch/>
        </p:blipFill>
        <p:spPr>
          <a:xfrm>
            <a:off x="5624474" y="2943454"/>
            <a:ext cx="4110228" cy="19202"/>
          </a:xfrm>
          <a:prstGeom prst="rect">
            <a:avLst/>
          </a:prstGeom>
        </p:spPr>
      </p:pic>
      <p:sp>
        <p:nvSpPr>
          <p:cNvPr id="42" name="Shape 33"/>
          <p:cNvSpPr/>
          <p:nvPr/>
        </p:nvSpPr>
        <p:spPr>
          <a:xfrm>
            <a:off x="9810598" y="2186330"/>
            <a:ext cx="2000707" cy="1533449"/>
          </a:xfrm>
          <a:prstGeom prst="roundRect">
            <a:avLst>
              <a:gd name="adj" fmla="val 296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9915754" y="2290572"/>
            <a:ext cx="286207" cy="286207"/>
          </a:xfrm>
          <a:prstGeom prst="roundRect">
            <a:avLst>
              <a:gd name="adj" fmla="val 63898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991649" y="2367382"/>
            <a:ext cx="133502" cy="133502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10863986" y="2290572"/>
            <a:ext cx="924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Filtering</a:t>
            </a:r>
            <a:endParaRPr lang="en-US" sz="1200" dirty="0"/>
          </a:p>
        </p:txBody>
      </p:sp>
      <p:sp>
        <p:nvSpPr>
          <p:cNvPr id="46" name="Text 36"/>
          <p:cNvSpPr txBox="1"/>
          <p:nvPr/>
        </p:nvSpPr>
        <p:spPr>
          <a:xfrm>
            <a:off x="9915754" y="2652674"/>
            <a:ext cx="18626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Sub-Q: "% Revenue from China for each?"</a:t>
            </a:r>
            <a:endParaRPr lang="en-US" sz="1200" dirty="0"/>
          </a:p>
        </p:txBody>
      </p:sp>
      <p:sp>
        <p:nvSpPr>
          <p:cNvPr id="47" name="Shape 37"/>
          <p:cNvSpPr/>
          <p:nvPr/>
        </p:nvSpPr>
        <p:spPr>
          <a:xfrm>
            <a:off x="9915754" y="3185770"/>
            <a:ext cx="17903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48" name="Text 38"/>
          <p:cNvSpPr txBox="1"/>
          <p:nvPr/>
        </p:nvSpPr>
        <p:spPr>
          <a:xfrm>
            <a:off x="10058400" y="3233318"/>
            <a:ext cx="17245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CATL (Highest)</a:t>
            </a:r>
            <a:endParaRPr lang="en-US" sz="900" dirty="0"/>
          </a:p>
        </p:txBody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rcRect l="-2571" r="-2571" t="0" b="0"/>
          <a:stretch/>
        </p:blipFill>
        <p:spPr>
          <a:xfrm>
            <a:off x="9915754" y="3247949"/>
            <a:ext cx="105156" cy="114300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9915754" y="3386023"/>
            <a:ext cx="20839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Annual Reports</a:t>
            </a:r>
            <a:endParaRPr lang="en-US" sz="1200" dirty="0"/>
          </a:p>
        </p:txBody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0"/>
          <a:srcRect l="-384" r="-384" t="0" b="0"/>
          <a:stretch/>
        </p:blipFill>
        <p:spPr>
          <a:xfrm>
            <a:off x="9267444" y="2619756"/>
            <a:ext cx="19202" cy="476402"/>
          </a:xfrm>
          <a:prstGeom prst="rect">
            <a:avLst/>
          </a:prstGeom>
        </p:spPr>
      </p:pic>
      <p:pic>
        <p:nvPicPr>
          <p:cNvPr id="52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320" b="-320"/>
          <a:stretch/>
        </p:blipFill>
        <p:spPr>
          <a:xfrm>
            <a:off x="9001354" y="3095244"/>
            <a:ext cx="286207" cy="19202"/>
          </a:xfrm>
          <a:prstGeom prst="rect">
            <a:avLst/>
          </a:prstGeom>
        </p:spPr>
      </p:pic>
      <p:sp>
        <p:nvSpPr>
          <p:cNvPr id="53" name="Shape 40"/>
          <p:cNvSpPr/>
          <p:nvPr/>
        </p:nvSpPr>
        <p:spPr>
          <a:xfrm>
            <a:off x="3547872" y="4300423"/>
            <a:ext cx="2000707" cy="1762049"/>
          </a:xfrm>
          <a:prstGeom prst="roundRect">
            <a:avLst>
              <a:gd name="adj" fmla="val 224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4" name="Shape 41"/>
          <p:cNvSpPr/>
          <p:nvPr/>
        </p:nvSpPr>
        <p:spPr>
          <a:xfrm>
            <a:off x="3652114" y="4405579"/>
            <a:ext cx="286207" cy="286207"/>
          </a:xfrm>
          <a:prstGeom prst="roundRect">
            <a:avLst>
              <a:gd name="adj" fmla="val 63898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55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3728923" y="4481474"/>
            <a:ext cx="133502" cy="133502"/>
          </a:xfrm>
          <a:prstGeom prst="rect">
            <a:avLst/>
          </a:prstGeom>
        </p:spPr>
      </p:pic>
      <p:sp>
        <p:nvSpPr>
          <p:cNvPr id="56" name="Text 42"/>
          <p:cNvSpPr txBox="1"/>
          <p:nvPr/>
        </p:nvSpPr>
        <p:spPr>
          <a:xfrm>
            <a:off x="4140403" y="4405579"/>
            <a:ext cx="1381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 Extract</a:t>
            </a:r>
            <a:endParaRPr lang="en-US" sz="1200" dirty="0"/>
          </a:p>
        </p:txBody>
      </p:sp>
      <p:sp>
        <p:nvSpPr>
          <p:cNvPr id="57" name="Text 43"/>
          <p:cNvSpPr txBox="1"/>
          <p:nvPr/>
        </p:nvSpPr>
        <p:spPr>
          <a:xfrm>
            <a:off x="3652114" y="4767682"/>
            <a:ext cx="18626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Sub-Q: "Date of latest US export controls?"</a:t>
            </a:r>
            <a:endParaRPr lang="en-US" sz="1200" dirty="0"/>
          </a:p>
        </p:txBody>
      </p:sp>
      <p:sp>
        <p:nvSpPr>
          <p:cNvPr id="58" name="Shape 44"/>
          <p:cNvSpPr/>
          <p:nvPr/>
        </p:nvSpPr>
        <p:spPr>
          <a:xfrm>
            <a:off x="3652114" y="5300777"/>
            <a:ext cx="17903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59" name="Text 45"/>
          <p:cNvSpPr txBox="1"/>
          <p:nvPr/>
        </p:nvSpPr>
        <p:spPr>
          <a:xfrm>
            <a:off x="3794760" y="5348326"/>
            <a:ext cx="17245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Oct 17, 2023</a:t>
            </a:r>
            <a:endParaRPr lang="en-US" sz="900" dirty="0"/>
          </a:p>
        </p:txBody>
      </p:sp>
      <p:pic>
        <p:nvPicPr>
          <p:cNvPr id="60" name="Image 12" descr="preencoded.png">    </p:cNvPr>
          <p:cNvPicPr>
            <a:picLocks noChangeAspect="1"/>
          </p:cNvPicPr>
          <p:nvPr/>
        </p:nvPicPr>
        <p:blipFill>
          <a:blip r:embed="rId13"/>
          <a:srcRect l="-2571" r="-2571" t="0" b="0"/>
          <a:stretch/>
        </p:blipFill>
        <p:spPr>
          <a:xfrm>
            <a:off x="3652114" y="5362956"/>
            <a:ext cx="105156" cy="114300"/>
          </a:xfrm>
          <a:prstGeom prst="rect">
            <a:avLst/>
          </a:prstGeom>
        </p:spPr>
      </p:pic>
      <p:sp>
        <p:nvSpPr>
          <p:cNvPr id="61" name="Text 46"/>
          <p:cNvSpPr txBox="1"/>
          <p:nvPr/>
        </p:nvSpPr>
        <p:spPr>
          <a:xfrm>
            <a:off x="3652114" y="5501030"/>
            <a:ext cx="18626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Regulatory News</a:t>
            </a:r>
            <a:endParaRPr lang="en-US" sz="1200" dirty="0"/>
          </a:p>
        </p:txBody>
      </p:sp>
      <p:pic>
        <p:nvPicPr>
          <p:cNvPr id="62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405" b="-405"/>
          <a:stretch/>
        </p:blipFill>
        <p:spPr>
          <a:xfrm>
            <a:off x="5776265" y="5171846"/>
            <a:ext cx="3862426" cy="19202"/>
          </a:xfrm>
          <a:prstGeom prst="rect">
            <a:avLst/>
          </a:prstGeom>
        </p:spPr>
      </p:pic>
      <p:sp>
        <p:nvSpPr>
          <p:cNvPr id="63" name="Shape 47"/>
          <p:cNvSpPr/>
          <p:nvPr/>
        </p:nvSpPr>
        <p:spPr>
          <a:xfrm>
            <a:off x="9715500" y="4138574"/>
            <a:ext cx="2095805" cy="2085746"/>
          </a:xfrm>
          <a:prstGeom prst="roundRect">
            <a:avLst>
              <a:gd name="adj" fmla="val 2002"/>
            </a:avLst>
          </a:prstGeom>
          <a:solidFill>
            <a:srgbClr val="C5A059">
              <a:alpha val="10000"/>
            </a:srgbClr>
          </a:solidFill>
          <a:ln w="12700">
            <a:solidFill>
              <a:srgbClr val="C5A059"/>
            </a:solidFill>
            <a:prstDash val="solid"/>
          </a:ln>
        </p:spPr>
      </p:sp>
      <p:pic>
        <p:nvPicPr>
          <p:cNvPr id="64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9896551" y="4319626"/>
            <a:ext cx="114300" cy="114300"/>
          </a:xfrm>
          <a:prstGeom prst="rect">
            <a:avLst/>
          </a:prstGeom>
        </p:spPr>
      </p:pic>
      <p:sp>
        <p:nvSpPr>
          <p:cNvPr id="65" name="Text 48"/>
          <p:cNvSpPr txBox="1"/>
          <p:nvPr/>
        </p:nvSpPr>
        <p:spPr>
          <a:xfrm>
            <a:off x="10144354" y="4300423"/>
            <a:ext cx="14008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Hop 4: Market Data</a:t>
            </a:r>
            <a:endParaRPr lang="en-US" sz="900" dirty="0"/>
          </a:p>
        </p:txBody>
      </p:sp>
      <p:sp>
        <p:nvSpPr>
          <p:cNvPr id="66" name="Text 49"/>
          <p:cNvSpPr txBox="1"/>
          <p:nvPr/>
        </p:nvSpPr>
        <p:spPr>
          <a:xfrm>
            <a:off x="9838944" y="4567428"/>
            <a:ext cx="6236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Target:</a:t>
            </a:r>
            <a:endParaRPr lang="en-US" sz="1200" dirty="0"/>
          </a:p>
        </p:txBody>
      </p:sp>
      <p:sp>
        <p:nvSpPr>
          <p:cNvPr id="67" name="Text 50"/>
          <p:cNvSpPr txBox="1"/>
          <p:nvPr/>
        </p:nvSpPr>
        <p:spPr>
          <a:xfrm>
            <a:off x="11300155" y="4567428"/>
            <a:ext cx="467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CATL</a:t>
            </a:r>
            <a:endParaRPr lang="en-US" sz="1200" dirty="0"/>
          </a:p>
        </p:txBody>
      </p:sp>
      <p:sp>
        <p:nvSpPr>
          <p:cNvPr id="68" name="Text 51"/>
          <p:cNvSpPr txBox="1"/>
          <p:nvPr/>
        </p:nvSpPr>
        <p:spPr>
          <a:xfrm>
            <a:off x="9838944" y="4833518"/>
            <a:ext cx="9637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Date:</a:t>
            </a:r>
            <a:endParaRPr lang="en-US" sz="1200" dirty="0"/>
          </a:p>
        </p:txBody>
      </p:sp>
      <p:sp>
        <p:nvSpPr>
          <p:cNvPr id="69" name="Text 52"/>
          <p:cNvSpPr txBox="1"/>
          <p:nvPr/>
        </p:nvSpPr>
        <p:spPr>
          <a:xfrm>
            <a:off x="10801807" y="4833518"/>
            <a:ext cx="10543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Oct 17, 2023</a:t>
            </a:r>
            <a:endParaRPr lang="en-US" sz="1200" dirty="0"/>
          </a:p>
        </p:txBody>
      </p:sp>
      <p:sp>
        <p:nvSpPr>
          <p:cNvPr id="70" name="Shape 53"/>
          <p:cNvSpPr/>
          <p:nvPr/>
        </p:nvSpPr>
        <p:spPr>
          <a:xfrm>
            <a:off x="9838944" y="5100523"/>
            <a:ext cx="1848002" cy="9144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</p:sp>
      <p:sp>
        <p:nvSpPr>
          <p:cNvPr id="71" name="Text 54"/>
          <p:cNvSpPr txBox="1"/>
          <p:nvPr/>
        </p:nvSpPr>
        <p:spPr>
          <a:xfrm>
            <a:off x="9802368" y="5148072"/>
            <a:ext cx="19220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 since Event</a:t>
            </a:r>
            <a:endParaRPr lang="en-US" sz="1200" dirty="0"/>
          </a:p>
        </p:txBody>
      </p:sp>
      <p:sp>
        <p:nvSpPr>
          <p:cNvPr id="72" name="Text 55"/>
          <p:cNvSpPr txBox="1"/>
          <p:nvPr/>
        </p:nvSpPr>
        <p:spPr>
          <a:xfrm>
            <a:off x="10420502" y="5643677"/>
            <a:ext cx="1343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-14.2% </a:t>
            </a:r>
            <a:endParaRPr lang="en-US" sz="1200" dirty="0"/>
          </a:p>
        </p:txBody>
      </p:sp>
      <p:pic>
        <p:nvPicPr>
          <p:cNvPr id="73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100" b="-100"/>
          <a:stretch/>
        </p:blipFill>
        <p:spPr>
          <a:xfrm>
            <a:off x="10992002" y="5672023"/>
            <a:ext cx="114300" cy="152705"/>
          </a:xfrm>
          <a:prstGeom prst="rect">
            <a:avLst/>
          </a:prstGeom>
        </p:spPr>
      </p:pic>
      <p:sp>
        <p:nvSpPr>
          <p:cNvPr id="74" name="Text 56"/>
          <p:cNvSpPr txBox="1"/>
          <p:nvPr/>
        </p:nvSpPr>
        <p:spPr>
          <a:xfrm>
            <a:off x="9765792" y="5872277"/>
            <a:ext cx="19943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Underperformed Sector</a:t>
            </a:r>
            <a:endParaRPr lang="en-US" sz="1200" dirty="0"/>
          </a:p>
        </p:txBody>
      </p:sp>
      <p:pic>
        <p:nvPicPr>
          <p:cNvPr id="7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61918" y="1986077"/>
            <a:ext cx="228600" cy="228600"/>
          </a:xfrm>
          <a:prstGeom prst="rect">
            <a:avLst/>
          </a:prstGeom>
        </p:spPr>
      </p:pic>
      <p:sp>
        <p:nvSpPr>
          <p:cNvPr id="76" name="Text 57"/>
          <p:cNvSpPr/>
          <p:nvPr/>
        </p:nvSpPr>
        <p:spPr>
          <a:xfrm>
            <a:off x="3461918" y="1986077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B1E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900" dirty="0"/>
          </a:p>
        </p:txBody>
      </p:sp>
      <p:pic>
        <p:nvPicPr>
          <p:cNvPr id="7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724644" y="2100377"/>
            <a:ext cx="228600" cy="228600"/>
          </a:xfrm>
          <a:prstGeom prst="rect">
            <a:avLst/>
          </a:prstGeom>
        </p:spPr>
      </p:pic>
      <p:sp>
        <p:nvSpPr>
          <p:cNvPr id="78" name="Text 58"/>
          <p:cNvSpPr/>
          <p:nvPr/>
        </p:nvSpPr>
        <p:spPr>
          <a:xfrm>
            <a:off x="9724644" y="2100377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B1E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900" dirty="0"/>
          </a:p>
        </p:txBody>
      </p:sp>
      <p:pic>
        <p:nvPicPr>
          <p:cNvPr id="7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61918" y="4214470"/>
            <a:ext cx="228600" cy="228600"/>
          </a:xfrm>
          <a:prstGeom prst="rect">
            <a:avLst/>
          </a:prstGeom>
        </p:spPr>
      </p:pic>
      <p:sp>
        <p:nvSpPr>
          <p:cNvPr id="80" name="Text 59"/>
          <p:cNvSpPr/>
          <p:nvPr/>
        </p:nvSpPr>
        <p:spPr>
          <a:xfrm>
            <a:off x="3461918" y="4214470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B1E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6467551"/>
            <a:ext cx="11277295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0"/>
            <a:ext cx="12191695" cy="88605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0" y="876910"/>
            <a:ext cx="121916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81305" y="228600"/>
            <a:ext cx="38011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 3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381305" y="418795"/>
            <a:ext cx="43534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56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Portfolio Contagion Check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10376611" y="304495"/>
            <a:ext cx="14383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376611" y="571500"/>
            <a:ext cx="1438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15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82112" y="1037844"/>
            <a:ext cx="9144" cy="5667451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1305" y="1037844"/>
            <a:ext cx="275417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Hidden Risk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81305" y="1304849"/>
            <a:ext cx="272491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Bankruptcy contagion is often obscured by complex corporate structures. A subsidiary fails, but the exposure lies in the parent company's debt held by your funds.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81305" y="2905049"/>
            <a:ext cx="2648102" cy="1647749"/>
          </a:xfrm>
          <a:prstGeom prst="roundRect">
            <a:avLst>
              <a:gd name="adj" fmla="val 2566"/>
            </a:avLst>
          </a:prstGeom>
          <a:solidFill>
            <a:srgbClr val="111827">
              <a:alpha val="40000"/>
            </a:srgbClr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" y="2991002"/>
            <a:ext cx="2495398" cy="32369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5371" y="2991002"/>
            <a:ext cx="2496312" cy="3246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9CA3A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Parent Corp (Energy Group Y)</a:t>
            </a:r>
            <a:endParaRPr lang="en-US" sz="12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876" b="-1876"/>
          <a:stretch/>
        </p:blipFill>
        <p:spPr>
          <a:xfrm>
            <a:off x="1696212" y="3353105"/>
            <a:ext cx="9144" cy="75895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-2061" r="-2061" t="0" b="0"/>
          <a:stretch/>
        </p:blipFill>
        <p:spPr>
          <a:xfrm>
            <a:off x="1320394" y="3429000"/>
            <a:ext cx="761695" cy="9144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2499" b="-2499"/>
          <a:stretch/>
        </p:blipFill>
        <p:spPr>
          <a:xfrm>
            <a:off x="1399032" y="3438144"/>
            <a:ext cx="9144" cy="57607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7689" y="3495751"/>
            <a:ext cx="476402" cy="514807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167689" y="3495751"/>
            <a:ext cx="476402" cy="514807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4B55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 A</a:t>
            </a:r>
            <a:endParaRPr lang="en-US" sz="12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2499" b="-2499"/>
          <a:stretch/>
        </p:blipFill>
        <p:spPr>
          <a:xfrm>
            <a:off x="1932127" y="3438144"/>
            <a:ext cx="9144" cy="57607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34594" y="4591202"/>
            <a:ext cx="24716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User doesn't know the Parent's name </a:t>
            </a:r>
            <a:endParaRPr lang="en-US" sz="1200" dirty="0"/>
          </a:p>
        </p:txBody>
      </p:sp>
      <p:sp>
        <p:nvSpPr>
          <p:cNvPr id="25" name="Shape 16"/>
          <p:cNvSpPr/>
          <p:nvPr/>
        </p:nvSpPr>
        <p:spPr>
          <a:xfrm>
            <a:off x="381305" y="5162702"/>
            <a:ext cx="2648102" cy="1276502"/>
          </a:xfrm>
          <a:prstGeom prst="roundRect">
            <a:avLst>
              <a:gd name="adj" fmla="val 4277"/>
            </a:avLst>
          </a:prstGeom>
          <a:solidFill>
            <a:srgbClr val="1E40AF">
              <a:alpha val="3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17"/>
          <p:cNvSpPr txBox="1"/>
          <p:nvPr/>
        </p:nvSpPr>
        <p:spPr>
          <a:xfrm>
            <a:off x="466344" y="5248656"/>
            <a:ext cx="25758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Complex User Query</a:t>
            </a:r>
            <a:endParaRPr lang="en-US" sz="1200" dirty="0"/>
          </a:p>
        </p:txBody>
      </p:sp>
      <p:sp>
        <p:nvSpPr>
          <p:cNvPr id="27" name="Text 18"/>
          <p:cNvSpPr txBox="1"/>
          <p:nvPr/>
        </p:nvSpPr>
        <p:spPr>
          <a:xfrm>
            <a:off x="466344" y="5514746"/>
            <a:ext cx="255300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"Identify all mutual funds in our portfolio holding bonds from the parent company of the utility that filed Chapter 11 in Texas last week."</a:t>
            </a:r>
            <a:endParaRPr lang="en-US" sz="1200" dirty="0"/>
          </a:p>
        </p:txBody>
      </p:sp>
      <p:sp>
        <p:nvSpPr>
          <p:cNvPr id="28" name="Text 19"/>
          <p:cNvSpPr txBox="1"/>
          <p:nvPr/>
        </p:nvSpPr>
        <p:spPr>
          <a:xfrm>
            <a:off x="3412541" y="1086307"/>
            <a:ext cx="290962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Traversing the Corporate Hierarchy</a:t>
            </a:r>
            <a:endParaRPr lang="en-US" sz="10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89313" y="1037844"/>
            <a:ext cx="2229307" cy="286207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9903866" y="1037844"/>
            <a:ext cx="1914754" cy="286207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3-Hop Contagion Check</a:t>
            </a:r>
            <a:endParaRPr lang="en-US" sz="12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04165" y="4619549"/>
            <a:ext cx="152705" cy="152705"/>
          </a:xfrm>
          <a:prstGeom prst="rect">
            <a:avLst/>
          </a:prstGeom>
        </p:spPr>
      </p:pic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80" b="-180"/>
          <a:stretch/>
        </p:blipFill>
        <p:spPr>
          <a:xfrm>
            <a:off x="9675266" y="1095451"/>
            <a:ext cx="190195" cy="152705"/>
          </a:xfrm>
          <a:prstGeom prst="rect">
            <a:avLst/>
          </a:prstGeom>
        </p:spPr>
      </p:pic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38605" y="3495751"/>
            <a:ext cx="599846" cy="972007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1638605" y="3495751"/>
            <a:ext cx="600761" cy="972007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F44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A5A5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 B (Ch. 11)</a:t>
            </a:r>
            <a:endParaRPr lang="en-US" sz="1200" dirty="0"/>
          </a:p>
        </p:txBody>
      </p:sp>
      <p:sp>
        <p:nvSpPr>
          <p:cNvPr id="35" name="Shape 22"/>
          <p:cNvSpPr/>
          <p:nvPr/>
        </p:nvSpPr>
        <p:spPr>
          <a:xfrm>
            <a:off x="3412541" y="2100377"/>
            <a:ext cx="1904695" cy="1914754"/>
          </a:xfrm>
          <a:prstGeom prst="roundRect">
            <a:avLst>
              <a:gd name="adj" fmla="val 192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6" name="Shape 23"/>
          <p:cNvSpPr/>
          <p:nvPr/>
        </p:nvSpPr>
        <p:spPr>
          <a:xfrm>
            <a:off x="3517697" y="2204618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3593592" y="2281428"/>
            <a:ext cx="114300" cy="114300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4123944" y="2204618"/>
            <a:ext cx="1172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Event/News</a:t>
            </a:r>
            <a:endParaRPr lang="en-US" sz="1200" dirty="0"/>
          </a:p>
        </p:txBody>
      </p:sp>
      <p:sp>
        <p:nvSpPr>
          <p:cNvPr id="39" name="Text 25"/>
          <p:cNvSpPr txBox="1"/>
          <p:nvPr/>
        </p:nvSpPr>
        <p:spPr>
          <a:xfrm>
            <a:off x="3517697" y="2529230"/>
            <a:ext cx="176387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Sub-Q: "Which utility filed Ch.11 in Texas last week?"</a:t>
            </a:r>
            <a:endParaRPr lang="en-US" sz="1200" dirty="0"/>
          </a:p>
        </p:txBody>
      </p:sp>
      <p:sp>
        <p:nvSpPr>
          <p:cNvPr id="40" name="Shape 26"/>
          <p:cNvSpPr/>
          <p:nvPr/>
        </p:nvSpPr>
        <p:spPr>
          <a:xfrm>
            <a:off x="3517697" y="3176626"/>
            <a:ext cx="1695298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41" name="Text 27"/>
          <p:cNvSpPr txBox="1"/>
          <p:nvPr/>
        </p:nvSpPr>
        <p:spPr>
          <a:xfrm>
            <a:off x="3689604" y="322417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Utility Co. X</a:t>
            </a:r>
            <a:endParaRPr lang="en-US" sz="1200" dirty="0"/>
          </a:p>
        </p:txBody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43" b="-43"/>
          <a:stretch/>
        </p:blipFill>
        <p:spPr>
          <a:xfrm>
            <a:off x="3517697" y="3252521"/>
            <a:ext cx="133502" cy="152705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3517697" y="3452774"/>
            <a:ext cx="1763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News/Legal Filings</a:t>
            </a:r>
            <a:endParaRPr lang="en-US" sz="1200" dirty="0"/>
          </a:p>
        </p:txBody>
      </p:sp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404" b="-404"/>
          <a:stretch/>
        </p:blipFill>
        <p:spPr>
          <a:xfrm>
            <a:off x="5394046" y="3047695"/>
            <a:ext cx="4435754" cy="19202"/>
          </a:xfrm>
          <a:prstGeom prst="rect">
            <a:avLst/>
          </a:prstGeom>
        </p:spPr>
      </p:pic>
      <p:sp>
        <p:nvSpPr>
          <p:cNvPr id="45" name="Shape 29"/>
          <p:cNvSpPr/>
          <p:nvPr/>
        </p:nvSpPr>
        <p:spPr>
          <a:xfrm>
            <a:off x="9905695" y="2100377"/>
            <a:ext cx="1904695" cy="1914754"/>
          </a:xfrm>
          <a:prstGeom prst="roundRect">
            <a:avLst>
              <a:gd name="adj" fmla="val 192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6" name="Shape 30"/>
          <p:cNvSpPr/>
          <p:nvPr/>
        </p:nvSpPr>
        <p:spPr>
          <a:xfrm>
            <a:off x="10010851" y="2204618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47" name="Image 14" descr="preencoded.png">    </p:cNvPr>
          <p:cNvPicPr>
            <a:picLocks noChangeAspect="1"/>
          </p:cNvPicPr>
          <p:nvPr/>
        </p:nvPicPr>
        <p:blipFill>
          <a:blip r:embed="rId15"/>
          <a:srcRect l="-1911" r="-1911" t="0" b="0"/>
          <a:stretch/>
        </p:blipFill>
        <p:spPr>
          <a:xfrm>
            <a:off x="10077602" y="2281428"/>
            <a:ext cx="133502" cy="114300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10744200" y="2204618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Hierarchy</a:t>
            </a:r>
            <a:endParaRPr lang="en-US" sz="1200" dirty="0"/>
          </a:p>
        </p:txBody>
      </p:sp>
      <p:sp>
        <p:nvSpPr>
          <p:cNvPr id="49" name="Text 32"/>
          <p:cNvSpPr txBox="1"/>
          <p:nvPr/>
        </p:nvSpPr>
        <p:spPr>
          <a:xfrm>
            <a:off x="10010851" y="2529230"/>
            <a:ext cx="176387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Sub-Q: "Who is the parent company of Utility Co. X?"</a:t>
            </a:r>
            <a:endParaRPr lang="en-US" sz="1200" dirty="0"/>
          </a:p>
        </p:txBody>
      </p:sp>
      <p:sp>
        <p:nvSpPr>
          <p:cNvPr id="50" name="Shape 33"/>
          <p:cNvSpPr/>
          <p:nvPr/>
        </p:nvSpPr>
        <p:spPr>
          <a:xfrm>
            <a:off x="10010851" y="3176626"/>
            <a:ext cx="1695298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51" name="Text 34"/>
          <p:cNvSpPr txBox="1"/>
          <p:nvPr/>
        </p:nvSpPr>
        <p:spPr>
          <a:xfrm>
            <a:off x="10163556" y="3224174"/>
            <a:ext cx="1619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Energy Group Y</a:t>
            </a:r>
            <a:endParaRPr lang="en-US" sz="1200" dirty="0"/>
          </a:p>
        </p:txBody>
      </p:sp>
      <p:pic>
        <p:nvPicPr>
          <p:cNvPr id="52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100" b="-100"/>
          <a:stretch/>
        </p:blipFill>
        <p:spPr>
          <a:xfrm>
            <a:off x="10010851" y="3252521"/>
            <a:ext cx="114300" cy="152705"/>
          </a:xfrm>
          <a:prstGeom prst="rect">
            <a:avLst/>
          </a:prstGeom>
        </p:spPr>
      </p:pic>
      <p:sp>
        <p:nvSpPr>
          <p:cNvPr id="53" name="Text 35"/>
          <p:cNvSpPr txBox="1"/>
          <p:nvPr/>
        </p:nvSpPr>
        <p:spPr>
          <a:xfrm>
            <a:off x="10010851" y="3452774"/>
            <a:ext cx="1763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Capital IQ / 10-K</a:t>
            </a:r>
            <a:endParaRPr lang="en-US" sz="1200" dirty="0"/>
          </a:p>
        </p:txBody>
      </p:sp>
      <p:pic>
        <p:nvPicPr>
          <p:cNvPr id="54" name="Image 16" descr="preencoded.png">    </p:cNvPr>
          <p:cNvPicPr>
            <a:picLocks noChangeAspect="1"/>
          </p:cNvPicPr>
          <p:nvPr/>
        </p:nvPicPr>
        <p:blipFill>
          <a:blip r:embed="rId17"/>
          <a:srcRect l="-320" r="-320" t="0" b="0"/>
          <a:stretch/>
        </p:blipFill>
        <p:spPr>
          <a:xfrm>
            <a:off x="6086246" y="3573475"/>
            <a:ext cx="19202" cy="286207"/>
          </a:xfrm>
          <a:prstGeom prst="rect">
            <a:avLst/>
          </a:prstGeom>
        </p:spPr>
      </p:pic>
      <p:pic>
        <p:nvPicPr>
          <p:cNvPr id="55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-320" b="-320"/>
          <a:stretch/>
        </p:blipFill>
        <p:spPr>
          <a:xfrm>
            <a:off x="6096305" y="3858768"/>
            <a:ext cx="286207" cy="19202"/>
          </a:xfrm>
          <a:prstGeom prst="rect">
            <a:avLst/>
          </a:prstGeom>
        </p:spPr>
      </p:pic>
      <p:sp>
        <p:nvSpPr>
          <p:cNvPr id="56" name="Shape 36"/>
          <p:cNvSpPr/>
          <p:nvPr/>
        </p:nvSpPr>
        <p:spPr>
          <a:xfrm>
            <a:off x="3869741" y="4129430"/>
            <a:ext cx="1904695" cy="1914754"/>
          </a:xfrm>
          <a:prstGeom prst="roundRect">
            <a:avLst>
              <a:gd name="adj" fmla="val 192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7" name="Shape 37"/>
          <p:cNvSpPr/>
          <p:nvPr/>
        </p:nvSpPr>
        <p:spPr>
          <a:xfrm>
            <a:off x="3974897" y="4233672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58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4050792" y="4310482"/>
            <a:ext cx="114300" cy="114300"/>
          </a:xfrm>
          <a:prstGeom prst="rect">
            <a:avLst/>
          </a:prstGeom>
        </p:spPr>
      </p:pic>
      <p:sp>
        <p:nvSpPr>
          <p:cNvPr id="59" name="Text 38"/>
          <p:cNvSpPr txBox="1"/>
          <p:nvPr/>
        </p:nvSpPr>
        <p:spPr>
          <a:xfrm>
            <a:off x="4790542" y="4233672"/>
            <a:ext cx="962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Holdings</a:t>
            </a:r>
            <a:endParaRPr lang="en-US" sz="1200" dirty="0"/>
          </a:p>
        </p:txBody>
      </p:sp>
      <p:sp>
        <p:nvSpPr>
          <p:cNvPr id="60" name="Text 39"/>
          <p:cNvSpPr txBox="1"/>
          <p:nvPr/>
        </p:nvSpPr>
        <p:spPr>
          <a:xfrm>
            <a:off x="3974897" y="4557370"/>
            <a:ext cx="176387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Sub-Q: "List bonds issued by Energy Group Y."</a:t>
            </a:r>
            <a:endParaRPr lang="en-US" sz="1200" dirty="0"/>
          </a:p>
        </p:txBody>
      </p:sp>
      <p:sp>
        <p:nvSpPr>
          <p:cNvPr id="61" name="Shape 40"/>
          <p:cNvSpPr/>
          <p:nvPr/>
        </p:nvSpPr>
        <p:spPr>
          <a:xfrm>
            <a:off x="3974897" y="5205679"/>
            <a:ext cx="1695298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62" name="Text 41"/>
          <p:cNvSpPr txBox="1"/>
          <p:nvPr/>
        </p:nvSpPr>
        <p:spPr>
          <a:xfrm>
            <a:off x="4146804" y="525322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 3 Issues</a:t>
            </a:r>
            <a:endParaRPr lang="en-US" sz="1200" dirty="0"/>
          </a:p>
        </p:txBody>
      </p:sp>
      <p:pic>
        <p:nvPicPr>
          <p:cNvPr id="63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-43" b="-43"/>
          <a:stretch/>
        </p:blipFill>
        <p:spPr>
          <a:xfrm>
            <a:off x="3974897" y="5281574"/>
            <a:ext cx="133502" cy="152705"/>
          </a:xfrm>
          <a:prstGeom prst="rect">
            <a:avLst/>
          </a:prstGeom>
        </p:spPr>
      </p:pic>
      <p:sp>
        <p:nvSpPr>
          <p:cNvPr id="64" name="Text 42"/>
          <p:cNvSpPr txBox="1"/>
          <p:nvPr/>
        </p:nvSpPr>
        <p:spPr>
          <a:xfrm>
            <a:off x="3974897" y="5481828"/>
            <a:ext cx="1763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Internal Portfolio DB</a:t>
            </a:r>
            <a:endParaRPr lang="en-US" sz="1200" dirty="0"/>
          </a:p>
        </p:txBody>
      </p:sp>
      <p:pic>
        <p:nvPicPr>
          <p:cNvPr id="65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-401" b="-401"/>
          <a:stretch/>
        </p:blipFill>
        <p:spPr>
          <a:xfrm>
            <a:off x="5851246" y="5076749"/>
            <a:ext cx="3788359" cy="19202"/>
          </a:xfrm>
          <a:prstGeom prst="rect">
            <a:avLst/>
          </a:prstGeom>
        </p:spPr>
      </p:pic>
      <p:sp>
        <p:nvSpPr>
          <p:cNvPr id="66" name="Shape 43"/>
          <p:cNvSpPr/>
          <p:nvPr/>
        </p:nvSpPr>
        <p:spPr>
          <a:xfrm>
            <a:off x="9715500" y="4153205"/>
            <a:ext cx="2095805" cy="1867205"/>
          </a:xfrm>
          <a:prstGeom prst="roundRect">
            <a:avLst>
              <a:gd name="adj" fmla="val 2499"/>
            </a:avLst>
          </a:prstGeom>
          <a:solidFill>
            <a:srgbClr val="DC2626">
              <a:alpha val="10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67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9838944" y="4295851"/>
            <a:ext cx="190195" cy="190195"/>
          </a:xfrm>
          <a:prstGeom prst="rect">
            <a:avLst/>
          </a:prstGeom>
        </p:spPr>
      </p:pic>
      <p:pic>
        <p:nvPicPr>
          <p:cNvPr id="68" name="Image 22" descr="preencoded.png">    </p:cNvPr>
          <p:cNvPicPr>
            <a:picLocks noChangeAspect="1"/>
          </p:cNvPicPr>
          <p:nvPr/>
        </p:nvPicPr>
        <p:blipFill>
          <a:blip r:embed="rId23"/>
          <a:srcRect l="-299" r="-299" t="0" b="0"/>
          <a:stretch/>
        </p:blipFill>
        <p:spPr>
          <a:xfrm>
            <a:off x="9924898" y="4315054"/>
            <a:ext cx="19202" cy="152705"/>
          </a:xfrm>
          <a:prstGeom prst="rect">
            <a:avLst/>
          </a:prstGeom>
        </p:spPr>
      </p:pic>
      <p:sp>
        <p:nvSpPr>
          <p:cNvPr id="69" name="Text 44"/>
          <p:cNvSpPr txBox="1"/>
          <p:nvPr/>
        </p:nvSpPr>
        <p:spPr>
          <a:xfrm>
            <a:off x="10105949" y="4276649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 Detected</a:t>
            </a:r>
            <a:endParaRPr lang="en-US" sz="1200" dirty="0"/>
          </a:p>
        </p:txBody>
      </p:sp>
      <p:sp>
        <p:nvSpPr>
          <p:cNvPr id="70" name="Shape 45"/>
          <p:cNvSpPr/>
          <p:nvPr/>
        </p:nvSpPr>
        <p:spPr>
          <a:xfrm>
            <a:off x="9838944" y="5020056"/>
            <a:ext cx="1848002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71" name="Text 46"/>
          <p:cNvSpPr txBox="1"/>
          <p:nvPr/>
        </p:nvSpPr>
        <p:spPr>
          <a:xfrm>
            <a:off x="9838944" y="4543654"/>
            <a:ext cx="1362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Global Growth Fund:</a:t>
            </a:r>
            <a:endParaRPr lang="en-US" sz="1200" dirty="0"/>
          </a:p>
        </p:txBody>
      </p:sp>
      <p:sp>
        <p:nvSpPr>
          <p:cNvPr id="72" name="Text 47"/>
          <p:cNvSpPr txBox="1"/>
          <p:nvPr/>
        </p:nvSpPr>
        <p:spPr>
          <a:xfrm>
            <a:off x="11138306" y="4543654"/>
            <a:ext cx="6099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$12.5M</a:t>
            </a:r>
            <a:endParaRPr lang="en-US" sz="1200" dirty="0"/>
          </a:p>
        </p:txBody>
      </p:sp>
      <p:sp>
        <p:nvSpPr>
          <p:cNvPr id="73" name="Shape 48"/>
          <p:cNvSpPr/>
          <p:nvPr/>
        </p:nvSpPr>
        <p:spPr>
          <a:xfrm>
            <a:off x="9838944" y="5544007"/>
            <a:ext cx="1848002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74" name="Text 49"/>
          <p:cNvSpPr txBox="1"/>
          <p:nvPr/>
        </p:nvSpPr>
        <p:spPr>
          <a:xfrm>
            <a:off x="9838944" y="5067605"/>
            <a:ext cx="1448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Fixed Income Opps:</a:t>
            </a:r>
            <a:endParaRPr lang="en-US" sz="1200" dirty="0"/>
          </a:p>
        </p:txBody>
      </p:sp>
      <p:sp>
        <p:nvSpPr>
          <p:cNvPr id="75" name="Text 50"/>
          <p:cNvSpPr txBox="1"/>
          <p:nvPr/>
        </p:nvSpPr>
        <p:spPr>
          <a:xfrm>
            <a:off x="11229746" y="5067605"/>
            <a:ext cx="5239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$4.0M</a:t>
            </a:r>
            <a:endParaRPr lang="en-US" sz="1200" dirty="0"/>
          </a:p>
        </p:txBody>
      </p:sp>
      <p:sp>
        <p:nvSpPr>
          <p:cNvPr id="76" name="Shape 51"/>
          <p:cNvSpPr/>
          <p:nvPr/>
        </p:nvSpPr>
        <p:spPr>
          <a:xfrm>
            <a:off x="9838944" y="5591556"/>
            <a:ext cx="1848002" cy="304495"/>
          </a:xfrm>
          <a:prstGeom prst="roundRect">
            <a:avLst>
              <a:gd name="adj" fmla="val 37538"/>
            </a:avLst>
          </a:prstGeom>
          <a:solidFill>
            <a:srgbClr val="7F1D1D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Text 52"/>
          <p:cNvSpPr txBox="1"/>
          <p:nvPr/>
        </p:nvSpPr>
        <p:spPr>
          <a:xfrm>
            <a:off x="9877349" y="562904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A5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Exposure:</a:t>
            </a:r>
            <a:endParaRPr lang="en-US" sz="1200" dirty="0"/>
          </a:p>
        </p:txBody>
      </p:sp>
      <p:sp>
        <p:nvSpPr>
          <p:cNvPr id="78" name="Text 53"/>
          <p:cNvSpPr txBox="1"/>
          <p:nvPr/>
        </p:nvSpPr>
        <p:spPr>
          <a:xfrm>
            <a:off x="11119104" y="5629046"/>
            <a:ext cx="609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$16.5M</a:t>
            </a:r>
            <a:endParaRPr lang="en-US" sz="1200" dirty="0"/>
          </a:p>
        </p:txBody>
      </p:sp>
      <p:pic>
        <p:nvPicPr>
          <p:cNvPr id="79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326587" y="2014423"/>
            <a:ext cx="190195" cy="190195"/>
          </a:xfrm>
          <a:prstGeom prst="rect">
            <a:avLst/>
          </a:prstGeom>
        </p:spPr>
      </p:pic>
      <p:sp>
        <p:nvSpPr>
          <p:cNvPr id="80" name="Text 54"/>
          <p:cNvSpPr/>
          <p:nvPr/>
        </p:nvSpPr>
        <p:spPr>
          <a:xfrm>
            <a:off x="3326587" y="2014423"/>
            <a:ext cx="191110" cy="19111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B1E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800" dirty="0"/>
          </a:p>
        </p:txBody>
      </p:sp>
      <p:pic>
        <p:nvPicPr>
          <p:cNvPr id="81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820656" y="2014423"/>
            <a:ext cx="190195" cy="190195"/>
          </a:xfrm>
          <a:prstGeom prst="rect">
            <a:avLst/>
          </a:prstGeom>
        </p:spPr>
      </p:pic>
      <p:sp>
        <p:nvSpPr>
          <p:cNvPr id="82" name="Text 55"/>
          <p:cNvSpPr/>
          <p:nvPr/>
        </p:nvSpPr>
        <p:spPr>
          <a:xfrm>
            <a:off x="9820656" y="2014423"/>
            <a:ext cx="191110" cy="19111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B1E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800" dirty="0"/>
          </a:p>
        </p:txBody>
      </p:sp>
      <p:pic>
        <p:nvPicPr>
          <p:cNvPr id="83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783787" y="4043477"/>
            <a:ext cx="190195" cy="190195"/>
          </a:xfrm>
          <a:prstGeom prst="rect">
            <a:avLst/>
          </a:prstGeom>
        </p:spPr>
      </p:pic>
      <p:sp>
        <p:nvSpPr>
          <p:cNvPr id="84" name="Text 56"/>
          <p:cNvSpPr/>
          <p:nvPr/>
        </p:nvSpPr>
        <p:spPr>
          <a:xfrm>
            <a:off x="3783787" y="4043477"/>
            <a:ext cx="191110" cy="19111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B1E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0"/>
            <a:ext cx="12191695" cy="115214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0" y="1143000"/>
            <a:ext cx="121916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381305"/>
            <a:ext cx="5524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Cross-Jurisdictional Comparison (2 Hops)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09905"/>
            <a:ext cx="747887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68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Use Case 4: Regulatory Arbitrage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457200" y="1380744"/>
            <a:ext cx="11277295" cy="2495398"/>
          </a:xfrm>
          <a:prstGeom prst="roundRect">
            <a:avLst>
              <a:gd name="adj" fmla="val 1119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" y="1390802"/>
            <a:ext cx="11259007" cy="314554"/>
          </a:xfrm>
          <a:prstGeom prst="roundRect">
            <a:avLst>
              <a:gd name="adj" fmla="val 70472"/>
            </a:avLst>
          </a:prstGeom>
          <a:solidFill>
            <a:srgbClr val="1F2937">
              <a:alpha val="5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66344" y="1696212"/>
            <a:ext cx="11259007" cy="9144"/>
          </a:xfrm>
          <a:prstGeom prst="roundRect">
            <a:avLst>
              <a:gd name="adj" fmla="val 2424242"/>
            </a:avLst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94944" y="1466698"/>
            <a:ext cx="109161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Query: "Does UK or Netherlands offer better tax treatment for IP royalties?"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6344" y="2104949"/>
            <a:ext cx="2257654" cy="19202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6344" y="1705356"/>
            <a:ext cx="2334463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75" kern="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Criteria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3170225" y="1705356"/>
            <a:ext cx="4130345" cy="419710"/>
          </a:xfrm>
          <a:prstGeom prst="rect">
            <a:avLst/>
          </a:prstGeom>
          <a:noFill/>
          <a:ln w="12700">
            <a:solidFill>
              <a:srgbClr val="FFFFFF">
                <a:alpha val="500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75" kern="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UK Patent Box (Hop 1)</a:t>
            </a:r>
            <a:endParaRPr lang="en-US" sz="9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1931" y="1705356"/>
            <a:ext cx="4505249" cy="41879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654442" y="1705356"/>
            <a:ext cx="4073652" cy="41971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C5A0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75" kern="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Netherlands Innovation Box (Hop 2)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66344" y="2553005"/>
            <a:ext cx="225765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66344" y="2124151"/>
            <a:ext cx="2334463" cy="315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Tax Rate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2718511" y="2124151"/>
            <a:ext cx="4582058" cy="438912"/>
          </a:xfrm>
          <a:prstGeom prst="rect">
            <a:avLst/>
          </a:prstGeom>
          <a:noFill/>
          <a:ln w="12700">
            <a:solidFill>
              <a:srgbClr val="FFFFFF">
                <a:alpha val="500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10% Corporate Tax Rate</a:t>
            </a:r>
            <a:endParaRPr lang="en-US" sz="10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1931" y="2124151"/>
            <a:ext cx="4505249" cy="43799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221931" y="2124151"/>
            <a:ext cx="4506163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1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9% Effective Tax Rate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66344" y="2562149"/>
            <a:ext cx="11259007" cy="437998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66344" y="2991002"/>
            <a:ext cx="225765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66344" y="2562149"/>
            <a:ext cx="2334463" cy="315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Qualifying Assets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2718511" y="2562149"/>
            <a:ext cx="4582058" cy="438912"/>
          </a:xfrm>
          <a:prstGeom prst="rect">
            <a:avLst/>
          </a:prstGeom>
          <a:noFill/>
          <a:ln w="12700">
            <a:solidFill>
              <a:srgbClr val="FFFFFF">
                <a:alpha val="500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Patents &amp; Exclusive Licenses</a:t>
            </a:r>
            <a:endParaRPr lang="en-US" sz="10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1931" y="2562149"/>
            <a:ext cx="4505249" cy="43799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221931" y="2562149"/>
            <a:ext cx="4506163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1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Patents + R&amp;D Software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66344" y="3429000"/>
            <a:ext cx="225765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466344" y="3000146"/>
            <a:ext cx="2334463" cy="315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Entry Requirement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2718511" y="3000146"/>
            <a:ext cx="4582058" cy="438912"/>
          </a:xfrm>
          <a:prstGeom prst="rect">
            <a:avLst/>
          </a:prstGeom>
          <a:noFill/>
          <a:ln w="12700">
            <a:solidFill>
              <a:srgbClr val="FFFFFF">
                <a:alpha val="500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Development condition</a:t>
            </a:r>
            <a:endParaRPr lang="en-US" sz="10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1931" y="3000146"/>
            <a:ext cx="4505249" cy="43799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221931" y="3000146"/>
            <a:ext cx="4506163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1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WBSO R&amp;D Certificate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466344" y="3438144"/>
            <a:ext cx="11259007" cy="428854"/>
          </a:xfrm>
          <a:prstGeom prst="roundRect">
            <a:avLst>
              <a:gd name="adj" fmla="val 3790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466344" y="3438144"/>
            <a:ext cx="2334463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Synthesis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7214616" y="3438144"/>
            <a:ext cx="9144" cy="42885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2718511" y="3438144"/>
            <a:ext cx="4382719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Higher rate, narrower scope</a:t>
            </a:r>
            <a:endParaRPr lang="en-US" sz="100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1931" y="3438144"/>
            <a:ext cx="4505249" cy="42885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221931" y="3438144"/>
            <a:ext cx="4506163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Advantageous for Software IP</a:t>
            </a:r>
            <a:endParaRPr lang="en-US" sz="1000" dirty="0"/>
          </a:p>
        </p:txBody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rcRect l="-3882" r="-3882" t="0" b="0"/>
          <a:stretch/>
        </p:blipFill>
        <p:spPr>
          <a:xfrm>
            <a:off x="2908706" y="1826057"/>
            <a:ext cx="161849" cy="133502"/>
          </a:xfrm>
          <a:prstGeom prst="rect">
            <a:avLst/>
          </a:prstGeom>
        </p:spPr>
      </p:pic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rcRect l="-3425" r="-3425" t="0" b="0"/>
          <a:stretch/>
        </p:blipFill>
        <p:spPr>
          <a:xfrm>
            <a:off x="7412126" y="1826057"/>
            <a:ext cx="142646" cy="133502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457200" y="4105656"/>
            <a:ext cx="5486400" cy="2523744"/>
          </a:xfrm>
          <a:prstGeom prst="roundRect">
            <a:avLst>
              <a:gd name="adj" fmla="val 1094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44" name="Shape 34"/>
          <p:cNvSpPr/>
          <p:nvPr/>
        </p:nvSpPr>
        <p:spPr>
          <a:xfrm>
            <a:off x="457200" y="4105656"/>
            <a:ext cx="5486400" cy="9144"/>
          </a:xfrm>
          <a:prstGeom prst="roundRect">
            <a:avLst>
              <a:gd name="adj" fmla="val 30188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35"/>
          <p:cNvSpPr txBox="1"/>
          <p:nvPr/>
        </p:nvSpPr>
        <p:spPr>
          <a:xfrm>
            <a:off x="552298" y="4267505"/>
            <a:ext cx="52962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Pattern: Comparative Analysis</a:t>
            </a:r>
            <a:endParaRPr lang="en-US" sz="900" dirty="0"/>
          </a:p>
        </p:txBody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100" b="-1100"/>
          <a:stretch/>
        </p:blipFill>
        <p:spPr>
          <a:xfrm>
            <a:off x="2201875" y="5458054"/>
            <a:ext cx="114300" cy="133502"/>
          </a:xfrm>
          <a:prstGeom prst="rect">
            <a:avLst/>
          </a:prstGeom>
        </p:spPr>
      </p:pic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92070" y="5162702"/>
            <a:ext cx="1380744" cy="323698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2745943" y="5162702"/>
            <a:ext cx="1027786" cy="3246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Retrieve UK</a:t>
            </a:r>
            <a:endParaRPr lang="en-US" sz="1200" dirty="0"/>
          </a:p>
        </p:txBody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2516429" y="5238598"/>
            <a:ext cx="152705" cy="152705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2745943" y="5562295"/>
            <a:ext cx="1084478" cy="324612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Retrieve NL </a:t>
            </a:r>
            <a:endParaRPr lang="en-US" sz="1200" dirty="0"/>
          </a:p>
        </p:txBody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2516429" y="5639105"/>
            <a:ext cx="152705" cy="152705"/>
          </a:xfrm>
          <a:prstGeom prst="rect">
            <a:avLst/>
          </a:prstGeom>
        </p:spPr>
      </p:pic>
      <p:pic>
        <p:nvPicPr>
          <p:cNvPr id="52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1100" b="-1100"/>
          <a:stretch/>
        </p:blipFill>
        <p:spPr>
          <a:xfrm>
            <a:off x="3843223" y="5458054"/>
            <a:ext cx="114300" cy="133502"/>
          </a:xfrm>
          <a:prstGeom prst="rect">
            <a:avLst/>
          </a:prstGeom>
        </p:spPr>
      </p:pic>
      <p:sp>
        <p:nvSpPr>
          <p:cNvPr id="53" name="Shape 38"/>
          <p:cNvSpPr/>
          <p:nvPr/>
        </p:nvSpPr>
        <p:spPr>
          <a:xfrm>
            <a:off x="6248095" y="4105656"/>
            <a:ext cx="5495544" cy="2523744"/>
          </a:xfrm>
          <a:prstGeom prst="roundRect">
            <a:avLst>
              <a:gd name="adj" fmla="val 1094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54" name="Shape 39"/>
          <p:cNvSpPr/>
          <p:nvPr/>
        </p:nvSpPr>
        <p:spPr>
          <a:xfrm>
            <a:off x="6248095" y="4105656"/>
            <a:ext cx="5495544" cy="9144"/>
          </a:xfrm>
          <a:prstGeom prst="roundRect">
            <a:avLst>
              <a:gd name="adj" fmla="val 30188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40"/>
          <p:cNvSpPr txBox="1"/>
          <p:nvPr/>
        </p:nvSpPr>
        <p:spPr>
          <a:xfrm>
            <a:off x="6353251" y="4267505"/>
            <a:ext cx="52870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Alternative: Basel III Impact</a:t>
            </a:r>
            <a:endParaRPr lang="en-US" sz="900" dirty="0"/>
          </a:p>
        </p:txBody>
      </p:sp>
      <p:sp>
        <p:nvSpPr>
          <p:cNvPr id="56" name="Text 41"/>
          <p:cNvSpPr txBox="1"/>
          <p:nvPr/>
        </p:nvSpPr>
        <p:spPr>
          <a:xfrm>
            <a:off x="6353251" y="4595774"/>
            <a:ext cx="52870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"Does Basel III output floor impact BNP or JPM more?"</a:t>
            </a:r>
            <a:endParaRPr lang="en-US" sz="900" dirty="0"/>
          </a:p>
        </p:txBody>
      </p:sp>
      <p:sp>
        <p:nvSpPr>
          <p:cNvPr id="57" name="Shape 42"/>
          <p:cNvSpPr/>
          <p:nvPr/>
        </p:nvSpPr>
        <p:spPr>
          <a:xfrm>
            <a:off x="6653174" y="4900270"/>
            <a:ext cx="1723644" cy="1162202"/>
          </a:xfrm>
          <a:prstGeom prst="roundRect">
            <a:avLst>
              <a:gd name="adj" fmla="val 2580"/>
            </a:avLst>
          </a:prstGeom>
          <a:solidFill>
            <a:srgbClr val="1F2937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58" name="Text 43"/>
          <p:cNvSpPr txBox="1"/>
          <p:nvPr/>
        </p:nvSpPr>
        <p:spPr>
          <a:xfrm>
            <a:off x="7037222" y="4986223"/>
            <a:ext cx="10451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BNP Paribas</a:t>
            </a:r>
            <a:endParaRPr lang="en-US" sz="1200" dirty="0"/>
          </a:p>
        </p:txBody>
      </p:sp>
      <p:sp>
        <p:nvSpPr>
          <p:cNvPr id="59" name="Shape 44"/>
          <p:cNvSpPr/>
          <p:nvPr/>
        </p:nvSpPr>
        <p:spPr>
          <a:xfrm>
            <a:off x="6739128" y="5253228"/>
            <a:ext cx="1552651" cy="457200"/>
          </a:xfrm>
          <a:prstGeom prst="roundRect">
            <a:avLst>
              <a:gd name="adj" fmla="val 16667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45"/>
          <p:cNvSpPr/>
          <p:nvPr/>
        </p:nvSpPr>
        <p:spPr>
          <a:xfrm>
            <a:off x="6739128" y="5550408"/>
            <a:ext cx="1552651" cy="161849"/>
          </a:xfrm>
          <a:prstGeom prst="roundRect">
            <a:avLst>
              <a:gd name="adj" fmla="val 132934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46"/>
          <p:cNvSpPr txBox="1"/>
          <p:nvPr/>
        </p:nvSpPr>
        <p:spPr>
          <a:xfrm>
            <a:off x="6708038" y="5253228"/>
            <a:ext cx="16148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35%</a:t>
            </a:r>
            <a:endParaRPr lang="en-US" sz="1200" dirty="0"/>
          </a:p>
        </p:txBody>
      </p:sp>
      <p:sp>
        <p:nvSpPr>
          <p:cNvPr id="62" name="Text 47"/>
          <p:cNvSpPr txBox="1"/>
          <p:nvPr/>
        </p:nvSpPr>
        <p:spPr>
          <a:xfrm>
            <a:off x="7015277" y="5747918"/>
            <a:ext cx="1077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RWA Density</a:t>
            </a:r>
            <a:endParaRPr lang="en-US" sz="1200" dirty="0"/>
          </a:p>
        </p:txBody>
      </p:sp>
      <p:sp>
        <p:nvSpPr>
          <p:cNvPr id="63" name="Text 48"/>
          <p:cNvSpPr txBox="1"/>
          <p:nvPr/>
        </p:nvSpPr>
        <p:spPr>
          <a:xfrm>
            <a:off x="8860536" y="5348326"/>
            <a:ext cx="3429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VS</a:t>
            </a:r>
            <a:endParaRPr lang="en-US" sz="1500" dirty="0"/>
          </a:p>
        </p:txBody>
      </p:sp>
      <p:sp>
        <p:nvSpPr>
          <p:cNvPr id="64" name="Shape 49"/>
          <p:cNvSpPr/>
          <p:nvPr/>
        </p:nvSpPr>
        <p:spPr>
          <a:xfrm>
            <a:off x="9608515" y="4900270"/>
            <a:ext cx="1723644" cy="1162202"/>
          </a:xfrm>
          <a:prstGeom prst="roundRect">
            <a:avLst>
              <a:gd name="adj" fmla="val 2580"/>
            </a:avLst>
          </a:prstGeom>
          <a:solidFill>
            <a:srgbClr val="1F2937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65" name="Text 50"/>
          <p:cNvSpPr txBox="1"/>
          <p:nvPr/>
        </p:nvSpPr>
        <p:spPr>
          <a:xfrm>
            <a:off x="10077602" y="4986223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JPMorgan</a:t>
            </a:r>
            <a:endParaRPr lang="en-US" sz="1200" dirty="0"/>
          </a:p>
        </p:txBody>
      </p:sp>
      <p:sp>
        <p:nvSpPr>
          <p:cNvPr id="66" name="Shape 51"/>
          <p:cNvSpPr/>
          <p:nvPr/>
        </p:nvSpPr>
        <p:spPr>
          <a:xfrm>
            <a:off x="9694469" y="5253228"/>
            <a:ext cx="1552651" cy="457200"/>
          </a:xfrm>
          <a:prstGeom prst="roundRect">
            <a:avLst>
              <a:gd name="adj" fmla="val 16667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52"/>
          <p:cNvSpPr/>
          <p:nvPr/>
        </p:nvSpPr>
        <p:spPr>
          <a:xfrm>
            <a:off x="9694469" y="5436108"/>
            <a:ext cx="1552651" cy="276149"/>
          </a:xfrm>
          <a:prstGeom prst="roundRect">
            <a:avLst>
              <a:gd name="adj" fmla="val 45672"/>
            </a:avLst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Text 53"/>
          <p:cNvSpPr txBox="1"/>
          <p:nvPr/>
        </p:nvSpPr>
        <p:spPr>
          <a:xfrm>
            <a:off x="9663379" y="5253228"/>
            <a:ext cx="16148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60%</a:t>
            </a:r>
            <a:endParaRPr lang="en-US" sz="1200" dirty="0"/>
          </a:p>
        </p:txBody>
      </p:sp>
      <p:sp>
        <p:nvSpPr>
          <p:cNvPr id="69" name="Text 54"/>
          <p:cNvSpPr txBox="1"/>
          <p:nvPr/>
        </p:nvSpPr>
        <p:spPr>
          <a:xfrm>
            <a:off x="9970618" y="5747918"/>
            <a:ext cx="1077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RWA Density</a:t>
            </a:r>
            <a:endParaRPr lang="en-US" sz="1200" dirty="0"/>
          </a:p>
        </p:txBody>
      </p:sp>
      <p:sp>
        <p:nvSpPr>
          <p:cNvPr id="70" name="Text 55"/>
          <p:cNvSpPr txBox="1"/>
          <p:nvPr/>
        </p:nvSpPr>
        <p:spPr>
          <a:xfrm>
            <a:off x="7421270" y="6215177"/>
            <a:ext cx="42757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Low density banks (BNP) hit harder by floor</a:t>
            </a:r>
            <a:endParaRPr lang="en-US" sz="1200" dirty="0"/>
          </a:p>
        </p:txBody>
      </p:sp>
      <p:pic>
        <p:nvPicPr>
          <p:cNvPr id="71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100" b="-100"/>
          <a:stretch/>
        </p:blipFill>
        <p:spPr>
          <a:xfrm>
            <a:off x="7266737" y="6243523"/>
            <a:ext cx="114300" cy="152705"/>
          </a:xfrm>
          <a:prstGeom prst="rect">
            <a:avLst/>
          </a:prstGeom>
        </p:spPr>
      </p:pic>
      <p:pic>
        <p:nvPicPr>
          <p:cNvPr id="72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1702613" y="5181905"/>
            <a:ext cx="381305" cy="381305"/>
          </a:xfrm>
          <a:prstGeom prst="rect">
            <a:avLst/>
          </a:prstGeom>
        </p:spPr>
      </p:pic>
      <p:pic>
        <p:nvPicPr>
          <p:cNvPr id="73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100" b="-100"/>
          <a:stretch/>
        </p:blipFill>
        <p:spPr>
          <a:xfrm>
            <a:off x="1836115" y="5296205"/>
            <a:ext cx="114300" cy="152705"/>
          </a:xfrm>
          <a:prstGeom prst="rect">
            <a:avLst/>
          </a:prstGeom>
        </p:spPr>
      </p:pic>
      <p:sp>
        <p:nvSpPr>
          <p:cNvPr id="74" name="Text 56"/>
          <p:cNvSpPr txBox="1"/>
          <p:nvPr/>
        </p:nvSpPr>
        <p:spPr>
          <a:xfrm>
            <a:off x="1660550" y="5639105"/>
            <a:ext cx="543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Query</a:t>
            </a:r>
            <a:endParaRPr lang="en-US" sz="1200" dirty="0"/>
          </a:p>
        </p:txBody>
      </p:sp>
      <p:pic>
        <p:nvPicPr>
          <p:cNvPr id="75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4196182" y="5181905"/>
            <a:ext cx="381305" cy="381305"/>
          </a:xfrm>
          <a:prstGeom prst="rect">
            <a:avLst/>
          </a:prstGeom>
        </p:spPr>
      </p:pic>
      <p:pic>
        <p:nvPicPr>
          <p:cNvPr id="76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-180" b="-180"/>
          <a:stretch/>
        </p:blipFill>
        <p:spPr>
          <a:xfrm>
            <a:off x="4291279" y="5296205"/>
            <a:ext cx="190195" cy="152705"/>
          </a:xfrm>
          <a:prstGeom prst="rect">
            <a:avLst/>
          </a:prstGeom>
        </p:spPr>
      </p:pic>
      <p:sp>
        <p:nvSpPr>
          <p:cNvPr id="77" name="Text 57"/>
          <p:cNvSpPr txBox="1"/>
          <p:nvPr/>
        </p:nvSpPr>
        <p:spPr>
          <a:xfrm>
            <a:off x="4034333" y="5639105"/>
            <a:ext cx="790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</a:t>
            </a:r>
            <a:endParaRPr lang="en-US" sz="1200" dirty="0"/>
          </a:p>
        </p:txBody>
      </p:sp>
      <p:sp>
        <p:nvSpPr>
          <p:cNvPr id="78" name="Text 58"/>
          <p:cNvSpPr txBox="1"/>
          <p:nvPr/>
        </p:nvSpPr>
        <p:spPr>
          <a:xfrm>
            <a:off x="10376611" y="228600"/>
            <a:ext cx="14383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1300" dirty="0"/>
          </a:p>
        </p:txBody>
      </p:sp>
      <p:sp>
        <p:nvSpPr>
          <p:cNvPr id="79" name="Text 59"/>
          <p:cNvSpPr txBox="1"/>
          <p:nvPr/>
        </p:nvSpPr>
        <p:spPr>
          <a:xfrm>
            <a:off x="11246206" y="495605"/>
            <a:ext cx="5897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122895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0" y="1219810"/>
            <a:ext cx="121916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81305"/>
            <a:ext cx="44577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 5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09905"/>
            <a:ext cx="588325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68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Executive Red Flag Search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10299802" y="533095"/>
            <a:ext cx="14383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299802" y="800100"/>
            <a:ext cx="1438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17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67151" y="1533449"/>
            <a:ext cx="9144" cy="504840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1533449"/>
            <a:ext cx="260604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1876349"/>
            <a:ext cx="2581351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 background checks often miss indirect connections between new appointees and past companies with legal trouble.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86207" y="2848356"/>
            <a:ext cx="809244" cy="838505"/>
          </a:xfrm>
          <a:prstGeom prst="roundRect">
            <a:avLst>
              <a:gd name="adj" fmla="val 5649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86207" y="3762756"/>
            <a:ext cx="8668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Board Bios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248156" y="3152851"/>
            <a:ext cx="838505" cy="8385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248156" y="4067251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Corp History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238451" y="2848356"/>
            <a:ext cx="895198" cy="838505"/>
          </a:xfrm>
          <a:prstGeom prst="roundRect">
            <a:avLst>
              <a:gd name="adj" fmla="val 5452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337206" y="3762756"/>
            <a:ext cx="781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Legal DB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4677156"/>
            <a:ext cx="2505456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66521" y="4762195"/>
            <a:ext cx="2072030" cy="2295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Missing the "Risk Link" 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5296205"/>
            <a:ext cx="2505456" cy="1285646"/>
          </a:xfrm>
          <a:prstGeom prst="roundRect">
            <a:avLst>
              <a:gd name="adj" fmla="val 4215"/>
            </a:avLst>
          </a:prstGeom>
          <a:solidFill>
            <a:srgbClr val="1E40AF">
              <a:alpha val="3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19049" y="5458054"/>
            <a:ext cx="22686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Complex User Query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619049" y="5686654"/>
            <a:ext cx="2257654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"Do any board members appointed to Citi in the last 12 months have past directorships at companies currently under SEC investigation?"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3657600" y="1533449"/>
            <a:ext cx="242773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Multi-Hop Workflow</a:t>
            </a:r>
            <a:endParaRPr lang="en-US" sz="13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9625" y="1543507"/>
            <a:ext cx="1943100" cy="24780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0114178" y="1543507"/>
            <a:ext cx="1628546" cy="24780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Due Diligence</a:t>
            </a:r>
            <a:endParaRPr lang="en-US" sz="9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7006" y="4791456"/>
            <a:ext cx="152705" cy="152705"/>
          </a:xfrm>
          <a:prstGeom prst="rect">
            <a:avLst/>
          </a:prstGeom>
        </p:spPr>
      </p:pic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923983" y="1604772"/>
            <a:ext cx="114300" cy="11430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3657600" y="2447849"/>
            <a:ext cx="2286000" cy="1742846"/>
          </a:xfrm>
          <a:prstGeom prst="roundRect">
            <a:avLst>
              <a:gd name="adj" fmla="val 229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819449" y="2609698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rcRect l="-1064" r="-1064" t="0" b="0"/>
          <a:stretch/>
        </p:blipFill>
        <p:spPr>
          <a:xfrm>
            <a:off x="3900830" y="2714854"/>
            <a:ext cx="219456" cy="171907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5121554" y="2609698"/>
            <a:ext cx="7434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People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3819449" y="3105302"/>
            <a:ext cx="20391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Sub-Q: "Appointed to board in last 12 mos?"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3819449" y="3524098"/>
            <a:ext cx="1962302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4000500" y="3610051"/>
            <a:ext cx="18598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A. Anderson, B. Baker</a:t>
            </a:r>
            <a:endParaRPr lang="en-US" sz="10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rcRect l="-2571" r="-2571" t="0" b="0"/>
          <a:stretch/>
        </p:blipFill>
        <p:spPr>
          <a:xfrm>
            <a:off x="3819449" y="3653028"/>
            <a:ext cx="105156" cy="11430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3819449" y="3800246"/>
            <a:ext cx="2335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Investor Relations</a:t>
            </a:r>
            <a:endParaRPr lang="en-US" sz="1200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400" b="-400"/>
          <a:stretch/>
        </p:blipFill>
        <p:spPr>
          <a:xfrm>
            <a:off x="6038698" y="3310128"/>
            <a:ext cx="3314700" cy="19202"/>
          </a:xfrm>
          <a:prstGeom prst="rect">
            <a:avLst/>
          </a:prstGeom>
        </p:spPr>
      </p:pic>
      <p:sp>
        <p:nvSpPr>
          <p:cNvPr id="40" name="Shape 31"/>
          <p:cNvSpPr/>
          <p:nvPr/>
        </p:nvSpPr>
        <p:spPr>
          <a:xfrm>
            <a:off x="9448495" y="2447849"/>
            <a:ext cx="2286000" cy="1742846"/>
          </a:xfrm>
          <a:prstGeom prst="roundRect">
            <a:avLst>
              <a:gd name="adj" fmla="val 229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9610344" y="2609698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rcRect l="-1773" r="-1773" t="0" b="0"/>
          <a:stretch/>
        </p:blipFill>
        <p:spPr>
          <a:xfrm>
            <a:off x="9734702" y="2714854"/>
            <a:ext cx="133502" cy="171907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10864901" y="2609698"/>
            <a:ext cx="790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History</a:t>
            </a:r>
            <a:endParaRPr lang="en-US" sz="1200" dirty="0"/>
          </a:p>
        </p:txBody>
      </p:sp>
      <p:sp>
        <p:nvSpPr>
          <p:cNvPr id="44" name="Text 34"/>
          <p:cNvSpPr txBox="1"/>
          <p:nvPr/>
        </p:nvSpPr>
        <p:spPr>
          <a:xfrm>
            <a:off x="9610344" y="3105302"/>
            <a:ext cx="20391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Sub-Q: "Past directorships for A &amp; B?"</a:t>
            </a:r>
            <a:endParaRPr lang="en-US" sz="900" dirty="0"/>
          </a:p>
        </p:txBody>
      </p:sp>
      <p:sp>
        <p:nvSpPr>
          <p:cNvPr id="45" name="Shape 35"/>
          <p:cNvSpPr/>
          <p:nvPr/>
        </p:nvSpPr>
        <p:spPr>
          <a:xfrm>
            <a:off x="9610344" y="3524098"/>
            <a:ext cx="1962302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46" name="Text 36"/>
          <p:cNvSpPr txBox="1"/>
          <p:nvPr/>
        </p:nvSpPr>
        <p:spPr>
          <a:xfrm>
            <a:off x="9791395" y="3610051"/>
            <a:ext cx="18598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Omega Corp, Zeta Ltd</a:t>
            </a:r>
            <a:endParaRPr lang="en-US" sz="1000" dirty="0"/>
          </a:p>
        </p:txBody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rcRect l="-2571" r="-2571" t="0" b="0"/>
          <a:stretch/>
        </p:blipFill>
        <p:spPr>
          <a:xfrm>
            <a:off x="9610344" y="3653028"/>
            <a:ext cx="105156" cy="114300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9610344" y="3800246"/>
            <a:ext cx="2335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Capital IQ / Bios</a:t>
            </a:r>
            <a:endParaRPr lang="en-US" sz="1200" dirty="0"/>
          </a:p>
        </p:txBody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0"/>
          <a:srcRect l="-400" r="-400" t="0" b="0"/>
          <a:stretch/>
        </p:blipFill>
        <p:spPr>
          <a:xfrm>
            <a:off x="6001207" y="4276649"/>
            <a:ext cx="19202" cy="571500"/>
          </a:xfrm>
          <a:prstGeom prst="rect">
            <a:avLst/>
          </a:prstGeom>
        </p:spPr>
      </p:pic>
      <p:pic>
        <p:nvPicPr>
          <p:cNvPr id="50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360" b="-360"/>
          <a:stretch/>
        </p:blipFill>
        <p:spPr>
          <a:xfrm>
            <a:off x="6001207" y="4848149"/>
            <a:ext cx="381305" cy="19202"/>
          </a:xfrm>
          <a:prstGeom prst="rect">
            <a:avLst/>
          </a:prstGeom>
        </p:spPr>
      </p:pic>
      <p:sp>
        <p:nvSpPr>
          <p:cNvPr id="51" name="Shape 38"/>
          <p:cNvSpPr/>
          <p:nvPr/>
        </p:nvSpPr>
        <p:spPr>
          <a:xfrm>
            <a:off x="4572000" y="4419295"/>
            <a:ext cx="2286000" cy="1742846"/>
          </a:xfrm>
          <a:prstGeom prst="roundRect">
            <a:avLst>
              <a:gd name="adj" fmla="val 229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2" name="Shape 39"/>
          <p:cNvSpPr/>
          <p:nvPr/>
        </p:nvSpPr>
        <p:spPr>
          <a:xfrm>
            <a:off x="4733849" y="4581144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4839005" y="4686300"/>
            <a:ext cx="171907" cy="171907"/>
          </a:xfrm>
          <a:prstGeom prst="rect">
            <a:avLst/>
          </a:prstGeom>
        </p:spPr>
      </p:pic>
      <p:sp>
        <p:nvSpPr>
          <p:cNvPr id="54" name="Text 40"/>
          <p:cNvSpPr txBox="1"/>
          <p:nvPr/>
        </p:nvSpPr>
        <p:spPr>
          <a:xfrm>
            <a:off x="5555894" y="4581144"/>
            <a:ext cx="1219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Legal Check</a:t>
            </a:r>
            <a:endParaRPr lang="en-US" sz="1200" dirty="0"/>
          </a:p>
        </p:txBody>
      </p:sp>
      <p:sp>
        <p:nvSpPr>
          <p:cNvPr id="55" name="Text 41"/>
          <p:cNvSpPr txBox="1"/>
          <p:nvPr/>
        </p:nvSpPr>
        <p:spPr>
          <a:xfrm>
            <a:off x="4733849" y="5076749"/>
            <a:ext cx="20391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Sub-Q: "Are Omega or Zeta under SEC probe?"</a:t>
            </a:r>
            <a:endParaRPr lang="en-US" sz="900" dirty="0"/>
          </a:p>
        </p:txBody>
      </p:sp>
      <p:sp>
        <p:nvSpPr>
          <p:cNvPr id="56" name="Shape 42"/>
          <p:cNvSpPr/>
          <p:nvPr/>
        </p:nvSpPr>
        <p:spPr>
          <a:xfrm>
            <a:off x="4733849" y="5495544"/>
            <a:ext cx="1962302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57" name="Text 43"/>
          <p:cNvSpPr txBox="1"/>
          <p:nvPr/>
        </p:nvSpPr>
        <p:spPr>
          <a:xfrm>
            <a:off x="4924044" y="5581498"/>
            <a:ext cx="18507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Omega: YES (2024)</a:t>
            </a:r>
            <a:endParaRPr lang="en-US" sz="1000" dirty="0"/>
          </a:p>
        </p:txBody>
      </p:sp>
      <p:pic>
        <p:nvPicPr>
          <p:cNvPr id="58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4733849" y="5624474"/>
            <a:ext cx="114300" cy="114300"/>
          </a:xfrm>
          <a:prstGeom prst="rect">
            <a:avLst/>
          </a:prstGeom>
        </p:spPr>
      </p:pic>
      <p:sp>
        <p:nvSpPr>
          <p:cNvPr id="59" name="Text 44"/>
          <p:cNvSpPr txBox="1"/>
          <p:nvPr/>
        </p:nvSpPr>
        <p:spPr>
          <a:xfrm>
            <a:off x="4733849" y="5772607"/>
            <a:ext cx="20409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SEC EDGAR</a:t>
            </a:r>
            <a:endParaRPr lang="en-US" sz="1200" dirty="0"/>
          </a:p>
        </p:txBody>
      </p:sp>
      <p:pic>
        <p:nvPicPr>
          <p:cNvPr id="60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393" b="-393"/>
          <a:stretch/>
        </p:blipFill>
        <p:spPr>
          <a:xfrm>
            <a:off x="6953098" y="5281574"/>
            <a:ext cx="2210105" cy="19202"/>
          </a:xfrm>
          <a:prstGeom prst="rect">
            <a:avLst/>
          </a:prstGeom>
        </p:spPr>
      </p:pic>
      <p:sp>
        <p:nvSpPr>
          <p:cNvPr id="61" name="Shape 45"/>
          <p:cNvSpPr/>
          <p:nvPr/>
        </p:nvSpPr>
        <p:spPr>
          <a:xfrm>
            <a:off x="9258300" y="4419295"/>
            <a:ext cx="2476195" cy="1742846"/>
          </a:xfrm>
          <a:prstGeom prst="roundRect">
            <a:avLst>
              <a:gd name="adj" fmla="val 3440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2" name="Shape 46"/>
          <p:cNvSpPr/>
          <p:nvPr/>
        </p:nvSpPr>
        <p:spPr>
          <a:xfrm>
            <a:off x="9458554" y="4619549"/>
            <a:ext cx="304495" cy="304495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3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43" b="-43"/>
          <a:stretch/>
        </p:blipFill>
        <p:spPr>
          <a:xfrm>
            <a:off x="9544507" y="4695444"/>
            <a:ext cx="133502" cy="152705"/>
          </a:xfrm>
          <a:prstGeom prst="rect">
            <a:avLst/>
          </a:prstGeom>
        </p:spPr>
      </p:pic>
      <p:sp>
        <p:nvSpPr>
          <p:cNvPr id="64" name="Text 47"/>
          <p:cNvSpPr txBox="1"/>
          <p:nvPr/>
        </p:nvSpPr>
        <p:spPr>
          <a:xfrm>
            <a:off x="9877349" y="4677156"/>
            <a:ext cx="8101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 Flag</a:t>
            </a:r>
            <a:endParaRPr lang="en-US" sz="1000" dirty="0"/>
          </a:p>
        </p:txBody>
      </p:sp>
      <p:sp>
        <p:nvSpPr>
          <p:cNvPr id="65" name="Text 48"/>
          <p:cNvSpPr txBox="1"/>
          <p:nvPr/>
        </p:nvSpPr>
        <p:spPr>
          <a:xfrm>
            <a:off x="9458554" y="5038344"/>
            <a:ext cx="505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Person:</a:t>
            </a:r>
            <a:endParaRPr lang="en-US" sz="900" dirty="0"/>
          </a:p>
        </p:txBody>
      </p:sp>
      <p:sp>
        <p:nvSpPr>
          <p:cNvPr id="66" name="Text 49"/>
          <p:cNvSpPr txBox="1"/>
          <p:nvPr/>
        </p:nvSpPr>
        <p:spPr>
          <a:xfrm>
            <a:off x="10838383" y="5038344"/>
            <a:ext cx="7827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A. Anderson</a:t>
            </a:r>
            <a:endParaRPr lang="en-US" sz="900" dirty="0"/>
          </a:p>
        </p:txBody>
      </p:sp>
      <p:sp>
        <p:nvSpPr>
          <p:cNvPr id="67" name="Text 50"/>
          <p:cNvSpPr txBox="1"/>
          <p:nvPr/>
        </p:nvSpPr>
        <p:spPr>
          <a:xfrm>
            <a:off x="9458554" y="5266944"/>
            <a:ext cx="4389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Entity:</a:t>
            </a:r>
            <a:endParaRPr lang="en-US" sz="900" dirty="0"/>
          </a:p>
        </p:txBody>
      </p:sp>
      <p:sp>
        <p:nvSpPr>
          <p:cNvPr id="68" name="Text 51"/>
          <p:cNvSpPr txBox="1"/>
          <p:nvPr/>
        </p:nvSpPr>
        <p:spPr>
          <a:xfrm>
            <a:off x="10799978" y="5266944"/>
            <a:ext cx="8193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Omega Corp</a:t>
            </a:r>
            <a:endParaRPr lang="en-US" sz="900" dirty="0"/>
          </a:p>
        </p:txBody>
      </p:sp>
      <p:sp>
        <p:nvSpPr>
          <p:cNvPr id="69" name="Text 52"/>
          <p:cNvSpPr txBox="1"/>
          <p:nvPr/>
        </p:nvSpPr>
        <p:spPr>
          <a:xfrm>
            <a:off x="9458554" y="5495544"/>
            <a:ext cx="4005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Issue:</a:t>
            </a:r>
            <a:endParaRPr lang="en-US" sz="900" dirty="0"/>
          </a:p>
        </p:txBody>
      </p:sp>
      <p:sp>
        <p:nvSpPr>
          <p:cNvPr id="70" name="Text 53"/>
          <p:cNvSpPr txBox="1"/>
          <p:nvPr/>
        </p:nvSpPr>
        <p:spPr>
          <a:xfrm>
            <a:off x="10517429" y="5495544"/>
            <a:ext cx="120700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Acct. Fraud Probe</a:t>
            </a:r>
            <a:endParaRPr lang="en-US" sz="900" dirty="0"/>
          </a:p>
        </p:txBody>
      </p:sp>
      <p:sp>
        <p:nvSpPr>
          <p:cNvPr id="71" name="Shape 54"/>
          <p:cNvSpPr/>
          <p:nvPr/>
        </p:nvSpPr>
        <p:spPr>
          <a:xfrm>
            <a:off x="9458554" y="5724144"/>
            <a:ext cx="2076602" cy="9144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>
                <a:alpha val="0"/>
              </a:srgbClr>
            </a:solidFill>
            <a:prstDash val="solid"/>
          </a:ln>
        </p:spPr>
      </p:sp>
      <p:sp>
        <p:nvSpPr>
          <p:cNvPr id="72" name="Text 55"/>
          <p:cNvSpPr txBox="1"/>
          <p:nvPr/>
        </p:nvSpPr>
        <p:spPr>
          <a:xfrm>
            <a:off x="9416491" y="5810098"/>
            <a:ext cx="215981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RECOMMENDATION: REVIEW</a:t>
            </a:r>
            <a:endParaRPr lang="en-US" sz="900" dirty="0"/>
          </a:p>
        </p:txBody>
      </p:sp>
      <p:pic>
        <p:nvPicPr>
          <p:cNvPr id="7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52444" y="2343607"/>
            <a:ext cx="267005" cy="267005"/>
          </a:xfrm>
          <a:prstGeom prst="rect">
            <a:avLst/>
          </a:prstGeom>
        </p:spPr>
      </p:pic>
      <p:sp>
        <p:nvSpPr>
          <p:cNvPr id="74" name="Text 56"/>
          <p:cNvSpPr/>
          <p:nvPr/>
        </p:nvSpPr>
        <p:spPr>
          <a:xfrm>
            <a:off x="3552444" y="2343607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B1E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pic>
        <p:nvPicPr>
          <p:cNvPr id="7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44254" y="2343607"/>
            <a:ext cx="267005" cy="267005"/>
          </a:xfrm>
          <a:prstGeom prst="rect">
            <a:avLst/>
          </a:prstGeom>
        </p:spPr>
      </p:pic>
      <p:sp>
        <p:nvSpPr>
          <p:cNvPr id="76" name="Text 57"/>
          <p:cNvSpPr/>
          <p:nvPr/>
        </p:nvSpPr>
        <p:spPr>
          <a:xfrm>
            <a:off x="9344254" y="2343607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B1E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pic>
        <p:nvPicPr>
          <p:cNvPr id="7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66844" y="4315054"/>
            <a:ext cx="267005" cy="267005"/>
          </a:xfrm>
          <a:prstGeom prst="rect">
            <a:avLst/>
          </a:prstGeom>
        </p:spPr>
      </p:pic>
      <p:sp>
        <p:nvSpPr>
          <p:cNvPr id="78" name="Text 58"/>
          <p:cNvSpPr/>
          <p:nvPr/>
        </p:nvSpPr>
        <p:spPr>
          <a:xfrm>
            <a:off x="4466844" y="4315054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B1E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100035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0" y="991210"/>
            <a:ext cx="121916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81305" y="304495"/>
            <a:ext cx="57634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 6 - Temporal Check (2 Hops)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381305" y="495605"/>
            <a:ext cx="63349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56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Timeline Reconstruction for Compliance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0376611" y="418795"/>
            <a:ext cx="14383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376611" y="685800"/>
            <a:ext cx="14383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18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9487814" y="1228954"/>
            <a:ext cx="9144" cy="540044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81305" y="1228954"/>
            <a:ext cx="8876995" cy="685800"/>
          </a:xfrm>
          <a:prstGeom prst="roundRect">
            <a:avLst>
              <a:gd name="adj" fmla="val 7407"/>
            </a:avLst>
          </a:prstGeom>
          <a:solidFill>
            <a:srgbClr val="1E40AF">
              <a:alpha val="4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381305" y="1228954"/>
            <a:ext cx="19202" cy="685800"/>
          </a:xfrm>
          <a:prstGeom prst="roundRect">
            <a:avLst>
              <a:gd name="adj" fmla="val 264556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14807" y="1343254"/>
            <a:ext cx="87444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Compliance Query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14807" y="1609344"/>
            <a:ext cx="8744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"Did the CEO's stock sales occur before or after the announcement of the DOJ investigation?"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81305" y="2060143"/>
            <a:ext cx="8876995" cy="514807"/>
          </a:xfrm>
          <a:prstGeom prst="roundRect">
            <a:avLst>
              <a:gd name="adj" fmla="val 1315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2164385"/>
            <a:ext cx="190195" cy="19019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66344" y="2164385"/>
            <a:ext cx="191110" cy="1911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D4E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733349" y="2145182"/>
            <a:ext cx="40105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Hop 1: Event Anchor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733349" y="2297887"/>
            <a:ext cx="45820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date of "DOJ investigation announcement"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81305" y="2688336"/>
            <a:ext cx="8876995" cy="514807"/>
          </a:xfrm>
          <a:prstGeom prst="roundRect">
            <a:avLst>
              <a:gd name="adj" fmla="val 1315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2793492"/>
            <a:ext cx="190195" cy="19019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66344" y="2793492"/>
            <a:ext cx="191110" cy="1911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D4E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733349" y="2774290"/>
            <a:ext cx="40773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Hop 2: Transaction Check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733349" y="2926994"/>
            <a:ext cx="46488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Retrieve dates of "CEO stock sales" from SEC Form 4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381305" y="5905195"/>
            <a:ext cx="8876995" cy="724205"/>
          </a:xfrm>
          <a:prstGeom prst="roundRect">
            <a:avLst>
              <a:gd name="adj" fmla="val 6645"/>
            </a:avLst>
          </a:prstGeom>
          <a:solidFill>
            <a:srgbClr val="7F1D1D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4749" y="6086246"/>
            <a:ext cx="114300" cy="1143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76656" y="6029554"/>
            <a:ext cx="1467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504749" y="6295644"/>
            <a:ext cx="93159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Precise sequencing identifies potential insider trading flags critical for regulatory reporting and litigation defense.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9723730" y="1228954"/>
            <a:ext cx="19202" cy="5400446"/>
          </a:xfrm>
          <a:prstGeom prst="roundRect">
            <a:avLst>
              <a:gd name="adj" fmla="val 4762004"/>
            </a:avLst>
          </a:prstGeom>
          <a:solidFill>
            <a:srgbClr val="111827">
              <a:alpha val="40000"/>
            </a:srgb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11673230" y="3774643"/>
            <a:ext cx="2478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 01</a:t>
            </a:r>
            <a:endParaRPr lang="en-US" sz="8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2083" b="-2083"/>
          <a:stretch/>
        </p:blipFill>
        <p:spPr>
          <a:xfrm>
            <a:off x="9731959" y="3660343"/>
            <a:ext cx="9144" cy="11430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0554005" y="3757270"/>
            <a:ext cx="2478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 30</a:t>
            </a:r>
            <a:endParaRPr lang="en-US" sz="8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35" b="-35"/>
          <a:stretch/>
        </p:blipFill>
        <p:spPr>
          <a:xfrm>
            <a:off x="9687154" y="6016752"/>
            <a:ext cx="2447849" cy="629107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9886493" y="6016752"/>
            <a:ext cx="848563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Analysis Result: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10784434" y="6016752"/>
            <a:ext cx="981151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Sales preceded announcement by </a:t>
            </a:r>
            <a:pPr algn="l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48 hours</a:t>
            </a:r>
            <a:endParaRPr lang="en-US" sz="90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1820449" y="6273698"/>
            <a:ext cx="114300" cy="1143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0961827" y="6407201"/>
            <a:ext cx="6099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48 hours</a:t>
            </a:r>
            <a:endParaRPr lang="en-US" sz="900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2083" b="-2083"/>
          <a:stretch/>
        </p:blipFill>
        <p:spPr>
          <a:xfrm>
            <a:off x="11206886" y="3399739"/>
            <a:ext cx="9144" cy="571500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11248949" y="4081882"/>
            <a:ext cx="133502" cy="133502"/>
          </a:xfrm>
          <a:prstGeom prst="ellipse">
            <a:avLst/>
          </a:prstGeom>
          <a:solidFill>
            <a:srgbClr val="0B1E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Shape 31"/>
          <p:cNvSpPr/>
          <p:nvPr/>
        </p:nvSpPr>
        <p:spPr>
          <a:xfrm>
            <a:off x="10131552" y="1955902"/>
            <a:ext cx="1904695" cy="1410005"/>
          </a:xfrm>
          <a:prstGeom prst="roundRect">
            <a:avLst>
              <a:gd name="adj" fmla="val 2629"/>
            </a:avLst>
          </a:prstGeom>
          <a:solidFill>
            <a:srgbClr val="0B1E3D">
              <a:alpha val="95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0" dist="38100" dir="16200000">
              <a:srgbClr val="000000">
                <a:alpha val="50000"/>
              </a:srgbClr>
            </a:outerShdw>
          </a:effectLst>
        </p:spPr>
      </p:sp>
      <p:sp>
        <p:nvSpPr>
          <p:cNvPr id="42" name="Shape 32"/>
          <p:cNvSpPr/>
          <p:nvPr/>
        </p:nvSpPr>
        <p:spPr>
          <a:xfrm>
            <a:off x="10235794" y="2328062"/>
            <a:ext cx="1695298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43" name="Text 33"/>
          <p:cNvSpPr txBox="1"/>
          <p:nvPr/>
        </p:nvSpPr>
        <p:spPr>
          <a:xfrm>
            <a:off x="10235794" y="2061058"/>
            <a:ext cx="6483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 10</a:t>
            </a:r>
            <a:endParaRPr lang="en-US" sz="1200" dirty="0"/>
          </a:p>
        </p:txBody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rcRect l="-1911" r="-1911" t="0" b="0"/>
          <a:stretch/>
        </p:blipFill>
        <p:spPr>
          <a:xfrm>
            <a:off x="11798503" y="2118665"/>
            <a:ext cx="133502" cy="114300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10235794" y="2375611"/>
            <a:ext cx="17721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CEO Stock Sale</a:t>
            </a:r>
            <a:endParaRPr lang="en-US" sz="900" dirty="0"/>
          </a:p>
        </p:txBody>
      </p:sp>
      <p:sp>
        <p:nvSpPr>
          <p:cNvPr id="46" name="Text 35"/>
          <p:cNvSpPr txBox="1"/>
          <p:nvPr/>
        </p:nvSpPr>
        <p:spPr>
          <a:xfrm>
            <a:off x="10235794" y="2537460"/>
            <a:ext cx="1763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Sold 50k shares @ $142</a:t>
            </a:r>
            <a:endParaRPr lang="en-US" sz="1200" dirty="0"/>
          </a:p>
        </p:txBody>
      </p:sp>
      <p:sp>
        <p:nvSpPr>
          <p:cNvPr id="47" name="Text 36"/>
          <p:cNvSpPr txBox="1"/>
          <p:nvPr/>
        </p:nvSpPr>
        <p:spPr>
          <a:xfrm>
            <a:off x="10388498" y="3033065"/>
            <a:ext cx="1619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SEC Form 4</a:t>
            </a:r>
            <a:endParaRPr lang="en-US" sz="1200" dirty="0"/>
          </a:p>
        </p:txBody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00" b="-100"/>
          <a:stretch/>
        </p:blipFill>
        <p:spPr>
          <a:xfrm>
            <a:off x="10235794" y="3070555"/>
            <a:ext cx="114300" cy="152705"/>
          </a:xfrm>
          <a:prstGeom prst="rect">
            <a:avLst/>
          </a:prstGeom>
        </p:spPr>
      </p:pic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2127" b="-2127"/>
          <a:stretch/>
        </p:blipFill>
        <p:spPr>
          <a:xfrm>
            <a:off x="11300155" y="4233672"/>
            <a:ext cx="9144" cy="381305"/>
          </a:xfrm>
          <a:prstGeom prst="rect">
            <a:avLst/>
          </a:prstGeom>
        </p:spPr>
      </p:pic>
      <p:sp>
        <p:nvSpPr>
          <p:cNvPr id="50" name="Shape 37"/>
          <p:cNvSpPr/>
          <p:nvPr/>
        </p:nvSpPr>
        <p:spPr>
          <a:xfrm>
            <a:off x="11190427" y="4013302"/>
            <a:ext cx="133502" cy="133502"/>
          </a:xfrm>
          <a:prstGeom prst="ellipse">
            <a:avLst/>
          </a:prstGeom>
          <a:solidFill>
            <a:srgbClr val="0B1E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1" name="Shape 38"/>
          <p:cNvSpPr/>
          <p:nvPr/>
        </p:nvSpPr>
        <p:spPr>
          <a:xfrm>
            <a:off x="10275113" y="4539082"/>
            <a:ext cx="1904695" cy="1410005"/>
          </a:xfrm>
          <a:prstGeom prst="roundRect">
            <a:avLst>
              <a:gd name="adj" fmla="val 2629"/>
            </a:avLst>
          </a:prstGeom>
          <a:solidFill>
            <a:srgbClr val="0B1E3D">
              <a:alpha val="95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0" dist="38100" dir="16200000">
              <a:srgbClr val="000000">
                <a:alpha val="50000"/>
              </a:srgbClr>
            </a:outerShdw>
          </a:effectLst>
        </p:spPr>
      </p:sp>
      <p:sp>
        <p:nvSpPr>
          <p:cNvPr id="52" name="Shape 39"/>
          <p:cNvSpPr/>
          <p:nvPr/>
        </p:nvSpPr>
        <p:spPr>
          <a:xfrm>
            <a:off x="10380269" y="4910328"/>
            <a:ext cx="1695298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53" name="Text 40"/>
          <p:cNvSpPr txBox="1"/>
          <p:nvPr/>
        </p:nvSpPr>
        <p:spPr>
          <a:xfrm>
            <a:off x="10380269" y="4643323"/>
            <a:ext cx="6382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 12</a:t>
            </a:r>
            <a:endParaRPr lang="en-US" sz="1200" dirty="0"/>
          </a:p>
        </p:txBody>
      </p:sp>
      <p:pic>
        <p:nvPicPr>
          <p:cNvPr id="54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11961266" y="4700930"/>
            <a:ext cx="114300" cy="114300"/>
          </a:xfrm>
          <a:prstGeom prst="rect">
            <a:avLst/>
          </a:prstGeom>
        </p:spPr>
      </p:pic>
      <p:sp>
        <p:nvSpPr>
          <p:cNvPr id="55" name="Text 41"/>
          <p:cNvSpPr txBox="1"/>
          <p:nvPr/>
        </p:nvSpPr>
        <p:spPr>
          <a:xfrm>
            <a:off x="10380269" y="4957877"/>
            <a:ext cx="17721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Investigation Public</a:t>
            </a:r>
            <a:endParaRPr lang="en-US" sz="900" dirty="0"/>
          </a:p>
        </p:txBody>
      </p:sp>
      <p:sp>
        <p:nvSpPr>
          <p:cNvPr id="56" name="Text 42"/>
          <p:cNvSpPr txBox="1"/>
          <p:nvPr/>
        </p:nvSpPr>
        <p:spPr>
          <a:xfrm>
            <a:off x="10380269" y="5119726"/>
            <a:ext cx="1763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DOJ announces probe</a:t>
            </a:r>
            <a:endParaRPr lang="en-US" sz="1200" dirty="0"/>
          </a:p>
        </p:txBody>
      </p:sp>
      <p:sp>
        <p:nvSpPr>
          <p:cNvPr id="57" name="Text 43"/>
          <p:cNvSpPr txBox="1"/>
          <p:nvPr/>
        </p:nvSpPr>
        <p:spPr>
          <a:xfrm>
            <a:off x="10570464" y="5615330"/>
            <a:ext cx="15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 Newswire</a:t>
            </a:r>
            <a:endParaRPr lang="en-US" sz="1200" dirty="0"/>
          </a:p>
        </p:txBody>
      </p:sp>
      <p:pic>
        <p:nvPicPr>
          <p:cNvPr id="58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10380269" y="5652821"/>
            <a:ext cx="152705" cy="152705"/>
          </a:xfrm>
          <a:prstGeom prst="rect">
            <a:avLst/>
          </a:prstGeom>
        </p:spPr>
      </p:pic>
      <p:sp>
        <p:nvSpPr>
          <p:cNvPr id="59" name="Text 44"/>
          <p:cNvSpPr txBox="1"/>
          <p:nvPr/>
        </p:nvSpPr>
        <p:spPr>
          <a:xfrm>
            <a:off x="9885578" y="1390802"/>
            <a:ext cx="16943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Reconstructed Sequence</a:t>
            </a:r>
            <a:endParaRPr lang="en-US" sz="1200" dirty="0"/>
          </a:p>
        </p:txBody>
      </p:sp>
      <p:pic>
        <p:nvPicPr>
          <p:cNvPr id="60" name="Image 13" descr="preencoded.png">    </p:cNvPr>
          <p:cNvPicPr>
            <a:picLocks noChangeAspect="1"/>
          </p:cNvPicPr>
          <p:nvPr/>
        </p:nvPicPr>
        <p:blipFill>
          <a:blip r:embed="rId14"/>
          <a:srcRect l="-6" r="-6" t="0" b="0"/>
          <a:stretch/>
        </p:blipFill>
        <p:spPr>
          <a:xfrm>
            <a:off x="9210751" y="3726180"/>
            <a:ext cx="1217066" cy="552298"/>
          </a:xfrm>
          <a:prstGeom prst="rect">
            <a:avLst/>
          </a:prstGeom>
        </p:spPr>
      </p:pic>
      <p:sp>
        <p:nvSpPr>
          <p:cNvPr id="61" name="Text 45"/>
          <p:cNvSpPr txBox="1"/>
          <p:nvPr/>
        </p:nvSpPr>
        <p:spPr>
          <a:xfrm>
            <a:off x="9486900" y="3773729"/>
            <a:ext cx="9153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A5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RED FLAG DETECTED </a:t>
            </a:r>
            <a:endParaRPr lang="en-US" sz="1200" dirty="0"/>
          </a:p>
        </p:txBody>
      </p:sp>
      <p:pic>
        <p:nvPicPr>
          <p:cNvPr id="62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43" b="-43"/>
          <a:stretch/>
        </p:blipFill>
        <p:spPr>
          <a:xfrm>
            <a:off x="9296705" y="3925519"/>
            <a:ext cx="133502" cy="15270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1076249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0" y="1067105"/>
            <a:ext cx="121916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04495"/>
            <a:ext cx="40581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Reasoning Typology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571500"/>
            <a:ext cx="46296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56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Three Patterns of Multi-Hop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0299802" y="457200"/>
            <a:ext cx="14383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299802" y="724205"/>
            <a:ext cx="1438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19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304849"/>
            <a:ext cx="3610051" cy="5324551"/>
          </a:xfrm>
          <a:prstGeom prst="roundRect">
            <a:avLst>
              <a:gd name="adj" fmla="val 80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304849"/>
            <a:ext cx="3610051" cy="38405"/>
          </a:xfrm>
          <a:prstGeom prst="roundRect">
            <a:avLst>
              <a:gd name="adj" fmla="val 75386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8251" y="1514246"/>
            <a:ext cx="457200" cy="45720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7979" y="1647749"/>
            <a:ext cx="237744" cy="190195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3998" y="1514246"/>
            <a:ext cx="1162202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723998" y="1514246"/>
            <a:ext cx="1162202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" kern="0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Pattern 01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638251" y="2162556"/>
            <a:ext cx="33631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Causal Chain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638251" y="2447849"/>
            <a:ext cx="3363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" kern="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Supply Chain Contagion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38251" y="2829154"/>
            <a:ext cx="3247949" cy="743407"/>
          </a:xfrm>
          <a:prstGeom prst="roundRect">
            <a:avLst>
              <a:gd name="adj" fmla="val 12616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20" name="Shape 14"/>
          <p:cNvSpPr/>
          <p:nvPr/>
        </p:nvSpPr>
        <p:spPr>
          <a:xfrm>
            <a:off x="638251" y="2829154"/>
            <a:ext cx="19202" cy="743407"/>
          </a:xfrm>
          <a:prstGeom prst="roundRect">
            <a:avLst>
              <a:gd name="adj" fmla="val 488411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52551" y="2924251"/>
            <a:ext cx="3152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752551" y="3191256"/>
            <a:ext cx="31153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"Which Apple supplier is most vulnerable to the Taiwan drought?"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437998" y="4888382"/>
            <a:ext cx="9144" cy="132222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446" y="4774082"/>
            <a:ext cx="3057754" cy="4663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28446" y="4774082"/>
            <a:ext cx="3057754" cy="46725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1: Entity List Retrieve list of Apple suppliers</a:t>
            </a:r>
            <a:endParaRPr lang="en-US" sz="800" dirty="0"/>
          </a:p>
        </p:txBody>
      </p:sp>
      <p:sp>
        <p:nvSpPr>
          <p:cNvPr id="26" name="Shape 19"/>
          <p:cNvSpPr/>
          <p:nvPr/>
        </p:nvSpPr>
        <p:spPr>
          <a:xfrm>
            <a:off x="599846" y="4996282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933602" y="4860036"/>
            <a:ext cx="29626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1: Entity List</a:t>
            </a:r>
            <a:endParaRPr lang="en-US" sz="8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446" y="5331866"/>
            <a:ext cx="3057754" cy="46634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28446" y="5331866"/>
            <a:ext cx="3057754" cy="46725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2: Location Mapping Map factory locations for each</a:t>
            </a:r>
            <a:endParaRPr lang="en-US" sz="800" dirty="0"/>
          </a:p>
        </p:txBody>
      </p:sp>
      <p:sp>
        <p:nvSpPr>
          <p:cNvPr id="30" name="Shape 22"/>
          <p:cNvSpPr/>
          <p:nvPr/>
        </p:nvSpPr>
        <p:spPr>
          <a:xfrm>
            <a:off x="599846" y="5554066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933602" y="5417820"/>
            <a:ext cx="29626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2: Location Mapping</a:t>
            </a:r>
            <a:endParaRPr lang="en-US" sz="8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446" y="5890565"/>
            <a:ext cx="3057754" cy="4663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28446" y="5890565"/>
            <a:ext cx="3057754" cy="46725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3: Event Overlay Cross-reference with drought zones</a:t>
            </a:r>
            <a:endParaRPr lang="en-US" sz="800" dirty="0"/>
          </a:p>
        </p:txBody>
      </p:sp>
      <p:sp>
        <p:nvSpPr>
          <p:cNvPr id="34" name="Shape 25"/>
          <p:cNvSpPr/>
          <p:nvPr/>
        </p:nvSpPr>
        <p:spPr>
          <a:xfrm>
            <a:off x="599846" y="6111850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6"/>
          <p:cNvSpPr txBox="1"/>
          <p:nvPr/>
        </p:nvSpPr>
        <p:spPr>
          <a:xfrm>
            <a:off x="933602" y="5975604"/>
            <a:ext cx="29626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3: Event Overlay</a:t>
            </a:r>
            <a:endParaRPr lang="en-US" sz="800" dirty="0"/>
          </a:p>
        </p:txBody>
      </p:sp>
      <p:sp>
        <p:nvSpPr>
          <p:cNvPr id="36" name="Shape 27"/>
          <p:cNvSpPr/>
          <p:nvPr/>
        </p:nvSpPr>
        <p:spPr>
          <a:xfrm>
            <a:off x="4292194" y="1304849"/>
            <a:ext cx="3610051" cy="5324551"/>
          </a:xfrm>
          <a:prstGeom prst="roundRect">
            <a:avLst>
              <a:gd name="adj" fmla="val 80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4292194" y="1304849"/>
            <a:ext cx="3610051" cy="38405"/>
          </a:xfrm>
          <a:prstGeom prst="roundRect">
            <a:avLst>
              <a:gd name="adj" fmla="val 75386"/>
            </a:avLst>
          </a:prstGeom>
          <a:solidFill>
            <a:srgbClr val="C5A059"/>
          </a:solidFill>
          <a:ln w="12700">
            <a:solidFill>
              <a:srgbClr val="C5A059">
                <a:alpha val="0"/>
              </a:srgbClr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473245" y="1514246"/>
            <a:ext cx="457200" cy="457200"/>
          </a:xfrm>
          <a:prstGeom prst="rect">
            <a:avLst/>
          </a:prstGeom>
        </p:spPr>
      </p:pic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582973" y="1647749"/>
            <a:ext cx="237744" cy="190195"/>
          </a:xfrm>
          <a:prstGeom prst="rect">
            <a:avLst/>
          </a:prstGeom>
        </p:spPr>
      </p:pic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9730" y="1514246"/>
            <a:ext cx="1190549" cy="22860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6529730" y="1514246"/>
            <a:ext cx="1191463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" kern="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Pattern 02</a:t>
            </a:r>
            <a:endParaRPr lang="en-US" sz="1200" dirty="0"/>
          </a:p>
        </p:txBody>
      </p:sp>
      <p:sp>
        <p:nvSpPr>
          <p:cNvPr id="42" name="Text 30"/>
          <p:cNvSpPr txBox="1"/>
          <p:nvPr/>
        </p:nvSpPr>
        <p:spPr>
          <a:xfrm>
            <a:off x="4473245" y="2162556"/>
            <a:ext cx="33631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Comparative</a:t>
            </a:r>
            <a:endParaRPr lang="en-US" sz="1300" dirty="0"/>
          </a:p>
        </p:txBody>
      </p:sp>
      <p:sp>
        <p:nvSpPr>
          <p:cNvPr id="43" name="Text 31"/>
          <p:cNvSpPr txBox="1"/>
          <p:nvPr/>
        </p:nvSpPr>
        <p:spPr>
          <a:xfrm>
            <a:off x="4473245" y="2447849"/>
            <a:ext cx="3363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Regulatory Arbitrage</a:t>
            </a:r>
            <a:endParaRPr lang="en-US" sz="1200" dirty="0"/>
          </a:p>
        </p:txBody>
      </p:sp>
      <p:sp>
        <p:nvSpPr>
          <p:cNvPr id="44" name="Shape 32"/>
          <p:cNvSpPr/>
          <p:nvPr/>
        </p:nvSpPr>
        <p:spPr>
          <a:xfrm>
            <a:off x="4473245" y="2829154"/>
            <a:ext cx="3247949" cy="599846"/>
          </a:xfrm>
          <a:prstGeom prst="roundRect">
            <a:avLst>
              <a:gd name="adj" fmla="val 19357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45" name="Shape 33"/>
          <p:cNvSpPr/>
          <p:nvPr/>
        </p:nvSpPr>
        <p:spPr>
          <a:xfrm>
            <a:off x="4473245" y="2829154"/>
            <a:ext cx="19202" cy="599846"/>
          </a:xfrm>
          <a:prstGeom prst="roundRect">
            <a:avLst>
              <a:gd name="adj" fmla="val 604699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34"/>
          <p:cNvSpPr txBox="1"/>
          <p:nvPr/>
        </p:nvSpPr>
        <p:spPr>
          <a:xfrm>
            <a:off x="4587545" y="2924251"/>
            <a:ext cx="3152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47" name="Text 35"/>
          <p:cNvSpPr txBox="1"/>
          <p:nvPr/>
        </p:nvSpPr>
        <p:spPr>
          <a:xfrm>
            <a:off x="4587545" y="3191256"/>
            <a:ext cx="360913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"Does the UK or Netherlands offer better IP tax treatment?"</a:t>
            </a:r>
            <a:endParaRPr lang="en-US" sz="900" dirty="0"/>
          </a:p>
        </p:txBody>
      </p:sp>
      <p:sp>
        <p:nvSpPr>
          <p:cNvPr id="48" name="Shape 36"/>
          <p:cNvSpPr/>
          <p:nvPr/>
        </p:nvSpPr>
        <p:spPr>
          <a:xfrm>
            <a:off x="4273906" y="4888382"/>
            <a:ext cx="9144" cy="132222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64354" y="4774082"/>
            <a:ext cx="3057754" cy="466344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4664354" y="4774082"/>
            <a:ext cx="3057754" cy="46725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1: Retrieve A Get UK Patent Box regime details</a:t>
            </a:r>
            <a:endParaRPr lang="en-US" sz="800" dirty="0"/>
          </a:p>
        </p:txBody>
      </p:sp>
      <p:sp>
        <p:nvSpPr>
          <p:cNvPr id="51" name="Shape 38"/>
          <p:cNvSpPr/>
          <p:nvPr/>
        </p:nvSpPr>
        <p:spPr>
          <a:xfrm>
            <a:off x="4435754" y="4996282"/>
            <a:ext cx="57607" cy="57607"/>
          </a:xfrm>
          <a:prstGeom prst="ellipse">
            <a:avLst/>
          </a:prstGeom>
          <a:solidFill>
            <a:srgbClr val="C5A0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39"/>
          <p:cNvSpPr txBox="1"/>
          <p:nvPr/>
        </p:nvSpPr>
        <p:spPr>
          <a:xfrm>
            <a:off x="4768596" y="4860036"/>
            <a:ext cx="29626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1: Retrieve A</a:t>
            </a:r>
            <a:endParaRPr lang="en-US" sz="800" dirty="0"/>
          </a:p>
        </p:txBody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64354" y="5331866"/>
            <a:ext cx="3057754" cy="466344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4664354" y="5331866"/>
            <a:ext cx="3057754" cy="46725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2: Retrieve B Get NL Innovation Box details</a:t>
            </a:r>
            <a:endParaRPr lang="en-US" sz="800" dirty="0"/>
          </a:p>
        </p:txBody>
      </p:sp>
      <p:sp>
        <p:nvSpPr>
          <p:cNvPr id="55" name="Shape 41"/>
          <p:cNvSpPr/>
          <p:nvPr/>
        </p:nvSpPr>
        <p:spPr>
          <a:xfrm>
            <a:off x="4435754" y="5554066"/>
            <a:ext cx="57607" cy="57607"/>
          </a:xfrm>
          <a:prstGeom prst="ellipse">
            <a:avLst/>
          </a:prstGeom>
          <a:solidFill>
            <a:srgbClr val="C5A0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42"/>
          <p:cNvSpPr txBox="1"/>
          <p:nvPr/>
        </p:nvSpPr>
        <p:spPr>
          <a:xfrm>
            <a:off x="4768596" y="5417820"/>
            <a:ext cx="29626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2: Retrieve B</a:t>
            </a:r>
            <a:endParaRPr lang="en-US" sz="800" dirty="0"/>
          </a:p>
        </p:txBody>
      </p:sp>
      <p:pic>
        <p:nvPicPr>
          <p:cNvPr id="5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64354" y="5890565"/>
            <a:ext cx="3057754" cy="466344"/>
          </a:xfrm>
          <a:prstGeom prst="rect">
            <a:avLst/>
          </a:prstGeom>
        </p:spPr>
      </p:pic>
      <p:sp>
        <p:nvSpPr>
          <p:cNvPr id="58" name="Text 43"/>
          <p:cNvSpPr/>
          <p:nvPr/>
        </p:nvSpPr>
        <p:spPr>
          <a:xfrm>
            <a:off x="4664354" y="5890565"/>
            <a:ext cx="3057754" cy="46725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3: Synthesis Compare qualifying criteria &amp; rates</a:t>
            </a:r>
            <a:endParaRPr lang="en-US" sz="800" dirty="0"/>
          </a:p>
        </p:txBody>
      </p:sp>
      <p:sp>
        <p:nvSpPr>
          <p:cNvPr id="59" name="Shape 44"/>
          <p:cNvSpPr/>
          <p:nvPr/>
        </p:nvSpPr>
        <p:spPr>
          <a:xfrm>
            <a:off x="4435754" y="6111850"/>
            <a:ext cx="57607" cy="57607"/>
          </a:xfrm>
          <a:prstGeom prst="ellipse">
            <a:avLst/>
          </a:prstGeom>
          <a:solidFill>
            <a:srgbClr val="C5A0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45"/>
          <p:cNvSpPr txBox="1"/>
          <p:nvPr/>
        </p:nvSpPr>
        <p:spPr>
          <a:xfrm>
            <a:off x="4768596" y="5975604"/>
            <a:ext cx="29626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3: Synthesis</a:t>
            </a:r>
            <a:endParaRPr lang="en-US" sz="800" dirty="0"/>
          </a:p>
        </p:txBody>
      </p:sp>
      <p:sp>
        <p:nvSpPr>
          <p:cNvPr id="61" name="Shape 46"/>
          <p:cNvSpPr/>
          <p:nvPr/>
        </p:nvSpPr>
        <p:spPr>
          <a:xfrm>
            <a:off x="8128102" y="1304849"/>
            <a:ext cx="3610051" cy="5324551"/>
          </a:xfrm>
          <a:prstGeom prst="roundRect">
            <a:avLst>
              <a:gd name="adj" fmla="val 80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2" name="Shape 47"/>
          <p:cNvSpPr/>
          <p:nvPr/>
        </p:nvSpPr>
        <p:spPr>
          <a:xfrm>
            <a:off x="8128102" y="1304849"/>
            <a:ext cx="3610051" cy="38405"/>
          </a:xfrm>
          <a:prstGeom prst="roundRect">
            <a:avLst>
              <a:gd name="adj" fmla="val 75386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pic>
        <p:nvPicPr>
          <p:cNvPr id="63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8309153" y="1514246"/>
            <a:ext cx="457200" cy="457200"/>
          </a:xfrm>
          <a:prstGeom prst="rect">
            <a:avLst/>
          </a:prstGeom>
        </p:spPr>
      </p:pic>
      <p:pic>
        <p:nvPicPr>
          <p:cNvPr id="64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8442655" y="1647749"/>
            <a:ext cx="190195" cy="190195"/>
          </a:xfrm>
          <a:prstGeom prst="rect">
            <a:avLst/>
          </a:prstGeom>
        </p:spPr>
      </p:pic>
      <p:pic>
        <p:nvPicPr>
          <p:cNvPr id="6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365638" y="1514246"/>
            <a:ext cx="1190549" cy="228600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10365638" y="1514246"/>
            <a:ext cx="1191463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0B98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" kern="0" dirty="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Pattern 03</a:t>
            </a:r>
            <a:endParaRPr lang="en-US" sz="1200" dirty="0"/>
          </a:p>
        </p:txBody>
      </p:sp>
      <p:sp>
        <p:nvSpPr>
          <p:cNvPr id="67" name="Text 49"/>
          <p:cNvSpPr txBox="1"/>
          <p:nvPr/>
        </p:nvSpPr>
        <p:spPr>
          <a:xfrm>
            <a:off x="8309153" y="2162556"/>
            <a:ext cx="33631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Timeline Check</a:t>
            </a:r>
            <a:endParaRPr lang="en-US" sz="1300" dirty="0"/>
          </a:p>
        </p:txBody>
      </p:sp>
      <p:sp>
        <p:nvSpPr>
          <p:cNvPr id="68" name="Text 50"/>
          <p:cNvSpPr txBox="1"/>
          <p:nvPr/>
        </p:nvSpPr>
        <p:spPr>
          <a:xfrm>
            <a:off x="8309153" y="2447849"/>
            <a:ext cx="3363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" kern="0" dirty="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Temporal Sequence</a:t>
            </a:r>
            <a:endParaRPr lang="en-US" sz="1200" dirty="0"/>
          </a:p>
        </p:txBody>
      </p:sp>
      <p:sp>
        <p:nvSpPr>
          <p:cNvPr id="69" name="Shape 51"/>
          <p:cNvSpPr/>
          <p:nvPr/>
        </p:nvSpPr>
        <p:spPr>
          <a:xfrm>
            <a:off x="8309153" y="2829154"/>
            <a:ext cx="3247949" cy="599846"/>
          </a:xfrm>
          <a:prstGeom prst="roundRect">
            <a:avLst>
              <a:gd name="adj" fmla="val 19357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70" name="Shape 52"/>
          <p:cNvSpPr/>
          <p:nvPr/>
        </p:nvSpPr>
        <p:spPr>
          <a:xfrm>
            <a:off x="8309153" y="2829154"/>
            <a:ext cx="19202" cy="599846"/>
          </a:xfrm>
          <a:prstGeom prst="roundRect">
            <a:avLst>
              <a:gd name="adj" fmla="val 604699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Text 53"/>
          <p:cNvSpPr txBox="1"/>
          <p:nvPr/>
        </p:nvSpPr>
        <p:spPr>
          <a:xfrm>
            <a:off x="8423453" y="2924251"/>
            <a:ext cx="3152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72" name="Text 54"/>
          <p:cNvSpPr txBox="1"/>
          <p:nvPr/>
        </p:nvSpPr>
        <p:spPr>
          <a:xfrm>
            <a:off x="8423453" y="3191256"/>
            <a:ext cx="360913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"Did CEO sales precede the investigation announcement?"</a:t>
            </a:r>
            <a:endParaRPr lang="en-US" sz="900" dirty="0"/>
          </a:p>
        </p:txBody>
      </p:sp>
      <p:sp>
        <p:nvSpPr>
          <p:cNvPr id="73" name="Shape 55"/>
          <p:cNvSpPr/>
          <p:nvPr/>
        </p:nvSpPr>
        <p:spPr>
          <a:xfrm>
            <a:off x="8108899" y="4888382"/>
            <a:ext cx="9144" cy="132222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99348" y="4774082"/>
            <a:ext cx="3057754" cy="466344"/>
          </a:xfrm>
          <a:prstGeom prst="rect">
            <a:avLst/>
          </a:prstGeom>
        </p:spPr>
      </p:pic>
      <p:sp>
        <p:nvSpPr>
          <p:cNvPr id="75" name="Text 56"/>
          <p:cNvSpPr/>
          <p:nvPr/>
        </p:nvSpPr>
        <p:spPr>
          <a:xfrm>
            <a:off x="8499348" y="4774082"/>
            <a:ext cx="3057754" cy="46725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1: Anchor Event Find date of investigation news</a:t>
            </a:r>
            <a:endParaRPr lang="en-US" sz="800" dirty="0"/>
          </a:p>
        </p:txBody>
      </p:sp>
      <p:sp>
        <p:nvSpPr>
          <p:cNvPr id="76" name="Shape 57"/>
          <p:cNvSpPr/>
          <p:nvPr/>
        </p:nvSpPr>
        <p:spPr>
          <a:xfrm>
            <a:off x="8270748" y="4996282"/>
            <a:ext cx="57607" cy="57607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Text 58"/>
          <p:cNvSpPr txBox="1"/>
          <p:nvPr/>
        </p:nvSpPr>
        <p:spPr>
          <a:xfrm>
            <a:off x="8604504" y="4860036"/>
            <a:ext cx="29626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1: Anchor Event</a:t>
            </a:r>
            <a:endParaRPr lang="en-US" sz="800" dirty="0"/>
          </a:p>
        </p:txBody>
      </p:sp>
      <p:pic>
        <p:nvPicPr>
          <p:cNvPr id="7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99348" y="5331866"/>
            <a:ext cx="3057754" cy="466344"/>
          </a:xfrm>
          <a:prstGeom prst="rect">
            <a:avLst/>
          </a:prstGeom>
        </p:spPr>
      </p:pic>
      <p:sp>
        <p:nvSpPr>
          <p:cNvPr id="79" name="Text 59"/>
          <p:cNvSpPr/>
          <p:nvPr/>
        </p:nvSpPr>
        <p:spPr>
          <a:xfrm>
            <a:off x="8499348" y="5331866"/>
            <a:ext cx="3057754" cy="46725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2: Target Event Find dates of stock transactions</a:t>
            </a:r>
            <a:endParaRPr lang="en-US" sz="800" dirty="0"/>
          </a:p>
        </p:txBody>
      </p:sp>
      <p:sp>
        <p:nvSpPr>
          <p:cNvPr id="80" name="Shape 60"/>
          <p:cNvSpPr/>
          <p:nvPr/>
        </p:nvSpPr>
        <p:spPr>
          <a:xfrm>
            <a:off x="8270748" y="5554066"/>
            <a:ext cx="57607" cy="57607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Text 61"/>
          <p:cNvSpPr txBox="1"/>
          <p:nvPr/>
        </p:nvSpPr>
        <p:spPr>
          <a:xfrm>
            <a:off x="8604504" y="5417820"/>
            <a:ext cx="29626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2: Target Event</a:t>
            </a:r>
            <a:endParaRPr lang="en-US" sz="800" dirty="0"/>
          </a:p>
        </p:txBody>
      </p:sp>
      <p:pic>
        <p:nvPicPr>
          <p:cNvPr id="8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99348" y="5890565"/>
            <a:ext cx="3057754" cy="466344"/>
          </a:xfrm>
          <a:prstGeom prst="rect">
            <a:avLst/>
          </a:prstGeom>
        </p:spPr>
      </p:pic>
      <p:sp>
        <p:nvSpPr>
          <p:cNvPr id="83" name="Text 62"/>
          <p:cNvSpPr/>
          <p:nvPr/>
        </p:nvSpPr>
        <p:spPr>
          <a:xfrm>
            <a:off x="8499348" y="5890565"/>
            <a:ext cx="3057754" cy="46725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3: Sequencing Compare timestamps (Delta calculation)</a:t>
            </a:r>
            <a:endParaRPr lang="en-US" sz="800" dirty="0"/>
          </a:p>
        </p:txBody>
      </p:sp>
      <p:sp>
        <p:nvSpPr>
          <p:cNvPr id="84" name="Shape 63"/>
          <p:cNvSpPr/>
          <p:nvPr/>
        </p:nvSpPr>
        <p:spPr>
          <a:xfrm>
            <a:off x="8270748" y="6111850"/>
            <a:ext cx="57607" cy="57607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Text 64"/>
          <p:cNvSpPr txBox="1"/>
          <p:nvPr/>
        </p:nvSpPr>
        <p:spPr>
          <a:xfrm>
            <a:off x="8604504" y="5975604"/>
            <a:ext cx="29626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3: Sequencing</a:t>
            </a:r>
            <a:endParaRPr lang="en-US" sz="800" dirty="0"/>
          </a:p>
        </p:txBody>
      </p:sp>
      <p:pic>
        <p:nvPicPr>
          <p:cNvPr id="86" name="Image 19" descr="preencoded.png">    </p:cNvPr>
          <p:cNvPicPr>
            <a:picLocks noChangeAspect="1"/>
          </p:cNvPicPr>
          <p:nvPr/>
        </p:nvPicPr>
        <p:blipFill>
          <a:blip r:embed="rId20"/>
          <a:srcRect l="-603" r="-603" t="0" b="0"/>
          <a:stretch/>
        </p:blipFill>
        <p:spPr>
          <a:xfrm>
            <a:off x="409651" y="5136185"/>
            <a:ext cx="57607" cy="75895"/>
          </a:xfrm>
          <a:prstGeom prst="rect">
            <a:avLst/>
          </a:prstGeom>
        </p:spPr>
      </p:pic>
      <p:pic>
        <p:nvPicPr>
          <p:cNvPr id="87" name="Image 20" descr="preencoded.png">    </p:cNvPr>
          <p:cNvPicPr>
            <a:picLocks noChangeAspect="1"/>
          </p:cNvPicPr>
          <p:nvPr/>
        </p:nvPicPr>
        <p:blipFill>
          <a:blip r:embed="rId21"/>
          <a:srcRect l="-603" r="-603" t="0" b="0"/>
          <a:stretch/>
        </p:blipFill>
        <p:spPr>
          <a:xfrm>
            <a:off x="409651" y="5707685"/>
            <a:ext cx="57607" cy="75895"/>
          </a:xfrm>
          <a:prstGeom prst="rect">
            <a:avLst/>
          </a:prstGeom>
        </p:spPr>
      </p:pic>
      <p:pic>
        <p:nvPicPr>
          <p:cNvPr id="88" name="Image 21" descr="preencoded.png">    </p:cNvPr>
          <p:cNvPicPr>
            <a:picLocks noChangeAspect="1"/>
          </p:cNvPicPr>
          <p:nvPr/>
        </p:nvPicPr>
        <p:blipFill>
          <a:blip r:embed="rId22"/>
          <a:srcRect l="-603" r="-603" t="0" b="0"/>
          <a:stretch/>
        </p:blipFill>
        <p:spPr>
          <a:xfrm>
            <a:off x="4244645" y="5136185"/>
            <a:ext cx="57607" cy="75895"/>
          </a:xfrm>
          <a:prstGeom prst="rect">
            <a:avLst/>
          </a:prstGeom>
        </p:spPr>
      </p:pic>
      <p:pic>
        <p:nvPicPr>
          <p:cNvPr id="89" name="Image 22" descr="preencoded.png">    </p:cNvPr>
          <p:cNvPicPr>
            <a:picLocks noChangeAspect="1"/>
          </p:cNvPicPr>
          <p:nvPr/>
        </p:nvPicPr>
        <p:blipFill>
          <a:blip r:embed="rId23"/>
          <a:srcRect l="-603" r="-603" t="0" b="0"/>
          <a:stretch/>
        </p:blipFill>
        <p:spPr>
          <a:xfrm>
            <a:off x="4244645" y="5707685"/>
            <a:ext cx="57607" cy="75895"/>
          </a:xfrm>
          <a:prstGeom prst="rect">
            <a:avLst/>
          </a:prstGeom>
        </p:spPr>
      </p:pic>
      <p:pic>
        <p:nvPicPr>
          <p:cNvPr id="90" name="Image 23" descr="preencoded.png">    </p:cNvPr>
          <p:cNvPicPr>
            <a:picLocks noChangeAspect="1"/>
          </p:cNvPicPr>
          <p:nvPr/>
        </p:nvPicPr>
        <p:blipFill>
          <a:blip r:embed="rId24"/>
          <a:srcRect l="-603" r="-603" t="0" b="0"/>
          <a:stretch/>
        </p:blipFill>
        <p:spPr>
          <a:xfrm>
            <a:off x="8080553" y="5136185"/>
            <a:ext cx="57607" cy="75895"/>
          </a:xfrm>
          <a:prstGeom prst="rect">
            <a:avLst/>
          </a:prstGeom>
        </p:spPr>
      </p:pic>
      <p:pic>
        <p:nvPicPr>
          <p:cNvPr id="91" name="Image 24" descr="preencoded.png">    </p:cNvPr>
          <p:cNvPicPr>
            <a:picLocks noChangeAspect="1"/>
          </p:cNvPicPr>
          <p:nvPr/>
        </p:nvPicPr>
        <p:blipFill>
          <a:blip r:embed="rId25"/>
          <a:srcRect l="-603" r="-603" t="0" b="0"/>
          <a:stretch/>
        </p:blipFill>
        <p:spPr>
          <a:xfrm>
            <a:off x="8080553" y="5707685"/>
            <a:ext cx="57607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126644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0" y="1257300"/>
            <a:ext cx="121916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81305" y="304495"/>
            <a:ext cx="40581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Reasoning Typology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81305" y="571500"/>
            <a:ext cx="46296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56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Three Patterns of Multi-Hop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381305" y="952805"/>
            <a:ext cx="40581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Recognizing Query Types That Require Multi-Hop Reasoning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265054" y="761695"/>
            <a:ext cx="15526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68" kern="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265054" y="972007"/>
            <a:ext cx="15526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20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81305" y="1419149"/>
            <a:ext cx="3657600" cy="4828946"/>
          </a:xfrm>
          <a:prstGeom prst="roundRect">
            <a:avLst>
              <a:gd name="adj" fmla="val 781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81305" y="1419149"/>
            <a:ext cx="3657600" cy="38405"/>
          </a:xfrm>
          <a:prstGeom prst="roundRect">
            <a:avLst>
              <a:gd name="adj" fmla="val 74404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62356" y="1591056"/>
            <a:ext cx="304495" cy="304495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-2512" r="-2512" t="0" b="0"/>
          <a:stretch/>
        </p:blipFill>
        <p:spPr>
          <a:xfrm>
            <a:off x="662026" y="1676095"/>
            <a:ext cx="105156" cy="133502"/>
          </a:xfrm>
          <a:prstGeom prst="rect">
            <a:avLst/>
          </a:prstGeom>
        </p:spPr>
      </p:pic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8394" y="1591056"/>
            <a:ext cx="1162202" cy="19019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698394" y="1591056"/>
            <a:ext cx="1162202" cy="1911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" kern="0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Pattern 01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562356" y="2009851"/>
            <a:ext cx="34107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Inference Query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562356" y="2219249"/>
            <a:ext cx="3410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" kern="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Comparison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62356" y="2562149"/>
            <a:ext cx="3295498" cy="1028700"/>
          </a:xfrm>
          <a:prstGeom prst="roundRect">
            <a:avLst>
              <a:gd name="adj" fmla="val 4938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21" name="Shape 15"/>
          <p:cNvSpPr/>
          <p:nvPr/>
        </p:nvSpPr>
        <p:spPr>
          <a:xfrm>
            <a:off x="562356" y="2562149"/>
            <a:ext cx="19202" cy="1028700"/>
          </a:xfrm>
          <a:prstGeom prst="roundRect">
            <a:avLst>
              <a:gd name="adj" fmla="val 264556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676656" y="263804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676656" y="2885846"/>
            <a:ext cx="316291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"Which report discusses the supply chain risk of Apple, the 2019 annual report or the 2020 annual report?"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" y="3685946"/>
          <a:ext cx="3296412" cy="1485900"/>
        </p:xfrm>
        <a:graphic>
          <a:graphicData uri="http://schemas.openxmlformats.org/drawingml/2006/table">
            <a:tbl>
              <a:tblPr/>
              <a:tblGrid>
                <a:gridCol w="593446"/>
                <a:gridCol w="1713586"/>
                <a:gridCol w="988466"/>
              </a:tblGrid>
              <a:tr h="4953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HOP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SUB-QUESTION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SOURCE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93C5FD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Hop 1</a:t>
                      </a:r>
                      <a:endParaRPr lang="en-US" sz="1200" dirty="0"/>
                    </a:p>
                  </a:txBody>
                  <a:tcPr marL="57607" marR="57607" marT="38405" marB="38405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Does Apple's 2019 10-K discuss supply chain risk?</a:t>
                      </a:r>
                      <a:endParaRPr lang="en-US" sz="9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7607" marR="57607" marT="38405" marB="38405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Apple 10-K FY2019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7607" marR="57607" marT="38405" marB="38405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93C5FD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Hop 2</a:t>
                      </a:r>
                      <a:endParaRPr lang="en-US" sz="1200" dirty="0"/>
                    </a:p>
                  </a:txBody>
                  <a:tcPr marL="57607" marR="57607" marT="38405" marB="38405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Does Apple's 2020 10-K discuss supply chain risk?</a:t>
                      </a:r>
                      <a:endParaRPr lang="en-US" sz="9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7607" marR="57607" marT="38405" marB="38405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Apple 10-K FY2020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7607" marR="57607" marT="38405" marB="38405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18"/>
          <p:cNvSpPr/>
          <p:nvPr/>
        </p:nvSpPr>
        <p:spPr>
          <a:xfrm>
            <a:off x="562356" y="5286146"/>
            <a:ext cx="3295498" cy="819302"/>
          </a:xfrm>
          <a:prstGeom prst="roundRect">
            <a:avLst>
              <a:gd name="adj" fmla="val 778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-3205" r="-3205" t="0" b="0"/>
          <a:stretch/>
        </p:blipFill>
        <p:spPr>
          <a:xfrm>
            <a:off x="2171700" y="5171846"/>
            <a:ext cx="75895" cy="9509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57454" y="5362956"/>
            <a:ext cx="32196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657454" y="5609844"/>
            <a:ext cx="31821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 findings → Determine which report contains the discussion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4267505" y="1419149"/>
            <a:ext cx="3657600" cy="4828946"/>
          </a:xfrm>
          <a:prstGeom prst="roundRect">
            <a:avLst>
              <a:gd name="adj" fmla="val 781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4267505" y="1419149"/>
            <a:ext cx="3657600" cy="38405"/>
          </a:xfrm>
          <a:prstGeom prst="roundRect">
            <a:avLst>
              <a:gd name="adj" fmla="val 74404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448556" y="1591056"/>
            <a:ext cx="304495" cy="304495"/>
          </a:xfrm>
          <a:prstGeom prst="rect">
            <a:avLst/>
          </a:prstGeom>
        </p:spPr>
      </p:pic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533595" y="1676095"/>
            <a:ext cx="133502" cy="133502"/>
          </a:xfrm>
          <a:prstGeom prst="rect">
            <a:avLst/>
          </a:prstGeom>
        </p:spPr>
      </p:pic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4419" y="1591056"/>
            <a:ext cx="1190549" cy="190195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554419" y="1591056"/>
            <a:ext cx="1191463" cy="1911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Pattern 02</a:t>
            </a:r>
            <a:endParaRPr lang="en-US" sz="1200" dirty="0"/>
          </a:p>
        </p:txBody>
      </p:sp>
      <p:sp>
        <p:nvSpPr>
          <p:cNvPr id="35" name="Text 24"/>
          <p:cNvSpPr txBox="1"/>
          <p:nvPr/>
        </p:nvSpPr>
        <p:spPr>
          <a:xfrm>
            <a:off x="4448556" y="2009851"/>
            <a:ext cx="34107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Comparison Query</a:t>
            </a:r>
            <a:endParaRPr lang="en-US" sz="1000" dirty="0"/>
          </a:p>
        </p:txBody>
      </p:sp>
      <p:sp>
        <p:nvSpPr>
          <p:cNvPr id="36" name="Text 25"/>
          <p:cNvSpPr txBox="1"/>
          <p:nvPr/>
        </p:nvSpPr>
        <p:spPr>
          <a:xfrm>
            <a:off x="4448556" y="2219249"/>
            <a:ext cx="3410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Cross-Entity Metrics</a:t>
            </a:r>
            <a:endParaRPr lang="en-US" sz="1200" dirty="0"/>
          </a:p>
        </p:txBody>
      </p:sp>
      <p:sp>
        <p:nvSpPr>
          <p:cNvPr id="37" name="Shape 26"/>
          <p:cNvSpPr/>
          <p:nvPr/>
        </p:nvSpPr>
        <p:spPr>
          <a:xfrm>
            <a:off x="4448556" y="2562149"/>
            <a:ext cx="3295498" cy="819302"/>
          </a:xfrm>
          <a:prstGeom prst="roundRect">
            <a:avLst>
              <a:gd name="adj" fmla="val 7787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38" name="Shape 27"/>
          <p:cNvSpPr/>
          <p:nvPr/>
        </p:nvSpPr>
        <p:spPr>
          <a:xfrm>
            <a:off x="4448556" y="2562149"/>
            <a:ext cx="19202" cy="819302"/>
          </a:xfrm>
          <a:prstGeom prst="roundRect">
            <a:avLst>
              <a:gd name="adj" fmla="val 332233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28"/>
          <p:cNvSpPr txBox="1"/>
          <p:nvPr/>
        </p:nvSpPr>
        <p:spPr>
          <a:xfrm>
            <a:off x="4562856" y="263804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40" name="Text 29"/>
          <p:cNvSpPr txBox="1"/>
          <p:nvPr/>
        </p:nvSpPr>
        <p:spPr>
          <a:xfrm>
            <a:off x="4562856" y="2885846"/>
            <a:ext cx="31629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"Did Netflix or Google report higher revenue for the year 2023?"</a:t>
            </a:r>
            <a:endParaRPr lang="en-US" sz="120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48556" y="3476549"/>
          <a:ext cx="3296412" cy="1162202"/>
        </p:xfrm>
        <a:graphic>
          <a:graphicData uri="http://schemas.openxmlformats.org/drawingml/2006/table">
            <a:tbl>
              <a:tblPr/>
              <a:tblGrid>
                <a:gridCol w="593446"/>
                <a:gridCol w="1713586"/>
                <a:gridCol w="988466"/>
              </a:tblGrid>
              <a:tr h="3874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HOP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SUB-QUESTION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SOURCE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74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CD34D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Hop 1</a:t>
                      </a:r>
                      <a:endParaRPr lang="en-US" sz="1200" dirty="0"/>
                    </a:p>
                  </a:txBody>
                  <a:tcPr marL="57607" marR="57607" marT="38405" marB="38405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What was Netflix's total revenue for FY2023?</a:t>
                      </a:r>
                      <a:endParaRPr lang="en-US" sz="9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7607" marR="57607" marT="38405" marB="38405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Netflix 10-K FY2023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7607" marR="57607" marT="38405" marB="38405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74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CD34D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Hop 2</a:t>
                      </a:r>
                      <a:endParaRPr lang="en-US" sz="1200" dirty="0"/>
                    </a:p>
                  </a:txBody>
                  <a:tcPr marL="57607" marR="57607" marT="38405" marB="38405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What was Alphabet's total revenue for FY2023?</a:t>
                      </a:r>
                      <a:endParaRPr lang="en-US" sz="9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7607" marR="57607" marT="38405" marB="38405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Alphabet 10-K FY2023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7607" marR="57607" marT="38405" marB="38405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2" name="Shape 30"/>
          <p:cNvSpPr/>
          <p:nvPr/>
        </p:nvSpPr>
        <p:spPr>
          <a:xfrm>
            <a:off x="4448556" y="5286146"/>
            <a:ext cx="3295498" cy="819302"/>
          </a:xfrm>
          <a:prstGeom prst="roundRect">
            <a:avLst>
              <a:gd name="adj" fmla="val 778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rcRect l="-3205" r="-3205" t="0" b="0"/>
          <a:stretch/>
        </p:blipFill>
        <p:spPr>
          <a:xfrm>
            <a:off x="6057900" y="5171846"/>
            <a:ext cx="75895" cy="95098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4543654" y="5362956"/>
            <a:ext cx="32196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45" name="Text 32"/>
          <p:cNvSpPr txBox="1"/>
          <p:nvPr/>
        </p:nvSpPr>
        <p:spPr>
          <a:xfrm>
            <a:off x="4543654" y="5609844"/>
            <a:ext cx="31821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 revenue figures → Determine which is higher</a:t>
            </a:r>
            <a:endParaRPr lang="en-US" sz="1200" dirty="0"/>
          </a:p>
        </p:txBody>
      </p:sp>
      <p:sp>
        <p:nvSpPr>
          <p:cNvPr id="46" name="Shape 33"/>
          <p:cNvSpPr/>
          <p:nvPr/>
        </p:nvSpPr>
        <p:spPr>
          <a:xfrm>
            <a:off x="8153705" y="1419149"/>
            <a:ext cx="3657600" cy="4828946"/>
          </a:xfrm>
          <a:prstGeom prst="roundRect">
            <a:avLst>
              <a:gd name="adj" fmla="val 781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7" name="Shape 34"/>
          <p:cNvSpPr/>
          <p:nvPr/>
        </p:nvSpPr>
        <p:spPr>
          <a:xfrm>
            <a:off x="8153705" y="1419149"/>
            <a:ext cx="3657600" cy="38405"/>
          </a:xfrm>
          <a:prstGeom prst="roundRect">
            <a:avLst>
              <a:gd name="adj" fmla="val 74404"/>
            </a:avLst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334756" y="1591056"/>
            <a:ext cx="304495" cy="304495"/>
          </a:xfrm>
          <a:prstGeom prst="rect">
            <a:avLst/>
          </a:prstGeom>
        </p:spPr>
      </p:pic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1100" b="-1100"/>
          <a:stretch/>
        </p:blipFill>
        <p:spPr>
          <a:xfrm>
            <a:off x="8429854" y="1676095"/>
            <a:ext cx="114300" cy="133502"/>
          </a:xfrm>
          <a:prstGeom prst="rect">
            <a:avLst/>
          </a:prstGeom>
        </p:spPr>
      </p:pic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41534" y="1591056"/>
            <a:ext cx="1190549" cy="190195"/>
          </a:xfrm>
          <a:prstGeom prst="rect">
            <a:avLst/>
          </a:prstGeom>
        </p:spPr>
      </p:pic>
      <p:sp>
        <p:nvSpPr>
          <p:cNvPr id="51" name="Text 35"/>
          <p:cNvSpPr/>
          <p:nvPr/>
        </p:nvSpPr>
        <p:spPr>
          <a:xfrm>
            <a:off x="10441534" y="1591056"/>
            <a:ext cx="1191463" cy="1911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C489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" kern="0" dirty="0">
                <a:solidFill>
                  <a:srgbClr val="F472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Pattern 03</a:t>
            </a:r>
            <a:endParaRPr lang="en-US" sz="1200" dirty="0"/>
          </a:p>
        </p:txBody>
      </p:sp>
      <p:sp>
        <p:nvSpPr>
          <p:cNvPr id="52" name="Text 36"/>
          <p:cNvSpPr txBox="1"/>
          <p:nvPr/>
        </p:nvSpPr>
        <p:spPr>
          <a:xfrm>
            <a:off x="8334756" y="2009851"/>
            <a:ext cx="34107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Temporal Query</a:t>
            </a:r>
            <a:endParaRPr lang="en-US" sz="1000" dirty="0"/>
          </a:p>
        </p:txBody>
      </p:sp>
      <p:sp>
        <p:nvSpPr>
          <p:cNvPr id="53" name="Text 37"/>
          <p:cNvSpPr txBox="1"/>
          <p:nvPr/>
        </p:nvSpPr>
        <p:spPr>
          <a:xfrm>
            <a:off x="8334756" y="2219249"/>
            <a:ext cx="3410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" kern="0" dirty="0">
                <a:solidFill>
                  <a:srgbClr val="F472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Timeline Reconstruction</a:t>
            </a:r>
            <a:endParaRPr lang="en-US" sz="1200" dirty="0"/>
          </a:p>
        </p:txBody>
      </p:sp>
      <p:sp>
        <p:nvSpPr>
          <p:cNvPr id="54" name="Shape 38"/>
          <p:cNvSpPr/>
          <p:nvPr/>
        </p:nvSpPr>
        <p:spPr>
          <a:xfrm>
            <a:off x="8334756" y="2562149"/>
            <a:ext cx="3295498" cy="819302"/>
          </a:xfrm>
          <a:prstGeom prst="roundRect">
            <a:avLst>
              <a:gd name="adj" fmla="val 7787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55" name="Shape 39"/>
          <p:cNvSpPr/>
          <p:nvPr/>
        </p:nvSpPr>
        <p:spPr>
          <a:xfrm>
            <a:off x="8334756" y="2562149"/>
            <a:ext cx="19202" cy="819302"/>
          </a:xfrm>
          <a:prstGeom prst="roundRect">
            <a:avLst>
              <a:gd name="adj" fmla="val 332233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40"/>
          <p:cNvSpPr txBox="1"/>
          <p:nvPr/>
        </p:nvSpPr>
        <p:spPr>
          <a:xfrm>
            <a:off x="8449056" y="263804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57" name="Text 41"/>
          <p:cNvSpPr txBox="1"/>
          <p:nvPr/>
        </p:nvSpPr>
        <p:spPr>
          <a:xfrm>
            <a:off x="8449056" y="2885846"/>
            <a:ext cx="31629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"Did Apple introduce the AirTag before or after the 5th gen iPad Pro?"</a:t>
            </a:r>
            <a:endParaRPr lang="en-US" sz="1200" dirty="0"/>
          </a:p>
        </p:txBody>
      </p:sp>
      <p:graphicFrame>
        <p:nvGraphicFramePr>
          <p:cNvPr id="6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34756" y="3476549"/>
          <a:ext cx="3296412" cy="1162202"/>
        </p:xfrm>
        <a:graphic>
          <a:graphicData uri="http://schemas.openxmlformats.org/drawingml/2006/table">
            <a:tbl>
              <a:tblPr/>
              <a:tblGrid>
                <a:gridCol w="593446"/>
                <a:gridCol w="1713586"/>
                <a:gridCol w="988466"/>
              </a:tblGrid>
              <a:tr h="3874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HOP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SUB-QUESTION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SOURCE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74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BCFE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Hop 1</a:t>
                      </a:r>
                      <a:endParaRPr lang="en-US" sz="1200" dirty="0"/>
                    </a:p>
                  </a:txBody>
                  <a:tcPr marL="57607" marR="57607" marT="38405" marB="38405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When did Apple launch the AirTag?</a:t>
                      </a:r>
                      <a:endParaRPr lang="en-US" sz="9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7607" marR="57607" marT="38405" marB="38405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Press releases, 8-K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7607" marR="57607" marT="38405" marB="38405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74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BCFE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Hop 2</a:t>
                      </a:r>
                      <a:endParaRPr lang="en-US" sz="1200" dirty="0"/>
                    </a:p>
                  </a:txBody>
                  <a:tcPr marL="57607" marR="57607" marT="38405" marB="38405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When did Apple launch iPad Pro 5th gen?</a:t>
                      </a:r>
                      <a:endParaRPr lang="en-US" sz="9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7607" marR="57607" marT="38405" marB="38405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Press releases, 8-K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7607" marR="57607" marT="38405" marB="38405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9" name="Shape 42"/>
          <p:cNvSpPr/>
          <p:nvPr/>
        </p:nvSpPr>
        <p:spPr>
          <a:xfrm>
            <a:off x="8334756" y="5286146"/>
            <a:ext cx="3295498" cy="819302"/>
          </a:xfrm>
          <a:prstGeom prst="roundRect">
            <a:avLst>
              <a:gd name="adj" fmla="val 778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0" name="Image 12" descr="preencoded.png">    </p:cNvPr>
          <p:cNvPicPr>
            <a:picLocks noChangeAspect="1"/>
          </p:cNvPicPr>
          <p:nvPr/>
        </p:nvPicPr>
        <p:blipFill>
          <a:blip r:embed="rId13"/>
          <a:srcRect l="-3205" r="-3205" t="0" b="0"/>
          <a:stretch/>
        </p:blipFill>
        <p:spPr>
          <a:xfrm>
            <a:off x="9944100" y="5171846"/>
            <a:ext cx="75895" cy="95098"/>
          </a:xfrm>
          <a:prstGeom prst="rect">
            <a:avLst/>
          </a:prstGeom>
        </p:spPr>
      </p:pic>
      <p:sp>
        <p:nvSpPr>
          <p:cNvPr id="61" name="Text 43"/>
          <p:cNvSpPr txBox="1"/>
          <p:nvPr/>
        </p:nvSpPr>
        <p:spPr>
          <a:xfrm>
            <a:off x="8429854" y="5362956"/>
            <a:ext cx="32196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62" name="Text 44"/>
          <p:cNvSpPr txBox="1"/>
          <p:nvPr/>
        </p:nvSpPr>
        <p:spPr>
          <a:xfrm>
            <a:off x="8429854" y="5609844"/>
            <a:ext cx="31821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 dates → Determine temporal sequence: "AirTag launched [Date A]..."</a:t>
            </a:r>
            <a:endParaRPr lang="en-US" sz="1200" dirty="0"/>
          </a:p>
        </p:txBody>
      </p:sp>
      <p:sp>
        <p:nvSpPr>
          <p:cNvPr id="63" name="Shape 45"/>
          <p:cNvSpPr/>
          <p:nvPr/>
        </p:nvSpPr>
        <p:spPr>
          <a:xfrm>
            <a:off x="0" y="6334049"/>
            <a:ext cx="12191695" cy="523951"/>
          </a:xfrm>
          <a:prstGeom prst="rect">
            <a:avLst/>
          </a:prstGeom>
          <a:solidFill>
            <a:srgbClr val="1E3A8A">
              <a:alpha val="95000"/>
            </a:srgbClr>
          </a:solidFill>
          <a:ln/>
        </p:spPr>
      </p:sp>
      <p:sp>
        <p:nvSpPr>
          <p:cNvPr id="64" name="Shape 46"/>
          <p:cNvSpPr/>
          <p:nvPr/>
        </p:nvSpPr>
        <p:spPr>
          <a:xfrm>
            <a:off x="0" y="6334049"/>
            <a:ext cx="121916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pic>
        <p:nvPicPr>
          <p:cNvPr id="65" name="Image 13" descr="preencoded.png">    </p:cNvPr>
          <p:cNvPicPr>
            <a:picLocks noChangeAspect="1"/>
          </p:cNvPicPr>
          <p:nvPr/>
        </p:nvPicPr>
        <p:blipFill>
          <a:blip r:embed="rId14"/>
          <a:srcRect l="-2512" r="-2512" t="0" b="0"/>
          <a:stretch/>
        </p:blipFill>
        <p:spPr>
          <a:xfrm>
            <a:off x="381305" y="6534302"/>
            <a:ext cx="105156" cy="133502"/>
          </a:xfrm>
          <a:prstGeom prst="rect">
            <a:avLst/>
          </a:prstGeom>
        </p:spPr>
      </p:pic>
      <p:sp>
        <p:nvSpPr>
          <p:cNvPr id="66" name="Text 47"/>
          <p:cNvSpPr txBox="1"/>
          <p:nvPr/>
        </p:nvSpPr>
        <p:spPr>
          <a:xfrm>
            <a:off x="599846" y="6458407"/>
            <a:ext cx="86109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Takeaway:</a:t>
            </a:r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All three patterns require 2 retrievals + 1 synthesis step. Single-hop RAG cannot answer these because the final answer requires connecting information across multiple sources.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961949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0" y="952805"/>
            <a:ext cx="121916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04495"/>
            <a:ext cx="56007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Complete Taxonomy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95605"/>
            <a:ext cx="6172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56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Additional Multi-Hop Query Categories</a:t>
            </a:r>
            <a:endParaRPr lang="en-US" sz="2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-49" r="-49" t="0" b="0"/>
          <a:stretch/>
        </p:blipFill>
        <p:spPr>
          <a:xfrm>
            <a:off x="457200" y="1114654"/>
            <a:ext cx="11277295" cy="30449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7395" y="1200607"/>
            <a:ext cx="133502" cy="13350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95198" y="1190549"/>
            <a:ext cx="86868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Beyond the core patterns of </a:t>
            </a:r>
            <a:pPr algn="l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Temporal</a:t>
            </a:r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pPr algn="l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Comparison</a:t>
            </a:r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and </a:t>
            </a:r>
            <a:pPr algn="l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Inference</a:t>
            </a:r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financial analysis requires a broader range of multi-hop reasoning types. 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457200" y="1514246"/>
            <a:ext cx="11277295" cy="5000854"/>
          </a:xfrm>
          <a:prstGeom prst="roundRect">
            <a:avLst>
              <a:gd name="adj" fmla="val 418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" y="1524305"/>
          <a:ext cx="11259007" cy="4638751"/>
        </p:xfrm>
        <a:graphic>
          <a:graphicData uri="http://schemas.openxmlformats.org/drawingml/2006/table">
            <a:tbl>
              <a:tblPr/>
              <a:tblGrid>
                <a:gridCol w="562356"/>
                <a:gridCol w="2023567"/>
                <a:gridCol w="3598164"/>
                <a:gridCol w="5060290"/>
              </a:tblGrid>
              <a:tr h="3568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C5A059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#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C5A059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QUERY TYPE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C5A059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DESCRIPTION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C5A059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FINANCIAL EXAMPLE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C5A059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85954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A059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CD34D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Temporal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A059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Compares timing or sequence of events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A059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"Did X happen before or after Y?"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A059">
                        <a:alpha val="8000"/>
                      </a:srgbClr>
                    </a:solidFill>
                  </a:tcPr>
                </a:tc>
              </a:tr>
              <a:tr h="3568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C5A059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85954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A059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CD34D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Comparison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A059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Compares metrics across entities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A059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"Which company has higher revenue?"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A059">
                        <a:alpha val="8000"/>
                      </a:srgbClr>
                    </a:solidFill>
                  </a:tcPr>
                </a:tc>
              </a:tr>
              <a:tr h="3568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C5A059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85954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A059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CD34D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Inference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A059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Draws conclusions from document analysis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A059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"Which report discusses topic X?"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A059">
                        <a:alpha val="8000"/>
                      </a:srgbClr>
                    </a:solidFill>
                  </a:tcPr>
                </a:tc>
              </a:tr>
              <a:tr h="3568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93C5FD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Bridge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Finds entity in Doc A, uses it to query Doc B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"Who is the CEO of the company that acquired Slack, and what is their compensation?"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93C5FD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Compositional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Combines multiple facts to compute an answer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"What is the debt-to-equity ratio of the largest bank by assets?"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</a:tr>
              <a:tr h="3568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93C5FD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Causal / Impact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Traces cause-effect relationships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"How did the Fed rate hike impact JPMorgan's NII?"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7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6EE7B7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Aggregation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Collects &amp; aggregates data across sources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"What is the average DSCR across all 2024 office CMBS deals?"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</a:tr>
              <a:tr h="3568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8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6EE7B7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Hierarchical / Traversal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Navigates ownership or corporate structures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"List all subsidiaries of Berkshire Hathaway exposed to flood insurance risk"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9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BCFE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Null / Negative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Confirms absence of information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"Did Tesla disclose any cybersecurity incidents in 2024?"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</a:tr>
              <a:tr h="3568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6EE7B7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Conditional / Filter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Applies multiple filtering criteria sequentially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"Find CLOs with reinvestment periods ending in 2025 that have CCC buckets above 7.5%"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11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BCFE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Counterfactual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Explores hypothetical scenarios vs actuals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"What would Apple's margin be if COGS increased 10%?"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</a:tr>
              <a:tr h="3568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12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BCFE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Verification / Fact-Check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Cross-validates claims across sources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"Does the CEO's statement on the earnings call match the 10-Q disclosure?"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A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8"/>
          <p:cNvSpPr txBox="1"/>
          <p:nvPr/>
        </p:nvSpPr>
        <p:spPr>
          <a:xfrm>
            <a:off x="10299802" y="228600"/>
            <a:ext cx="14383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10299802" y="495605"/>
            <a:ext cx="1438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92354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04495"/>
            <a:ext cx="3048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Foundational Multi-Hop Query Types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95605"/>
            <a:ext cx="34884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56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Basic Query Patterns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57200" y="1076249"/>
            <a:ext cx="11277295" cy="1800454"/>
          </a:xfrm>
          <a:prstGeom prst="roundRect">
            <a:avLst>
              <a:gd name="adj" fmla="val 215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" y="1086307"/>
            <a:ext cx="11259007" cy="267005"/>
          </a:xfrm>
          <a:prstGeom prst="roundRect">
            <a:avLst>
              <a:gd name="adj" fmla="val 97847"/>
            </a:avLst>
          </a:prstGeom>
          <a:solidFill>
            <a:srgbClr val="0B1E3D">
              <a:alpha val="5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66344" y="1344168"/>
            <a:ext cx="11259007" cy="9144"/>
          </a:xfrm>
          <a:prstGeom prst="roundRect">
            <a:avLst>
              <a:gd name="adj" fmla="val 285714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0644" y="1128370"/>
            <a:ext cx="171907" cy="171907"/>
          </a:xfrm>
          <a:prstGeom prst="roundRect">
            <a:avLst>
              <a:gd name="adj" fmla="val 118203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9049" y="1166774"/>
            <a:ext cx="95098" cy="9509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28446" y="1138428"/>
            <a:ext cx="27148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Temporal Queries (Sequence/Timing)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" y="1567282"/>
          <a:ext cx="11259007" cy="1086307"/>
        </p:xfrm>
        <a:graphic>
          <a:graphicData uri="http://schemas.openxmlformats.org/drawingml/2006/table">
            <a:tbl>
              <a:tblPr/>
              <a:tblGrid>
                <a:gridCol w="563270"/>
                <a:gridCol w="6192317"/>
                <a:gridCol w="3602736"/>
                <a:gridCol w="900684"/>
              </a:tblGrid>
              <a:tr h="271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#</a:t>
                      </a:r>
                      <a:endParaRPr lang="en-US" sz="6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QUERY</a:t>
                      </a:r>
                      <a:endParaRPr lang="en-US" sz="6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DOCUMENT TYPES</a:t>
                      </a:r>
                      <a:endParaRPr lang="en-US" sz="6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HOPS</a:t>
                      </a:r>
                      <a:endParaRPr lang="en-US" sz="6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</a:tr>
              <a:tr h="2715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"Did Apple introduce the AirTag before or after the launch of the 5th generation iPad Pro?"</a:t>
                      </a:r>
                      <a:endParaRPr lang="en-US" sz="1200" dirty="0"/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75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Press Releases8-K Filings</a:t>
                      </a:r>
                      <a:endParaRPr lang="en-US" sz="1200" dirty="0"/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15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"Was the Citrix leveraged loan amendment filed before or after Moody's downgraded the facility to Caa1?"</a:t>
                      </a:r>
                      <a:endParaRPr lang="en-US" sz="1200" dirty="0"/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75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Credit AgreementRating Report</a:t>
                      </a:r>
                      <a:endParaRPr lang="en-US" sz="1200" dirty="0"/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15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"Did SVB Financial disclose liquidity concerns in their 10-K before or after the stock price dropped 60%?"</a:t>
                      </a:r>
                      <a:endParaRPr lang="en-US" sz="1200" dirty="0"/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75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10-K FilingMarket Data</a:t>
                      </a:r>
                      <a:endParaRPr lang="en-US" sz="1200" dirty="0"/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1"/>
          <p:cNvSpPr/>
          <p:nvPr/>
        </p:nvSpPr>
        <p:spPr>
          <a:xfrm>
            <a:off x="457200" y="2952598"/>
            <a:ext cx="11277295" cy="1800454"/>
          </a:xfrm>
          <a:prstGeom prst="roundRect">
            <a:avLst>
              <a:gd name="adj" fmla="val 215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66344" y="2962656"/>
            <a:ext cx="11259007" cy="267005"/>
          </a:xfrm>
          <a:prstGeom prst="roundRect">
            <a:avLst>
              <a:gd name="adj" fmla="val 97847"/>
            </a:avLst>
          </a:prstGeom>
          <a:solidFill>
            <a:srgbClr val="0B1E3D">
              <a:alpha val="50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466344" y="3220517"/>
            <a:ext cx="11259007" cy="9144"/>
          </a:xfrm>
          <a:prstGeom prst="roundRect">
            <a:avLst>
              <a:gd name="adj" fmla="val 285714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80644" y="3004718"/>
            <a:ext cx="171907" cy="171907"/>
          </a:xfrm>
          <a:prstGeom prst="roundRect">
            <a:avLst>
              <a:gd name="adj" fmla="val 118203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-1923" r="-1923" t="0" b="0"/>
          <a:stretch/>
        </p:blipFill>
        <p:spPr>
          <a:xfrm>
            <a:off x="604418" y="3043123"/>
            <a:ext cx="123444" cy="9509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8446" y="3014777"/>
            <a:ext cx="31912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6EE7B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Comparison Queries (Cross-Entity Metrics)</a:t>
            </a:r>
            <a:endParaRPr lang="en-US" sz="900" dirty="0"/>
          </a:p>
        </p:txBody>
      </p:sp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" y="3443630"/>
          <a:ext cx="11259007" cy="1086307"/>
        </p:xfrm>
        <a:graphic>
          <a:graphicData uri="http://schemas.openxmlformats.org/drawingml/2006/table">
            <a:tbl>
              <a:tblPr/>
              <a:tblGrid>
                <a:gridCol w="563270"/>
                <a:gridCol w="6192317"/>
                <a:gridCol w="3602736"/>
                <a:gridCol w="900684"/>
              </a:tblGrid>
              <a:tr h="271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#</a:t>
                      </a:r>
                      <a:endParaRPr lang="en-US" sz="6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QUERY</a:t>
                      </a:r>
                      <a:endParaRPr lang="en-US" sz="6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DOCUMENT TYPES</a:t>
                      </a:r>
                      <a:endParaRPr lang="en-US" sz="6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HOPS</a:t>
                      </a:r>
                      <a:endParaRPr lang="en-US" sz="6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</a:tr>
              <a:tr h="2715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"Did Netflix or Google report higher revenue for fiscal year 2023?"</a:t>
                      </a:r>
                      <a:endParaRPr lang="en-US" sz="1200" dirty="0"/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75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10-K Filings (2)</a:t>
                      </a:r>
                      <a:endParaRPr lang="en-US" sz="1200" dirty="0"/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15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"Which CLO manager had a higher AAA tranche subordination level in 2024: Carlyle or Apollo?"</a:t>
                      </a:r>
                      <a:endParaRPr lang="en-US" sz="1200" dirty="0"/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75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CLO IndenturesPresale Reports</a:t>
                      </a:r>
                      <a:endParaRPr lang="en-US" sz="1200" dirty="0"/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15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"Compare the debt service coverage ratio for the largest loan in BMARK 2024-V6 versus GSMS 2024-GC60"</a:t>
                      </a:r>
                      <a:endParaRPr lang="en-US" sz="1200" dirty="0"/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75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CMBS Prospectus (2)</a:t>
                      </a:r>
                      <a:endParaRPr lang="en-US" sz="1200" dirty="0"/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Shape 16"/>
          <p:cNvSpPr/>
          <p:nvPr/>
        </p:nvSpPr>
        <p:spPr>
          <a:xfrm>
            <a:off x="457200" y="4828946"/>
            <a:ext cx="11277295" cy="1800454"/>
          </a:xfrm>
          <a:prstGeom prst="roundRect">
            <a:avLst>
              <a:gd name="adj" fmla="val 215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66344" y="4839005"/>
            <a:ext cx="11259007" cy="267005"/>
          </a:xfrm>
          <a:prstGeom prst="roundRect">
            <a:avLst>
              <a:gd name="adj" fmla="val 97847"/>
            </a:avLst>
          </a:prstGeom>
          <a:solidFill>
            <a:srgbClr val="0B1E3D">
              <a:alpha val="50000"/>
            </a:srgbClr>
          </a:solidFill>
          <a:ln/>
        </p:spPr>
      </p:sp>
      <p:sp>
        <p:nvSpPr>
          <p:cNvPr id="25" name="Shape 18"/>
          <p:cNvSpPr/>
          <p:nvPr/>
        </p:nvSpPr>
        <p:spPr>
          <a:xfrm>
            <a:off x="466344" y="5096866"/>
            <a:ext cx="11259007" cy="9144"/>
          </a:xfrm>
          <a:prstGeom prst="roundRect">
            <a:avLst>
              <a:gd name="adj" fmla="val 285714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580644" y="4881982"/>
            <a:ext cx="171907" cy="171907"/>
          </a:xfrm>
          <a:prstGeom prst="roundRect">
            <a:avLst>
              <a:gd name="adj" fmla="val 118203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9049" y="4919472"/>
            <a:ext cx="95098" cy="95098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828446" y="4891126"/>
            <a:ext cx="35625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FCD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Inference Queries (Document Content Analysis)</a:t>
            </a:r>
            <a:endParaRPr lang="en-US" sz="900" dirty="0"/>
          </a:p>
        </p:txBody>
      </p:sp>
      <p:graphicFrame>
        <p:nvGraphicFramePr>
          <p:cNvPr id="6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" y="5319979"/>
          <a:ext cx="11259007" cy="1086307"/>
        </p:xfrm>
        <a:graphic>
          <a:graphicData uri="http://schemas.openxmlformats.org/drawingml/2006/table">
            <a:tbl>
              <a:tblPr/>
              <a:tblGrid>
                <a:gridCol w="563270"/>
                <a:gridCol w="6192317"/>
                <a:gridCol w="3602736"/>
                <a:gridCol w="900684"/>
              </a:tblGrid>
              <a:tr h="271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#</a:t>
                      </a:r>
                      <a:endParaRPr lang="en-US" sz="6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QUERY</a:t>
                      </a:r>
                      <a:endParaRPr lang="en-US" sz="6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DOCUMENT TYPES</a:t>
                      </a:r>
                      <a:endParaRPr lang="en-US" sz="6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HOPS</a:t>
                      </a:r>
                      <a:endParaRPr lang="en-US" sz="6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</a:tr>
              <a:tr h="2715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7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"Which report discusses the supply chain risk of Apple, the 2019 annual report or the 2020 annual report?"</a:t>
                      </a:r>
                      <a:endParaRPr lang="en-US" sz="1200" dirty="0"/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75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10-K Filings (2)</a:t>
                      </a:r>
                      <a:endParaRPr lang="en-US" sz="1200" dirty="0"/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15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8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"Does Fitch or KBRA provide more detailed loss severity assumptions in their CMBS presale methodology?"</a:t>
                      </a:r>
                      <a:endParaRPr lang="en-US" sz="1200" dirty="0"/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75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Rating Methodologies</a:t>
                      </a:r>
                      <a:endParaRPr lang="en-US" sz="1200" dirty="0"/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15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9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"Which quarter's 10-Q first disclosed the material impact of chip shortages on Ford's production: Q1, Q2, or Q3 2021?"</a:t>
                      </a:r>
                      <a:endParaRPr lang="en-US" sz="1200" dirty="0"/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75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10-Q Filings (3)</a:t>
                      </a:r>
                      <a:endParaRPr lang="en-US" sz="1200" dirty="0"/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Text 21"/>
          <p:cNvSpPr txBox="1"/>
          <p:nvPr/>
        </p:nvSpPr>
        <p:spPr>
          <a:xfrm>
            <a:off x="10189159" y="228600"/>
            <a:ext cx="15526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68" kern="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1300" dirty="0"/>
          </a:p>
        </p:txBody>
      </p:sp>
      <p:sp>
        <p:nvSpPr>
          <p:cNvPr id="31" name="Text 22"/>
          <p:cNvSpPr txBox="1"/>
          <p:nvPr/>
        </p:nvSpPr>
        <p:spPr>
          <a:xfrm>
            <a:off x="10189159" y="495605"/>
            <a:ext cx="15526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115214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0" y="1143000"/>
            <a:ext cx="121916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81305"/>
            <a:ext cx="50008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Intermediate Multi-Hop Query Types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09905"/>
            <a:ext cx="679490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68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Entity &amp; Calculation Patterns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10189159" y="495605"/>
            <a:ext cx="15526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68" kern="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189159" y="800100"/>
            <a:ext cx="15526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23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380744"/>
            <a:ext cx="11277295" cy="1600200"/>
          </a:xfrm>
          <a:prstGeom prst="roundRect">
            <a:avLst>
              <a:gd name="adj" fmla="val 408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" y="1390802"/>
            <a:ext cx="11259007" cy="390449"/>
          </a:xfrm>
          <a:prstGeom prst="roundRect">
            <a:avLst>
              <a:gd name="adj" fmla="val 68544"/>
            </a:avLst>
          </a:prstGeom>
          <a:solidFill>
            <a:srgbClr val="0B1E3D">
              <a:alpha val="5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466344" y="1772107"/>
            <a:ext cx="11259007" cy="9144"/>
          </a:xfrm>
          <a:prstGeom prst="roundRect">
            <a:avLst>
              <a:gd name="adj" fmla="val 292682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9049" y="1466698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662026" y="1524305"/>
            <a:ext cx="142646" cy="1143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61949" y="1485900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6" kern="0" dirty="0">
                <a:solidFill>
                  <a:srgbClr val="C4B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Bridge Queries (Entity Chaining)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" y="1781251"/>
          <a:ext cx="11259007" cy="1762963"/>
        </p:xfrm>
        <a:graphic>
          <a:graphicData uri="http://schemas.openxmlformats.org/drawingml/2006/table">
            <a:tbl>
              <a:tblPr/>
              <a:tblGrid>
                <a:gridCol w="563270"/>
                <a:gridCol w="6192317"/>
                <a:gridCol w="3377794"/>
                <a:gridCol w="1125626"/>
              </a:tblGrid>
              <a:tr h="4407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#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QUERY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DOCUMENT TYPES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HOPS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</a:tr>
              <a:tr h="44074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75895" marB="75895" anchor="t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"What is the credit rating of the parent company of the utility that filed Chapter 11 in Texas last month?"</a:t>
                      </a:r>
                      <a:endParaRPr lang="en-US" sz="1200" dirty="0"/>
                    </a:p>
                  </a:txBody>
                  <a:tcPr marL="114300" marR="114300" marT="75895" marB="75895" anchor="t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News/8-KCorporate HierarchyRating Reports</a:t>
                      </a:r>
                      <a:endParaRPr lang="en-US" sz="1200" dirty="0"/>
                    </a:p>
                  </a:txBody>
                  <a:tcPr marL="114300" marR="114300" marT="75895" marB="75895" anchor="t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114300" marR="114300" marT="75895" marB="75895" anchor="t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074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11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75895" marB="75895" anchor="t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"Who is the CFO of the company that acquired Slack, and what was their total compensation in 2023?"</a:t>
                      </a:r>
                      <a:endParaRPr lang="en-US" sz="1200" dirty="0"/>
                    </a:p>
                  </a:txBody>
                  <a:tcPr marL="114300" marR="114300" marT="75895" marB="75895" anchor="t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M&amp;A FilingsProxy Statement (DEF 14A)</a:t>
                      </a:r>
                      <a:endParaRPr lang="en-US" sz="1200" dirty="0"/>
                    </a:p>
                  </a:txBody>
                  <a:tcPr marL="114300" marR="114300" marT="75895" marB="75895" anchor="t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114300" marR="114300" marT="75895" marB="75895" anchor="t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074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12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75895" marB="75895" anchor="t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"What is the leverage ratio covenant in the credit agreement of the largest borrower in the Palmer Square CLO 2024-1?"</a:t>
                      </a:r>
                      <a:endParaRPr lang="en-US" sz="1200" dirty="0"/>
                    </a:p>
                  </a:txBody>
                  <a:tcPr marL="114300" marR="114300" marT="75895" marB="75895" anchor="t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CLO IndentureCredit Agreement</a:t>
                      </a:r>
                      <a:endParaRPr lang="en-US" sz="1200" dirty="0"/>
                    </a:p>
                  </a:txBody>
                  <a:tcPr marL="114300" marR="114300" marT="75895" marB="75895" anchor="t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114300" marR="114300" marT="75895" marB="75895" anchor="t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Shape 13"/>
          <p:cNvSpPr/>
          <p:nvPr/>
        </p:nvSpPr>
        <p:spPr>
          <a:xfrm>
            <a:off x="457200" y="3130906"/>
            <a:ext cx="11277295" cy="1600200"/>
          </a:xfrm>
          <a:prstGeom prst="roundRect">
            <a:avLst>
              <a:gd name="adj" fmla="val 408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66344" y="3140050"/>
            <a:ext cx="11259007" cy="390449"/>
          </a:xfrm>
          <a:prstGeom prst="roundRect">
            <a:avLst>
              <a:gd name="adj" fmla="val 68544"/>
            </a:avLst>
          </a:prstGeom>
          <a:solidFill>
            <a:srgbClr val="0B1E3D">
              <a:alpha val="50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466344" y="3521354"/>
            <a:ext cx="11259007" cy="9144"/>
          </a:xfrm>
          <a:prstGeom prst="roundRect">
            <a:avLst>
              <a:gd name="adj" fmla="val 292682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19049" y="3215945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F43F5E">
              <a:alpha val="20000"/>
            </a:srgbClr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-133" r="-133" t="0" b="0"/>
          <a:stretch/>
        </p:blipFill>
        <p:spPr>
          <a:xfrm>
            <a:off x="690372" y="3273552"/>
            <a:ext cx="85954" cy="1143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61949" y="3235147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6" kern="0" dirty="0">
                <a:solidFill>
                  <a:srgbClr val="FDA4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Compositional Queries (Multi-Fact Calculation)</a:t>
            </a:r>
            <a:endParaRPr lang="en-US" sz="100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" y="3530498"/>
          <a:ext cx="11259007" cy="1762963"/>
        </p:xfrm>
        <a:graphic>
          <a:graphicData uri="http://schemas.openxmlformats.org/drawingml/2006/table">
            <a:tbl>
              <a:tblPr/>
              <a:tblGrid>
                <a:gridCol w="563270"/>
                <a:gridCol w="6192317"/>
                <a:gridCol w="3377794"/>
                <a:gridCol w="1125626"/>
              </a:tblGrid>
              <a:tr h="4407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#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QUERY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DOCUMENT TYPES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HOPS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</a:tr>
              <a:tr h="44074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13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75895" marB="75895" anchor="t">
                    <a:lnL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"What is the EV/EBITDA multiple of the largest SaaS acquisition in North America in Q3 2024?"</a:t>
                      </a:r>
                      <a:endParaRPr lang="en-US" sz="1200" dirty="0"/>
                    </a:p>
                  </a:txBody>
                  <a:tcPr marL="114300" marR="114300" marT="75895" marB="75895" anchor="t">
                    <a:lnL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M&amp;A Announcements10-K/8-K Filings</a:t>
                      </a:r>
                      <a:endParaRPr lang="en-US" sz="1200" dirty="0"/>
                    </a:p>
                  </a:txBody>
                  <a:tcPr marL="114300" marR="114300" marT="75895" marB="75895" anchor="t">
                    <a:lnL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114300" marR="114300" marT="75895" marB="75895" anchor="t">
                    <a:lnL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074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14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75895" marB="75895" anchor="t">
                    <a:lnL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"Calculate the weighted average coupon of the top 5 loans by notional in the CIFC CLO 2024-II portfolio"</a:t>
                      </a:r>
                      <a:endParaRPr lang="en-US" sz="1200" dirty="0"/>
                    </a:p>
                  </a:txBody>
                  <a:tcPr marL="114300" marR="114300" marT="75895" marB="75895" anchor="t">
                    <a:lnL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CLO IndentureLoan Prospectuses</a:t>
                      </a:r>
                      <a:endParaRPr lang="en-US" sz="1200" dirty="0"/>
                    </a:p>
                  </a:txBody>
                  <a:tcPr marL="114300" marR="114300" marT="75895" marB="75895" anchor="t">
                    <a:lnL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114300" marR="114300" marT="75895" marB="75895" anchor="t">
                    <a:lnL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074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15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75895" marB="75895" anchor="t">
                    <a:lnL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"What is the implied cap rate for the office property securing the largest loan in JPMCC 2024-CBM based on NOI and appraised value?"</a:t>
                      </a:r>
                      <a:endParaRPr lang="en-US" sz="1200" dirty="0"/>
                    </a:p>
                  </a:txBody>
                  <a:tcPr marL="114300" marR="114300" marT="75895" marB="75895" anchor="t">
                    <a:lnL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CMBS ProspectusAppraisal Summary</a:t>
                      </a:r>
                      <a:endParaRPr lang="en-US" sz="1200" dirty="0"/>
                    </a:p>
                  </a:txBody>
                  <a:tcPr marL="114300" marR="114300" marT="75895" marB="75895" anchor="t">
                    <a:lnL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114300" marR="114300" marT="75895" marB="75895" anchor="t">
                    <a:lnL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18"/>
          <p:cNvSpPr/>
          <p:nvPr/>
        </p:nvSpPr>
        <p:spPr>
          <a:xfrm>
            <a:off x="457200" y="4880153"/>
            <a:ext cx="11277295" cy="1600200"/>
          </a:xfrm>
          <a:prstGeom prst="roundRect">
            <a:avLst>
              <a:gd name="adj" fmla="val 408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66344" y="4889297"/>
            <a:ext cx="11259007" cy="390449"/>
          </a:xfrm>
          <a:prstGeom prst="roundRect">
            <a:avLst>
              <a:gd name="adj" fmla="val 68544"/>
            </a:avLst>
          </a:prstGeom>
          <a:solidFill>
            <a:srgbClr val="0B1E3D">
              <a:alpha val="50000"/>
            </a:srgbClr>
          </a:solidFill>
          <a:ln/>
        </p:spPr>
      </p:sp>
      <p:sp>
        <p:nvSpPr>
          <p:cNvPr id="27" name="Shape 20"/>
          <p:cNvSpPr/>
          <p:nvPr/>
        </p:nvSpPr>
        <p:spPr>
          <a:xfrm>
            <a:off x="466344" y="5270602"/>
            <a:ext cx="11259007" cy="9144"/>
          </a:xfrm>
          <a:prstGeom prst="roundRect">
            <a:avLst>
              <a:gd name="adj" fmla="val 292682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619049" y="4966106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rcRect l="-1911" r="-1911" t="0" b="0"/>
          <a:stretch/>
        </p:blipFill>
        <p:spPr>
          <a:xfrm>
            <a:off x="666598" y="5022799"/>
            <a:ext cx="133502" cy="11430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61949" y="4984394"/>
            <a:ext cx="415411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6" kern="0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Causal / Impact Queries (Cause-Effect Analysis)</a:t>
            </a:r>
            <a:endParaRPr lang="en-US" sz="1000" dirty="0"/>
          </a:p>
        </p:txBody>
      </p:sp>
      <p:graphicFrame>
        <p:nvGraphicFramePr>
          <p:cNvPr id="7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" y="5279746"/>
          <a:ext cx="11259007" cy="1610258"/>
        </p:xfrm>
        <a:graphic>
          <a:graphicData uri="http://schemas.openxmlformats.org/drawingml/2006/table">
            <a:tbl>
              <a:tblPr/>
              <a:tblGrid>
                <a:gridCol w="563270"/>
                <a:gridCol w="6192317"/>
                <a:gridCol w="3377794"/>
                <a:gridCol w="1125626"/>
              </a:tblGrid>
              <a:tr h="402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#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QUERY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DOCUMENT TYPES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HOPS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</a:tr>
              <a:tr h="40256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16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75895" marB="75895" anchor="t">
                    <a:lnL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"How did the Boeing 737 MAX grounding impact Spirit AeroSystems' revenue concentration with Boeing?"</a:t>
                      </a:r>
                      <a:endParaRPr lang="en-US" sz="1200" dirty="0"/>
                    </a:p>
                  </a:txBody>
                  <a:tcPr marL="114300" marR="114300" marT="75895" marB="75895" anchor="t">
                    <a:lnL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10-K Filings (pre/post)Earnings Transcripts</a:t>
                      </a:r>
                      <a:endParaRPr lang="en-US" sz="1200" dirty="0"/>
                    </a:p>
                  </a:txBody>
                  <a:tcPr marL="114300" marR="114300" marT="75895" marB="75895" anchor="t">
                    <a:lnL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114300" marR="114300" marT="75895" marB="75895" anchor="t">
                    <a:lnL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56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17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75895" marB="75895" anchor="t">
                    <a:lnL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"What was the impact on Goldman Sachs' net interest income following the 2023 Fed rate hikes?"</a:t>
                      </a:r>
                      <a:endParaRPr lang="en-US" sz="1200" dirty="0"/>
                    </a:p>
                  </a:txBody>
                  <a:tcPr marL="114300" marR="114300" marT="75895" marB="75895" anchor="t">
                    <a:lnL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10-K/10-QEarnings TranscriptsFed Announcements</a:t>
                      </a:r>
                      <a:endParaRPr lang="en-US" sz="1200" dirty="0"/>
                    </a:p>
                  </a:txBody>
                  <a:tcPr marL="114300" marR="114300" marT="75895" marB="75895" anchor="t">
                    <a:lnL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114300" marR="114300" marT="75895" marB="75895" anchor="t">
                    <a:lnL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56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18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75895" marB="75895" anchor="t">
                    <a:lnL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"How did the new EU AI Act affect Microsoft's risk factor disclosures between 2023 and 2024 10-K filings?"</a:t>
                      </a:r>
                      <a:endParaRPr lang="en-US" sz="1200" dirty="0"/>
                    </a:p>
                  </a:txBody>
                  <a:tcPr marL="114300" marR="114300" marT="75895" marB="75895" anchor="t">
                    <a:lnL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10-K Filings (2 years)EU Regulation Text</a:t>
                      </a:r>
                      <a:endParaRPr lang="en-US" sz="1200" dirty="0"/>
                    </a:p>
                  </a:txBody>
                  <a:tcPr marL="114300" marR="114300" marT="75895" marB="75895" anchor="t">
                    <a:lnL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114300" marR="114300" marT="75895" marB="75895" anchor="t">
                    <a:lnL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961949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0" y="952805"/>
            <a:ext cx="121916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04495"/>
            <a:ext cx="40197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Multi-Document &amp; Filtering Query Types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95605"/>
            <a:ext cx="45912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56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Advanced Retrieval Patterns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0299802" y="342900"/>
            <a:ext cx="14383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299802" y="647395"/>
            <a:ext cx="1438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24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114654"/>
            <a:ext cx="11277295" cy="1752905"/>
          </a:xfrm>
          <a:prstGeom prst="roundRect">
            <a:avLst>
              <a:gd name="adj" fmla="val 340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" y="1123798"/>
            <a:ext cx="11259007" cy="333756"/>
          </a:xfrm>
          <a:prstGeom prst="roundRect">
            <a:avLst>
              <a:gd name="adj" fmla="val 93933"/>
            </a:avLst>
          </a:prstGeom>
          <a:solidFill>
            <a:srgbClr val="0B1E3D">
              <a:alpha val="5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466344" y="1448410"/>
            <a:ext cx="11259007" cy="9144"/>
          </a:xfrm>
          <a:prstGeom prst="roundRect">
            <a:avLst>
              <a:gd name="adj" fmla="val 342857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9049" y="1181405"/>
            <a:ext cx="209398" cy="209398"/>
          </a:xfrm>
          <a:prstGeom prst="roundRect">
            <a:avLst>
              <a:gd name="adj" fmla="val 119095"/>
            </a:avLst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42746" y="1209751"/>
            <a:ext cx="40389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C4B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Aggregation Queries (Multi-Document Summarization)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" y="1457554"/>
          <a:ext cx="11259007" cy="1228954"/>
        </p:xfrm>
        <a:graphic>
          <a:graphicData uri="http://schemas.openxmlformats.org/drawingml/2006/table">
            <a:tbl>
              <a:tblPr/>
              <a:tblGrid>
                <a:gridCol w="563270"/>
                <a:gridCol w="6192317"/>
                <a:gridCol w="3377794"/>
                <a:gridCol w="1125626"/>
              </a:tblGrid>
              <a:tr h="3072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#</a:t>
                      </a:r>
                      <a:endParaRPr lang="en-US" sz="6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QUERY</a:t>
                      </a:r>
                      <a:endParaRPr lang="en-US" sz="6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DOCUMENT TYPES</a:t>
                      </a:r>
                      <a:endParaRPr lang="en-US" sz="6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HOPS</a:t>
                      </a:r>
                      <a:endParaRPr lang="en-US" sz="6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</a:tr>
              <a:tr h="3072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19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"What is the average DSCR across all office CMBS deals issued in 2024 with loan balances over $100M?"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75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CMBS Prospectus Supplements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72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20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"Calculate the median spread at issuance for all B-rated leveraged loans in the healthcare sector in H1 2024"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75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Loan ProspectusesLCD Data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72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21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"What is the total exposure to CCC-rated assets across all Blackstone-managed CLOs issued in 2023?"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75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CLO Trustee Reports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457200" y="2978201"/>
            <a:ext cx="11277295" cy="1752905"/>
          </a:xfrm>
          <a:prstGeom prst="roundRect">
            <a:avLst>
              <a:gd name="adj" fmla="val 340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66344" y="2987345"/>
            <a:ext cx="11259007" cy="333756"/>
          </a:xfrm>
          <a:prstGeom prst="roundRect">
            <a:avLst>
              <a:gd name="adj" fmla="val 93933"/>
            </a:avLst>
          </a:prstGeom>
          <a:solidFill>
            <a:srgbClr val="0B1E3D">
              <a:alpha val="50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466344" y="3311957"/>
            <a:ext cx="11259007" cy="9144"/>
          </a:xfrm>
          <a:prstGeom prst="roundRect">
            <a:avLst>
              <a:gd name="adj" fmla="val 342857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19049" y="3044952"/>
            <a:ext cx="209398" cy="209398"/>
          </a:xfrm>
          <a:prstGeom prst="roundRect">
            <a:avLst>
              <a:gd name="adj" fmla="val 119095"/>
            </a:avLst>
          </a:prstGeom>
          <a:solidFill>
            <a:srgbClr val="14B8A6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750" b="-1750"/>
          <a:stretch/>
        </p:blipFill>
        <p:spPr>
          <a:xfrm>
            <a:off x="666598" y="3097073"/>
            <a:ext cx="114300" cy="10515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42746" y="3073298"/>
            <a:ext cx="4210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5EEA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Hierarchical / Traversal Queries (Structure Navigation)</a:t>
            </a:r>
            <a:endParaRPr lang="en-US" sz="90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" y="3321101"/>
          <a:ext cx="11259007" cy="1228954"/>
        </p:xfrm>
        <a:graphic>
          <a:graphicData uri="http://schemas.openxmlformats.org/drawingml/2006/table">
            <a:tbl>
              <a:tblPr/>
              <a:tblGrid>
                <a:gridCol w="563270"/>
                <a:gridCol w="6192317"/>
                <a:gridCol w="3377794"/>
                <a:gridCol w="1125626"/>
              </a:tblGrid>
              <a:tr h="3072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#</a:t>
                      </a:r>
                      <a:endParaRPr lang="en-US" sz="6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QUERY</a:t>
                      </a:r>
                      <a:endParaRPr lang="en-US" sz="6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DOCUMENT TYPES</a:t>
                      </a:r>
                      <a:endParaRPr lang="en-US" sz="6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HOPS</a:t>
                      </a:r>
                      <a:endParaRPr lang="en-US" sz="6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</a:tr>
              <a:tr h="3072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22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"List all subsidiaries of Berkshire Hathaway with exposure to California wildfire insurance risk"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75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10-K Exhibit 21Subsidiary FilingsInsurance Filings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72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23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"Which portfolio companies of KKR have borrowings in the leveraged loan market that are currently on watchlist?"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75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Fund HoldingsCredit AgreementsRating Watchlists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72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24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"Trace the ownership chain from Investor X to any sanctioned entity through fund investments"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75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Investor DisclosuresFund HoldingsOFAC List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Shape 18"/>
          <p:cNvSpPr/>
          <p:nvPr/>
        </p:nvSpPr>
        <p:spPr>
          <a:xfrm>
            <a:off x="457200" y="4841748"/>
            <a:ext cx="11277295" cy="1752905"/>
          </a:xfrm>
          <a:prstGeom prst="roundRect">
            <a:avLst>
              <a:gd name="adj" fmla="val 340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6344" y="4851806"/>
            <a:ext cx="11259007" cy="333756"/>
          </a:xfrm>
          <a:prstGeom prst="roundRect">
            <a:avLst>
              <a:gd name="adj" fmla="val 93933"/>
            </a:avLst>
          </a:prstGeom>
          <a:solidFill>
            <a:srgbClr val="0B1E3D">
              <a:alpha val="5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466344" y="5176418"/>
            <a:ext cx="11259007" cy="9144"/>
          </a:xfrm>
          <a:prstGeom prst="roundRect">
            <a:avLst>
              <a:gd name="adj" fmla="val 342857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19049" y="4908499"/>
            <a:ext cx="209398" cy="209398"/>
          </a:xfrm>
          <a:prstGeom prst="roundRect">
            <a:avLst>
              <a:gd name="adj" fmla="val 119095"/>
            </a:avLst>
          </a:prstGeom>
          <a:solidFill>
            <a:srgbClr val="F43F5E">
              <a:alpha val="20000"/>
            </a:srgbClr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1170" y="4960620"/>
            <a:ext cx="105156" cy="10515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42746" y="4936846"/>
            <a:ext cx="387157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FDA4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Conditional / Filter Queries (Sequential Filtering)</a:t>
            </a:r>
            <a:endParaRPr lang="en-US" sz="900" dirty="0"/>
          </a:p>
        </p:txBody>
      </p:sp>
      <p:graphicFrame>
        <p:nvGraphicFramePr>
          <p:cNvPr id="7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" y="5184648"/>
          <a:ext cx="11259007" cy="1228954"/>
        </p:xfrm>
        <a:graphic>
          <a:graphicData uri="http://schemas.openxmlformats.org/drawingml/2006/table">
            <a:tbl>
              <a:tblPr/>
              <a:tblGrid>
                <a:gridCol w="563270"/>
                <a:gridCol w="6192317"/>
                <a:gridCol w="3377794"/>
                <a:gridCol w="1125626"/>
              </a:tblGrid>
              <a:tr h="3072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#</a:t>
                      </a:r>
                      <a:endParaRPr lang="en-US" sz="6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QUERY</a:t>
                      </a:r>
                      <a:endParaRPr lang="en-US" sz="6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DOCUMENT TYPES</a:t>
                      </a:r>
                      <a:endParaRPr lang="en-US" sz="6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HOPS</a:t>
                      </a:r>
                      <a:endParaRPr lang="en-US" sz="6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</a:tr>
              <a:tr h="3072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25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"Find all 2024 SASB CMBS deals secured by hotels with LTV &gt; 65% and DSCR &lt; 1.40"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75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CMBS Prospectus SupplementsPresale Reports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72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26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"Identify leveraged loans issued in 2024 with sponsor equity below 30% and no financial maintenance covenants"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75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Loan ProspectusesCredit Agreements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72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27</a:t>
                      </a:r>
                      <a:endParaRPr lang="en-US" sz="7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"List CLOs with reinvestment periods ending in 2025 that currently have CCC bucket utilization above 7.5%"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75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CLO IndenturesTrustee Reports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43F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111465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0" y="1105510"/>
            <a:ext cx="121916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81305"/>
            <a:ext cx="54772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Specialized Multi-Hop Query Types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09905"/>
            <a:ext cx="725119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68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Validation &amp; Edge Case Patterns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10299802" y="495605"/>
            <a:ext cx="14383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299802" y="800100"/>
            <a:ext cx="1438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25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304849"/>
            <a:ext cx="11277295" cy="1561795"/>
          </a:xfrm>
          <a:prstGeom prst="roundRect">
            <a:avLst>
              <a:gd name="adj" fmla="val 428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" y="1314907"/>
            <a:ext cx="11259007" cy="342900"/>
          </a:xfrm>
          <a:prstGeom prst="roundRect">
            <a:avLst>
              <a:gd name="adj" fmla="val 88889"/>
            </a:avLst>
          </a:prstGeom>
          <a:solidFill>
            <a:srgbClr val="0B1E3D">
              <a:alpha val="5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466344" y="1648663"/>
            <a:ext cx="11259007" cy="9144"/>
          </a:xfrm>
          <a:prstGeom prst="roundRect">
            <a:avLst>
              <a:gd name="adj" fmla="val 333333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9049" y="1376172"/>
            <a:ext cx="209398" cy="209398"/>
          </a:xfrm>
          <a:prstGeom prst="roundRect">
            <a:avLst>
              <a:gd name="adj" fmla="val 119095"/>
            </a:avLst>
          </a:prstGeom>
          <a:solidFill>
            <a:srgbClr val="E11D48">
              <a:alpha val="20000"/>
            </a:srgbClr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1170" y="1429207"/>
            <a:ext cx="105156" cy="10515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42746" y="1386230"/>
            <a:ext cx="4096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6" kern="0" dirty="0">
                <a:solidFill>
                  <a:srgbClr val="FDA4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Null / Negative Queries (Absence Confirmation)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" y="1595628"/>
          <a:ext cx="11259007" cy="1324051"/>
        </p:xfrm>
        <a:graphic>
          <a:graphicData uri="http://schemas.openxmlformats.org/drawingml/2006/table">
            <a:tbl>
              <a:tblPr/>
              <a:tblGrid>
                <a:gridCol w="563270"/>
                <a:gridCol w="6192317"/>
                <a:gridCol w="3377794"/>
                <a:gridCol w="1125626"/>
              </a:tblGrid>
              <a:tr h="3310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#</a:t>
                      </a:r>
                      <a:endParaRPr lang="en-US" sz="6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QUERY</a:t>
                      </a:r>
                      <a:endParaRPr lang="en-US" sz="6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DOCUMENT TYPES</a:t>
                      </a:r>
                      <a:endParaRPr lang="en-US" sz="6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HOPS</a:t>
                      </a:r>
                      <a:endParaRPr lang="en-US" sz="6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28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"Did Nvidia disclose any material weakness in internal controls in their 2024 10-K?"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75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10-K Filing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29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"Has Tesla ever disclosed a cybersecurity incident in any SEC filing between 2020-2024?"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75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10-K, 8-K Filings (5 years)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30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"Did the CLO indenture for Ares XLVII include an ESG exclusion clause for thermal coal investments?"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75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CLO Indenture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11D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Shape 13"/>
          <p:cNvSpPr/>
          <p:nvPr/>
        </p:nvSpPr>
        <p:spPr>
          <a:xfrm>
            <a:off x="457200" y="2976372"/>
            <a:ext cx="11277295" cy="1561795"/>
          </a:xfrm>
          <a:prstGeom prst="roundRect">
            <a:avLst>
              <a:gd name="adj" fmla="val 428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66344" y="2986430"/>
            <a:ext cx="11259007" cy="342900"/>
          </a:xfrm>
          <a:prstGeom prst="roundRect">
            <a:avLst>
              <a:gd name="adj" fmla="val 88889"/>
            </a:avLst>
          </a:prstGeom>
          <a:solidFill>
            <a:srgbClr val="0B1E3D">
              <a:alpha val="50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466344" y="3320186"/>
            <a:ext cx="11259007" cy="9144"/>
          </a:xfrm>
          <a:prstGeom prst="roundRect">
            <a:avLst>
              <a:gd name="adj" fmla="val 333333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19049" y="3047695"/>
            <a:ext cx="209398" cy="209398"/>
          </a:xfrm>
          <a:prstGeom prst="roundRect">
            <a:avLst>
              <a:gd name="adj" fmla="val 119095"/>
            </a:avLst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1170" y="3100730"/>
            <a:ext cx="105156" cy="10515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42746" y="3057754"/>
            <a:ext cx="4343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6" kern="0" dirty="0">
                <a:solidFill>
                  <a:srgbClr val="C4B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Counterfactual Queries (Hypothetical Scenarios)</a:t>
            </a:r>
            <a:endParaRPr lang="en-US" sz="100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" y="3268066"/>
          <a:ext cx="11259007" cy="1324051"/>
        </p:xfrm>
        <a:graphic>
          <a:graphicData uri="http://schemas.openxmlformats.org/drawingml/2006/table">
            <a:tbl>
              <a:tblPr/>
              <a:tblGrid>
                <a:gridCol w="563270"/>
                <a:gridCol w="6192317"/>
                <a:gridCol w="3377794"/>
                <a:gridCol w="1125626"/>
              </a:tblGrid>
              <a:tr h="3310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#</a:t>
                      </a:r>
                      <a:endParaRPr lang="en-US" sz="6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QUERY</a:t>
                      </a:r>
                      <a:endParaRPr lang="en-US" sz="6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DOCUMENT TYPES</a:t>
                      </a:r>
                      <a:endParaRPr lang="en-US" sz="6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HOPS</a:t>
                      </a:r>
                      <a:endParaRPr lang="en-US" sz="6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31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"What would Tesla's gross margin be if lithium prices increased 20% from current levels?"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75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10-K (COGS breakdown)Commodity Data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32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"How would JPMorgan's CET1 ratio change if commercial real estate losses doubled from current reserves?"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75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10-KBasel III Disclosures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0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33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"What would the DSCR be for the Marriott CMBS loan if RevPAR declined 15% from underwritten levels?"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75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CMBS ProspectusAppraisal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18"/>
          <p:cNvSpPr/>
          <p:nvPr/>
        </p:nvSpPr>
        <p:spPr>
          <a:xfrm>
            <a:off x="457200" y="4647895"/>
            <a:ext cx="11277295" cy="1561795"/>
          </a:xfrm>
          <a:prstGeom prst="roundRect">
            <a:avLst>
              <a:gd name="adj" fmla="val 428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66344" y="4657954"/>
            <a:ext cx="11259007" cy="342900"/>
          </a:xfrm>
          <a:prstGeom prst="roundRect">
            <a:avLst>
              <a:gd name="adj" fmla="val 88889"/>
            </a:avLst>
          </a:prstGeom>
          <a:solidFill>
            <a:srgbClr val="0B1E3D">
              <a:alpha val="50000"/>
            </a:srgbClr>
          </a:solidFill>
          <a:ln/>
        </p:spPr>
      </p:sp>
      <p:sp>
        <p:nvSpPr>
          <p:cNvPr id="27" name="Shape 20"/>
          <p:cNvSpPr/>
          <p:nvPr/>
        </p:nvSpPr>
        <p:spPr>
          <a:xfrm>
            <a:off x="466344" y="4991710"/>
            <a:ext cx="11259007" cy="9144"/>
          </a:xfrm>
          <a:prstGeom prst="roundRect">
            <a:avLst>
              <a:gd name="adj" fmla="val 333333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619049" y="4719218"/>
            <a:ext cx="209398" cy="209398"/>
          </a:xfrm>
          <a:prstGeom prst="roundRect">
            <a:avLst>
              <a:gd name="adj" fmla="val 119095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1170" y="4772254"/>
            <a:ext cx="105156" cy="10515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42746" y="4729277"/>
            <a:ext cx="51864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6" kern="0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Verification / Fact-Check Queries (Cross-Source Validation)</a:t>
            </a:r>
            <a:endParaRPr lang="en-US" sz="1000" dirty="0"/>
          </a:p>
        </p:txBody>
      </p:sp>
      <p:graphicFrame>
        <p:nvGraphicFramePr>
          <p:cNvPr id="7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" y="4871009"/>
          <a:ext cx="11259007" cy="1457554"/>
        </p:xfrm>
        <a:graphic>
          <a:graphicData uri="http://schemas.openxmlformats.org/drawingml/2006/table">
            <a:tbl>
              <a:tblPr/>
              <a:tblGrid>
                <a:gridCol w="563270"/>
                <a:gridCol w="6192317"/>
                <a:gridCol w="3377794"/>
                <a:gridCol w="1125626"/>
              </a:tblGrid>
              <a:tr h="364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#</a:t>
                      </a:r>
                      <a:endParaRPr lang="en-US" sz="6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QUERY</a:t>
                      </a:r>
                      <a:endParaRPr lang="en-US" sz="6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DOCUMENT TYPES</a:t>
                      </a:r>
                      <a:endParaRPr lang="en-US" sz="6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b="1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HOPS</a:t>
                      </a:r>
                      <a:endParaRPr lang="en-US" sz="67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</a:tr>
              <a:tr h="364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34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"Does the EBITDA figure in the company's investor presentation match the adjusted EBITDA in the audited 10-K?"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75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Investor Presentation10-K Filing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35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"Does Moody's reported WARF for CLO 2024-X match the trustee's calculated WARF in the monthly report?"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75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Moody's SurveillanceTrustee Report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E5E7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36</a:t>
                      </a:r>
                      <a:endParaRPr lang="en-US" sz="8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i="1" dirty="0">
                          <a:solidFill>
                            <a:srgbClr val="D1D5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"Does the CEO's statement on job growth in the earnings call align with headcount disclosed in the 10-K?"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75" dirty="0">
                          <a:solidFill>
                            <a:srgbClr val="9CA3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Earnings Transcript10-K Filing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6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69" b="-69"/>
          <a:stretch/>
        </p:blipFill>
        <p:spPr>
          <a:xfrm>
            <a:off x="457200" y="6357823"/>
            <a:ext cx="11277295" cy="309982"/>
          </a:xfrm>
          <a:prstGeom prst="rect">
            <a:avLst/>
          </a:prstGeom>
        </p:spPr>
      </p:pic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958" b="-1958"/>
          <a:stretch/>
        </p:blipFill>
        <p:spPr>
          <a:xfrm>
            <a:off x="638251" y="6460236"/>
            <a:ext cx="75895" cy="105156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714146" y="6357823"/>
            <a:ext cx="6762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Insight:</a:t>
            </a:r>
            <a:pPr algn="l"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Single-hop RAG handles </a:t>
            </a:r>
            <a:pPr algn="l" indent="0" marL="0">
              <a:buNone/>
            </a:pPr>
            <a:r>
              <a:rPr lang="en-US" sz="800" b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lookup</a:t>
            </a:r>
            <a:pPr algn="l"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Multi-hop RAG handles </a:t>
            </a:r>
            <a:pPr algn="l" indent="0" marL="0">
              <a:buNone/>
            </a:pPr>
            <a:r>
              <a:rPr lang="en-US" sz="800" b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analysis</a:t>
            </a:r>
            <a:pPr algn="l"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The query type determines the retrieval strategy.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122895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0" y="1219810"/>
            <a:ext cx="121916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81305"/>
            <a:ext cx="48106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Implementation Risks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09905"/>
            <a:ext cx="633953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68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Key Challenges to Watch For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10299802" y="533095"/>
            <a:ext cx="14383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299802" y="800100"/>
            <a:ext cx="1438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26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609344"/>
            <a:ext cx="3562502" cy="4867351"/>
          </a:xfrm>
          <a:prstGeom prst="roundRect">
            <a:avLst>
              <a:gd name="adj" fmla="val 82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466344" y="1619402"/>
            <a:ext cx="3536899" cy="3840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66344" y="2553005"/>
            <a:ext cx="3543300" cy="9144"/>
          </a:xfrm>
          <a:prstGeom prst="roundRect">
            <a:avLst>
              <a:gd name="adj" fmla="val 121212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94944" y="1848002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-133" r="-133" t="0" b="0"/>
          <a:stretch/>
        </p:blipFill>
        <p:spPr>
          <a:xfrm>
            <a:off x="847649" y="1971446"/>
            <a:ext cx="171907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24051" y="1848002"/>
            <a:ext cx="196321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Latency Overhead</a:t>
            </a:r>
            <a:endParaRPr lang="en-US" sz="15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4051" y="2162556"/>
            <a:ext cx="1505102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4051" y="2162556"/>
            <a:ext cx="1505102" cy="23865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59E0B">
                <a:alpha val="3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Impact: 3-5x Slowdown</a:t>
            </a:r>
            <a:endParaRPr lang="en-US" sz="800" dirty="0"/>
          </a:p>
        </p:txBody>
      </p:sp>
      <p:sp>
        <p:nvSpPr>
          <p:cNvPr id="19" name="Text 13"/>
          <p:cNvSpPr txBox="1"/>
          <p:nvPr/>
        </p:nvSpPr>
        <p:spPr>
          <a:xfrm>
            <a:off x="694944" y="2752344"/>
            <a:ext cx="31629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hop adds an LLM inference call and database retrieval cycle. A standard query takes &lt;2s, while a 3-hop chain can exceed 10s.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847649" y="3555187"/>
            <a:ext cx="3048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Wait time increases linearly with hops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847649" y="3783787"/>
            <a:ext cx="31318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experience degrades for real-time needs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694944" y="5229454"/>
            <a:ext cx="3086100" cy="1009498"/>
          </a:xfrm>
          <a:prstGeom prst="roundRect">
            <a:avLst>
              <a:gd name="adj" fmla="val 6836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57707" y="5410505"/>
            <a:ext cx="114300" cy="1143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047902" y="5391302"/>
            <a:ext cx="15151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Mitigation Strategy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857707" y="5619902"/>
            <a:ext cx="28392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Parallelize retrieval where branches are independent. Implement aggressive caching for intermediate steps.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4317797" y="1609344"/>
            <a:ext cx="3562502" cy="4867351"/>
          </a:xfrm>
          <a:prstGeom prst="roundRect">
            <a:avLst>
              <a:gd name="adj" fmla="val 82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02" b="-402"/>
          <a:stretch/>
        </p:blipFill>
        <p:spPr>
          <a:xfrm>
            <a:off x="4327855" y="1619402"/>
            <a:ext cx="3536899" cy="38405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327855" y="2553005"/>
            <a:ext cx="3543300" cy="9144"/>
          </a:xfrm>
          <a:prstGeom prst="roundRect">
            <a:avLst>
              <a:gd name="adj" fmla="val 121212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4556455" y="1848002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45" b="-45"/>
          <a:stretch/>
        </p:blipFill>
        <p:spPr>
          <a:xfrm>
            <a:off x="4665269" y="1971446"/>
            <a:ext cx="256946" cy="22860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5184648" y="1848002"/>
            <a:ext cx="166695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 Noise</a:t>
            </a:r>
            <a:endParaRPr lang="en-US" sz="15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4648" y="2162556"/>
            <a:ext cx="1591056" cy="237744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184648" y="2162556"/>
            <a:ext cx="1591056" cy="23865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78BFA">
                <a:alpha val="3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Risk: "Lost in the Middle"</a:t>
            </a:r>
            <a:endParaRPr lang="en-US" sz="800" dirty="0"/>
          </a:p>
        </p:txBody>
      </p:sp>
      <p:sp>
        <p:nvSpPr>
          <p:cNvPr id="34" name="Text 24"/>
          <p:cNvSpPr txBox="1"/>
          <p:nvPr/>
        </p:nvSpPr>
        <p:spPr>
          <a:xfrm>
            <a:off x="4556455" y="2752344"/>
            <a:ext cx="3162910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Accumulating &gt; 100 documents across multiple hops creates a noisy context window. The LLM may overlook early critical clues or hallucinate connections.</a:t>
            </a:r>
            <a:endParaRPr lang="en-US" sz="1000" dirty="0"/>
          </a:p>
        </p:txBody>
      </p:sp>
      <p:sp>
        <p:nvSpPr>
          <p:cNvPr id="35" name="Text 25"/>
          <p:cNvSpPr txBox="1"/>
          <p:nvPr/>
        </p:nvSpPr>
        <p:spPr>
          <a:xfrm>
            <a:off x="4708246" y="3771900"/>
            <a:ext cx="3048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 drops as context length grows</a:t>
            </a:r>
            <a:endParaRPr lang="en-US" sz="900" dirty="0"/>
          </a:p>
        </p:txBody>
      </p:sp>
      <p:sp>
        <p:nvSpPr>
          <p:cNvPr id="36" name="Text 26"/>
          <p:cNvSpPr txBox="1"/>
          <p:nvPr/>
        </p:nvSpPr>
        <p:spPr>
          <a:xfrm>
            <a:off x="4708246" y="4000500"/>
            <a:ext cx="30632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Irrelevant details from Hop 1 pollute Hop 3</a:t>
            </a:r>
            <a:endParaRPr lang="en-US" sz="900" dirty="0"/>
          </a:p>
        </p:txBody>
      </p:sp>
      <p:sp>
        <p:nvSpPr>
          <p:cNvPr id="37" name="Shape 27"/>
          <p:cNvSpPr/>
          <p:nvPr/>
        </p:nvSpPr>
        <p:spPr>
          <a:xfrm>
            <a:off x="4556455" y="5229454"/>
            <a:ext cx="3086100" cy="1009498"/>
          </a:xfrm>
          <a:prstGeom prst="roundRect">
            <a:avLst>
              <a:gd name="adj" fmla="val 6836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718304" y="5410505"/>
            <a:ext cx="114300" cy="11430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4908499" y="5391302"/>
            <a:ext cx="15151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Mitigation Strategy</a:t>
            </a:r>
            <a:endParaRPr lang="en-US" sz="900" dirty="0"/>
          </a:p>
        </p:txBody>
      </p:sp>
      <p:sp>
        <p:nvSpPr>
          <p:cNvPr id="40" name="Text 29"/>
          <p:cNvSpPr txBox="1"/>
          <p:nvPr/>
        </p:nvSpPr>
        <p:spPr>
          <a:xfrm>
            <a:off x="4718304" y="5619902"/>
            <a:ext cx="28392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Summarize intermediate results before passing to next hop. Use "Chain-of-Note" to filter noise at each step.</a:t>
            </a:r>
            <a:endParaRPr lang="en-US" sz="900" dirty="0"/>
          </a:p>
        </p:txBody>
      </p:sp>
      <p:sp>
        <p:nvSpPr>
          <p:cNvPr id="41" name="Shape 30"/>
          <p:cNvSpPr/>
          <p:nvPr/>
        </p:nvSpPr>
        <p:spPr>
          <a:xfrm>
            <a:off x="8178394" y="1609344"/>
            <a:ext cx="3562502" cy="4867351"/>
          </a:xfrm>
          <a:prstGeom prst="roundRect">
            <a:avLst>
              <a:gd name="adj" fmla="val 82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400" b="-400"/>
          <a:stretch/>
        </p:blipFill>
        <p:spPr>
          <a:xfrm>
            <a:off x="8188452" y="1619402"/>
            <a:ext cx="3536899" cy="38405"/>
          </a:xfrm>
          <a:prstGeom prst="rect">
            <a:avLst/>
          </a:prstGeom>
        </p:spPr>
      </p:pic>
      <p:sp>
        <p:nvSpPr>
          <p:cNvPr id="43" name="Shape 31"/>
          <p:cNvSpPr/>
          <p:nvPr/>
        </p:nvSpPr>
        <p:spPr>
          <a:xfrm>
            <a:off x="8188452" y="2553005"/>
            <a:ext cx="3543300" cy="9144"/>
          </a:xfrm>
          <a:prstGeom prst="roundRect">
            <a:avLst>
              <a:gd name="adj" fmla="val 121212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2"/>
          <p:cNvSpPr/>
          <p:nvPr/>
        </p:nvSpPr>
        <p:spPr>
          <a:xfrm>
            <a:off x="8417052" y="1848002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rcRect l="-80" r="-80" t="0" b="0"/>
          <a:stretch/>
        </p:blipFill>
        <p:spPr>
          <a:xfrm>
            <a:off x="8512150" y="1971446"/>
            <a:ext cx="286207" cy="228600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9045245" y="1848002"/>
            <a:ext cx="208026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Error Propagation</a:t>
            </a:r>
            <a:endParaRPr lang="en-US" sz="1500" dirty="0"/>
          </a:p>
        </p:txBody>
      </p:sp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45245" y="2162556"/>
            <a:ext cx="1514246" cy="237744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9045245" y="2162556"/>
            <a:ext cx="1515161" cy="23865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87171">
                <a:alpha val="3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Risk: Cascading Failure</a:t>
            </a:r>
            <a:endParaRPr lang="en-US" sz="800" dirty="0"/>
          </a:p>
        </p:txBody>
      </p:sp>
      <p:sp>
        <p:nvSpPr>
          <p:cNvPr id="49" name="Text 35"/>
          <p:cNvSpPr txBox="1"/>
          <p:nvPr/>
        </p:nvSpPr>
        <p:spPr>
          <a:xfrm>
            <a:off x="8417052" y="2752344"/>
            <a:ext cx="31629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Errors cascade. If Hop 1 identifies the wrong "Target Company", all subsequent financial retrievals will be for the wrong entity.</a:t>
            </a:r>
            <a:endParaRPr lang="en-US" sz="1000" dirty="0"/>
          </a:p>
        </p:txBody>
      </p:sp>
      <p:sp>
        <p:nvSpPr>
          <p:cNvPr id="50" name="Text 36"/>
          <p:cNvSpPr txBox="1"/>
          <p:nvPr/>
        </p:nvSpPr>
        <p:spPr>
          <a:xfrm>
            <a:off x="8569757" y="3555187"/>
            <a:ext cx="3048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Early hallucination ruins entire chain</a:t>
            </a:r>
            <a:endParaRPr lang="en-US" sz="900" dirty="0"/>
          </a:p>
        </p:txBody>
      </p:sp>
      <p:sp>
        <p:nvSpPr>
          <p:cNvPr id="51" name="Text 37"/>
          <p:cNvSpPr txBox="1"/>
          <p:nvPr/>
        </p:nvSpPr>
        <p:spPr>
          <a:xfrm>
            <a:off x="8569757" y="3783787"/>
            <a:ext cx="3048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Harder to debug than single-shot errors</a:t>
            </a:r>
            <a:endParaRPr lang="en-US" sz="900" dirty="0"/>
          </a:p>
        </p:txBody>
      </p:sp>
      <p:sp>
        <p:nvSpPr>
          <p:cNvPr id="52" name="Shape 38"/>
          <p:cNvSpPr/>
          <p:nvPr/>
        </p:nvSpPr>
        <p:spPr>
          <a:xfrm>
            <a:off x="8417052" y="5229454"/>
            <a:ext cx="3086100" cy="1009498"/>
          </a:xfrm>
          <a:prstGeom prst="roundRect">
            <a:avLst>
              <a:gd name="adj" fmla="val 6836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pic>
        <p:nvPicPr>
          <p:cNvPr id="53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8578901" y="5410505"/>
            <a:ext cx="114300" cy="114300"/>
          </a:xfrm>
          <a:prstGeom prst="rect">
            <a:avLst/>
          </a:prstGeom>
        </p:spPr>
      </p:pic>
      <p:sp>
        <p:nvSpPr>
          <p:cNvPr id="54" name="Text 39"/>
          <p:cNvSpPr txBox="1"/>
          <p:nvPr/>
        </p:nvSpPr>
        <p:spPr>
          <a:xfrm>
            <a:off x="8769096" y="5391302"/>
            <a:ext cx="15151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Mitigation Strategy</a:t>
            </a:r>
            <a:endParaRPr lang="en-US" sz="900" dirty="0"/>
          </a:p>
        </p:txBody>
      </p:sp>
      <p:sp>
        <p:nvSpPr>
          <p:cNvPr id="55" name="Text 40"/>
          <p:cNvSpPr txBox="1"/>
          <p:nvPr/>
        </p:nvSpPr>
        <p:spPr>
          <a:xfrm>
            <a:off x="8578901" y="5619902"/>
            <a:ext cx="28392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 validation steps ("Is this the correct company?"). Use confidence scoring to abort low-quality paths early.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122895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0" y="1219810"/>
            <a:ext cx="121916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81305"/>
            <a:ext cx="37536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Impact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09905"/>
            <a:ext cx="497067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68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Strategic Value &amp; ROI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10299802" y="495605"/>
            <a:ext cx="14383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299802" y="800100"/>
            <a:ext cx="1438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27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071823"/>
            <a:ext cx="227868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Operational Shift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7991" y="4091026"/>
            <a:ext cx="1752905" cy="2478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311689" y="4091026"/>
            <a:ext cx="1429207" cy="24780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Transformation</a:t>
            </a:r>
            <a:endParaRPr lang="en-US" sz="9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-4000" r="-4000" t="0" b="0"/>
          <a:stretch/>
        </p:blipFill>
        <p:spPr>
          <a:xfrm>
            <a:off x="10111435" y="4153205"/>
            <a:ext cx="123444" cy="1143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57200" y="1533449"/>
            <a:ext cx="2648102" cy="2238451"/>
          </a:xfrm>
          <a:prstGeom prst="roundRect">
            <a:avLst>
              <a:gd name="adj" fmla="val 208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-404" r="-404" t="0" b="0"/>
          <a:stretch/>
        </p:blipFill>
        <p:spPr>
          <a:xfrm>
            <a:off x="466344" y="1543507"/>
            <a:ext cx="2628900" cy="28346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543507" y="1772107"/>
            <a:ext cx="476402" cy="476402"/>
          </a:xfrm>
          <a:prstGeom prst="ellipse">
            <a:avLst/>
          </a:prstGeom>
          <a:solidFill>
            <a:srgbClr val="0B1E3D">
              <a:alpha val="50000"/>
            </a:srgbClr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686154" y="1914754"/>
            <a:ext cx="190195" cy="19019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21385" y="2438705"/>
            <a:ext cx="15279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" kern="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 to Insight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619049" y="2743200"/>
            <a:ext cx="23244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Significant reduction in research time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657454" y="3176626"/>
            <a:ext cx="22475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547726" y="3300070"/>
            <a:ext cx="24679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"Hours of work in minutes"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3333902" y="1533449"/>
            <a:ext cx="2648102" cy="2238451"/>
          </a:xfrm>
          <a:prstGeom prst="roundRect">
            <a:avLst>
              <a:gd name="adj" fmla="val 208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-404" r="-404" t="0" b="0"/>
          <a:stretch/>
        </p:blipFill>
        <p:spPr>
          <a:xfrm>
            <a:off x="3343046" y="1543507"/>
            <a:ext cx="2628900" cy="28346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4419295" y="1772107"/>
            <a:ext cx="476402" cy="476402"/>
          </a:xfrm>
          <a:prstGeom prst="ellipse">
            <a:avLst/>
          </a:prstGeom>
          <a:solidFill>
            <a:srgbClr val="0B1E3D">
              <a:alpha val="50000"/>
            </a:srgbClr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562856" y="1914754"/>
            <a:ext cx="190195" cy="19019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4159606" y="2438705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" kern="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Accuracy</a:t>
            </a:r>
            <a:endParaRPr lang="en-US" sz="1200" dirty="0"/>
          </a:p>
        </p:txBody>
      </p:sp>
      <p:sp>
        <p:nvSpPr>
          <p:cNvPr id="28" name="Text 19"/>
          <p:cNvSpPr txBox="1"/>
          <p:nvPr/>
        </p:nvSpPr>
        <p:spPr>
          <a:xfrm>
            <a:off x="3495751" y="2743200"/>
            <a:ext cx="23244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Minimized hallucination rate on facts</a:t>
            </a:r>
            <a:endParaRPr lang="en-US" sz="1000" dirty="0"/>
          </a:p>
        </p:txBody>
      </p:sp>
      <p:sp>
        <p:nvSpPr>
          <p:cNvPr id="29" name="Shape 20"/>
          <p:cNvSpPr/>
          <p:nvPr/>
        </p:nvSpPr>
        <p:spPr>
          <a:xfrm>
            <a:off x="3534156" y="3176626"/>
            <a:ext cx="22475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30" name="Text 21"/>
          <p:cNvSpPr txBox="1"/>
          <p:nvPr/>
        </p:nvSpPr>
        <p:spPr>
          <a:xfrm>
            <a:off x="3320186" y="3300070"/>
            <a:ext cx="26755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"Grounded in specific filings"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6210605" y="1533449"/>
            <a:ext cx="2648102" cy="2238451"/>
          </a:xfrm>
          <a:prstGeom prst="roundRect">
            <a:avLst>
              <a:gd name="adj" fmla="val 208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rcRect l="-404" r="-404" t="0" b="0"/>
          <a:stretch/>
        </p:blipFill>
        <p:spPr>
          <a:xfrm>
            <a:off x="6219749" y="1543507"/>
            <a:ext cx="2628900" cy="28346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7295998" y="1772107"/>
            <a:ext cx="476402" cy="476402"/>
          </a:xfrm>
          <a:prstGeom prst="ellipse">
            <a:avLst/>
          </a:prstGeom>
          <a:solidFill>
            <a:srgbClr val="0B1E3D">
              <a:alpha val="5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462418" y="1914754"/>
            <a:ext cx="142646" cy="190195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6913778" y="2438705"/>
            <a:ext cx="1248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" kern="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Auditability</a:t>
            </a:r>
            <a:endParaRPr lang="en-US" sz="1200" dirty="0"/>
          </a:p>
        </p:txBody>
      </p:sp>
      <p:sp>
        <p:nvSpPr>
          <p:cNvPr id="36" name="Text 25"/>
          <p:cNvSpPr txBox="1"/>
          <p:nvPr/>
        </p:nvSpPr>
        <p:spPr>
          <a:xfrm>
            <a:off x="6293815" y="2743200"/>
            <a:ext cx="24853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Fully traceable decision logic</a:t>
            </a:r>
            <a:endParaRPr lang="en-US" sz="1000" dirty="0"/>
          </a:p>
        </p:txBody>
      </p:sp>
      <p:sp>
        <p:nvSpPr>
          <p:cNvPr id="37" name="Shape 26"/>
          <p:cNvSpPr/>
          <p:nvPr/>
        </p:nvSpPr>
        <p:spPr>
          <a:xfrm>
            <a:off x="6409944" y="3176626"/>
            <a:ext cx="22475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38" name="Text 27"/>
          <p:cNvSpPr txBox="1"/>
          <p:nvPr/>
        </p:nvSpPr>
        <p:spPr>
          <a:xfrm>
            <a:off x="6365138" y="3300070"/>
            <a:ext cx="23381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"Every hop is logged"</a:t>
            </a:r>
            <a:endParaRPr lang="en-US" sz="1200" dirty="0"/>
          </a:p>
        </p:txBody>
      </p:sp>
      <p:sp>
        <p:nvSpPr>
          <p:cNvPr id="39" name="Shape 28"/>
          <p:cNvSpPr/>
          <p:nvPr/>
        </p:nvSpPr>
        <p:spPr>
          <a:xfrm>
            <a:off x="9087307" y="1533449"/>
            <a:ext cx="2648102" cy="2238451"/>
          </a:xfrm>
          <a:prstGeom prst="roundRect">
            <a:avLst>
              <a:gd name="adj" fmla="val 208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rcRect l="-404" r="-404" t="0" b="0"/>
          <a:stretch/>
        </p:blipFill>
        <p:spPr>
          <a:xfrm>
            <a:off x="9096451" y="1543507"/>
            <a:ext cx="2628900" cy="28346"/>
          </a:xfrm>
          <a:prstGeom prst="rect">
            <a:avLst/>
          </a:prstGeom>
        </p:spPr>
      </p:pic>
      <p:sp>
        <p:nvSpPr>
          <p:cNvPr id="41" name="Shape 29"/>
          <p:cNvSpPr/>
          <p:nvPr/>
        </p:nvSpPr>
        <p:spPr>
          <a:xfrm>
            <a:off x="10172700" y="1772107"/>
            <a:ext cx="476402" cy="476402"/>
          </a:xfrm>
          <a:prstGeom prst="ellipse">
            <a:avLst/>
          </a:prstGeom>
          <a:solidFill>
            <a:srgbClr val="0B1E3D">
              <a:alpha val="50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10315346" y="1914754"/>
            <a:ext cx="190195" cy="190195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9834372" y="2438705"/>
            <a:ext cx="11622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" kern="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44" name="Text 31"/>
          <p:cNvSpPr txBox="1"/>
          <p:nvPr/>
        </p:nvSpPr>
        <p:spPr>
          <a:xfrm>
            <a:off x="9249156" y="2743200"/>
            <a:ext cx="23244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Increased analyst throughput capacity</a:t>
            </a:r>
            <a:endParaRPr lang="en-US" sz="1000" dirty="0"/>
          </a:p>
        </p:txBody>
      </p:sp>
      <p:sp>
        <p:nvSpPr>
          <p:cNvPr id="45" name="Shape 32"/>
          <p:cNvSpPr/>
          <p:nvPr/>
        </p:nvSpPr>
        <p:spPr>
          <a:xfrm>
            <a:off x="9286646" y="3176626"/>
            <a:ext cx="22475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46" name="Text 33"/>
          <p:cNvSpPr txBox="1"/>
          <p:nvPr/>
        </p:nvSpPr>
        <p:spPr>
          <a:xfrm>
            <a:off x="9131198" y="3300070"/>
            <a:ext cx="25594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"Handle cross-team queries"</a:t>
            </a:r>
            <a:endParaRPr lang="en-US" sz="1200" dirty="0"/>
          </a:p>
        </p:txBody>
      </p:sp>
      <p:sp>
        <p:nvSpPr>
          <p:cNvPr id="47" name="Shape 34"/>
          <p:cNvSpPr/>
          <p:nvPr/>
        </p:nvSpPr>
        <p:spPr>
          <a:xfrm>
            <a:off x="457200" y="4548226"/>
            <a:ext cx="11277295" cy="2009851"/>
          </a:xfrm>
          <a:prstGeom prst="roundRect">
            <a:avLst>
              <a:gd name="adj" fmla="val 3450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9" b="-9"/>
          <a:stretch/>
        </p:blipFill>
        <p:spPr>
          <a:xfrm>
            <a:off x="504749" y="4595774"/>
            <a:ext cx="5596128" cy="1910182"/>
          </a:xfrm>
          <a:prstGeom prst="rect">
            <a:avLst/>
          </a:prstGeom>
        </p:spPr>
      </p:pic>
      <p:sp>
        <p:nvSpPr>
          <p:cNvPr id="49" name="Shape 35"/>
          <p:cNvSpPr/>
          <p:nvPr/>
        </p:nvSpPr>
        <p:spPr>
          <a:xfrm>
            <a:off x="733349" y="4883810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847649" y="4998110"/>
            <a:ext cx="152705" cy="152705"/>
          </a:xfrm>
          <a:prstGeom prst="rect">
            <a:avLst/>
          </a:prstGeom>
        </p:spPr>
      </p:pic>
      <p:sp>
        <p:nvSpPr>
          <p:cNvPr id="51" name="Text 36"/>
          <p:cNvSpPr txBox="1"/>
          <p:nvPr/>
        </p:nvSpPr>
        <p:spPr>
          <a:xfrm>
            <a:off x="1266444" y="4864608"/>
            <a:ext cx="136428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Standard RAG</a:t>
            </a:r>
            <a:endParaRPr lang="en-US" sz="1300" dirty="0"/>
          </a:p>
        </p:txBody>
      </p:sp>
      <p:sp>
        <p:nvSpPr>
          <p:cNvPr id="52" name="Text 37"/>
          <p:cNvSpPr txBox="1"/>
          <p:nvPr/>
        </p:nvSpPr>
        <p:spPr>
          <a:xfrm>
            <a:off x="1266444" y="5131613"/>
            <a:ext cx="12481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Legacy Approach</a:t>
            </a:r>
            <a:endParaRPr lang="en-US" sz="900" dirty="0"/>
          </a:p>
        </p:txBody>
      </p:sp>
      <p:pic>
        <p:nvPicPr>
          <p:cNvPr id="53" name="Image 13" descr="preencoded.png">    </p:cNvPr>
          <p:cNvPicPr>
            <a:picLocks noChangeAspect="1"/>
          </p:cNvPicPr>
          <p:nvPr/>
        </p:nvPicPr>
        <p:blipFill>
          <a:blip r:embed="rId14"/>
          <a:srcRect l="-7192" r="-7192" t="0" b="0"/>
          <a:stretch/>
        </p:blipFill>
        <p:spPr>
          <a:xfrm>
            <a:off x="809244" y="5465369"/>
            <a:ext cx="152705" cy="133502"/>
          </a:xfrm>
          <a:prstGeom prst="rect">
            <a:avLst/>
          </a:prstGeom>
        </p:spPr>
      </p:pic>
      <p:sp>
        <p:nvSpPr>
          <p:cNvPr id="54" name="Text 38"/>
          <p:cNvSpPr txBox="1"/>
          <p:nvPr/>
        </p:nvSpPr>
        <p:spPr>
          <a:xfrm>
            <a:off x="961949" y="5436108"/>
            <a:ext cx="26554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Simple Q&amp;A over single documents</a:t>
            </a:r>
            <a:endParaRPr lang="en-US" sz="1000" dirty="0"/>
          </a:p>
        </p:txBody>
      </p:sp>
      <p:pic>
        <p:nvPicPr>
          <p:cNvPr id="55" name="Image 14" descr="preencoded.png">    </p:cNvPr>
          <p:cNvPicPr>
            <a:picLocks noChangeAspect="1"/>
          </p:cNvPicPr>
          <p:nvPr/>
        </p:nvPicPr>
        <p:blipFill>
          <a:blip r:embed="rId15"/>
          <a:srcRect l="-7192" r="-7192" t="0" b="0"/>
          <a:stretch/>
        </p:blipFill>
        <p:spPr>
          <a:xfrm>
            <a:off x="809244" y="5769864"/>
            <a:ext cx="152705" cy="133502"/>
          </a:xfrm>
          <a:prstGeom prst="rect">
            <a:avLst/>
          </a:prstGeom>
        </p:spPr>
      </p:pic>
      <p:sp>
        <p:nvSpPr>
          <p:cNvPr id="56" name="Text 39"/>
          <p:cNvSpPr txBox="1"/>
          <p:nvPr/>
        </p:nvSpPr>
        <p:spPr>
          <a:xfrm>
            <a:off x="961949" y="5741518"/>
            <a:ext cx="281909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Analyst must manually connect dots</a:t>
            </a:r>
            <a:endParaRPr lang="en-US" sz="1000" dirty="0"/>
          </a:p>
        </p:txBody>
      </p:sp>
      <p:pic>
        <p:nvPicPr>
          <p:cNvPr id="57" name="Image 15" descr="preencoded.png">    </p:cNvPr>
          <p:cNvPicPr>
            <a:picLocks noChangeAspect="1"/>
          </p:cNvPicPr>
          <p:nvPr/>
        </p:nvPicPr>
        <p:blipFill>
          <a:blip r:embed="rId16"/>
          <a:srcRect l="-7192" r="-7192" t="0" b="0"/>
          <a:stretch/>
        </p:blipFill>
        <p:spPr>
          <a:xfrm>
            <a:off x="809244" y="6074359"/>
            <a:ext cx="152705" cy="133502"/>
          </a:xfrm>
          <a:prstGeom prst="rect">
            <a:avLst/>
          </a:prstGeom>
        </p:spPr>
      </p:pic>
      <p:sp>
        <p:nvSpPr>
          <p:cNvPr id="58" name="Text 40"/>
          <p:cNvSpPr txBox="1"/>
          <p:nvPr/>
        </p:nvSpPr>
        <p:spPr>
          <a:xfrm>
            <a:off x="961949" y="6046013"/>
            <a:ext cx="290230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 limited to keyword similarity</a:t>
            </a:r>
            <a:endParaRPr lang="en-US" sz="1000" dirty="0"/>
          </a:p>
        </p:txBody>
      </p:sp>
      <p:pic>
        <p:nvPicPr>
          <p:cNvPr id="59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-14" b="-14"/>
          <a:stretch/>
        </p:blipFill>
        <p:spPr>
          <a:xfrm>
            <a:off x="6100877" y="4595774"/>
            <a:ext cx="5586070" cy="1910182"/>
          </a:xfrm>
          <a:prstGeom prst="rect">
            <a:avLst/>
          </a:prstGeom>
        </p:spPr>
      </p:pic>
      <p:sp>
        <p:nvSpPr>
          <p:cNvPr id="60" name="Shape 41"/>
          <p:cNvSpPr/>
          <p:nvPr/>
        </p:nvSpPr>
        <p:spPr>
          <a:xfrm>
            <a:off x="6329477" y="4883810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1E3A8A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1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6443777" y="4998110"/>
            <a:ext cx="152705" cy="152705"/>
          </a:xfrm>
          <a:prstGeom prst="rect">
            <a:avLst/>
          </a:prstGeom>
        </p:spPr>
      </p:pic>
      <p:sp>
        <p:nvSpPr>
          <p:cNvPr id="62" name="Text 42"/>
          <p:cNvSpPr txBox="1"/>
          <p:nvPr/>
        </p:nvSpPr>
        <p:spPr>
          <a:xfrm>
            <a:off x="6862572" y="4864608"/>
            <a:ext cx="158739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Multi-Hop Agent</a:t>
            </a:r>
            <a:endParaRPr lang="en-US" sz="1300" dirty="0"/>
          </a:p>
        </p:txBody>
      </p:sp>
      <p:sp>
        <p:nvSpPr>
          <p:cNvPr id="63" name="Text 43"/>
          <p:cNvSpPr txBox="1"/>
          <p:nvPr/>
        </p:nvSpPr>
        <p:spPr>
          <a:xfrm>
            <a:off x="6862572" y="5131613"/>
            <a:ext cx="14100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State</a:t>
            </a:r>
            <a:endParaRPr lang="en-US" sz="900" dirty="0"/>
          </a:p>
        </p:txBody>
      </p:sp>
      <p:pic>
        <p:nvPicPr>
          <p:cNvPr id="64" name="Image 18" descr="preencoded.png">    </p:cNvPr>
          <p:cNvPicPr>
            <a:picLocks noChangeAspect="1"/>
          </p:cNvPicPr>
          <p:nvPr/>
        </p:nvPicPr>
        <p:blipFill>
          <a:blip r:embed="rId19"/>
          <a:srcRect l="-7192" r="-7192" t="0" b="0"/>
          <a:stretch/>
        </p:blipFill>
        <p:spPr>
          <a:xfrm>
            <a:off x="6405372" y="5465369"/>
            <a:ext cx="152705" cy="133502"/>
          </a:xfrm>
          <a:prstGeom prst="rect">
            <a:avLst/>
          </a:prstGeom>
        </p:spPr>
      </p:pic>
      <p:sp>
        <p:nvSpPr>
          <p:cNvPr id="65" name="Text 44"/>
          <p:cNvSpPr txBox="1"/>
          <p:nvPr/>
        </p:nvSpPr>
        <p:spPr>
          <a:xfrm>
            <a:off x="6558077" y="5436108"/>
            <a:ext cx="364205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Intelligent multi-step reasoning across corpus</a:t>
            </a:r>
            <a:endParaRPr lang="en-US" sz="1000" dirty="0"/>
          </a:p>
        </p:txBody>
      </p:sp>
      <p:pic>
        <p:nvPicPr>
          <p:cNvPr id="66" name="Image 19" descr="preencoded.png">    </p:cNvPr>
          <p:cNvPicPr>
            <a:picLocks noChangeAspect="1"/>
          </p:cNvPicPr>
          <p:nvPr/>
        </p:nvPicPr>
        <p:blipFill>
          <a:blip r:embed="rId20"/>
          <a:srcRect l="-7192" r="-7192" t="0" b="0"/>
          <a:stretch/>
        </p:blipFill>
        <p:spPr>
          <a:xfrm>
            <a:off x="6405372" y="5769864"/>
            <a:ext cx="152705" cy="133502"/>
          </a:xfrm>
          <a:prstGeom prst="rect">
            <a:avLst/>
          </a:prstGeom>
        </p:spPr>
      </p:pic>
      <p:sp>
        <p:nvSpPr>
          <p:cNvPr id="67" name="Text 45"/>
          <p:cNvSpPr txBox="1"/>
          <p:nvPr/>
        </p:nvSpPr>
        <p:spPr>
          <a:xfrm>
            <a:off x="6558077" y="5741518"/>
            <a:ext cx="323514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autonomously synthesizes answers</a:t>
            </a:r>
            <a:endParaRPr lang="en-US" sz="1000" dirty="0"/>
          </a:p>
        </p:txBody>
      </p:sp>
      <p:pic>
        <p:nvPicPr>
          <p:cNvPr id="68" name="Image 20" descr="preencoded.png">    </p:cNvPr>
          <p:cNvPicPr>
            <a:picLocks noChangeAspect="1"/>
          </p:cNvPicPr>
          <p:nvPr/>
        </p:nvPicPr>
        <p:blipFill>
          <a:blip r:embed="rId21"/>
          <a:srcRect l="-7192" r="-7192" t="0" b="0"/>
          <a:stretch/>
        </p:blipFill>
        <p:spPr>
          <a:xfrm>
            <a:off x="6405372" y="6074359"/>
            <a:ext cx="152705" cy="133502"/>
          </a:xfrm>
          <a:prstGeom prst="rect">
            <a:avLst/>
          </a:prstGeom>
        </p:spPr>
      </p:pic>
      <p:sp>
        <p:nvSpPr>
          <p:cNvPr id="69" name="Text 46"/>
          <p:cNvSpPr txBox="1"/>
          <p:nvPr/>
        </p:nvSpPr>
        <p:spPr>
          <a:xfrm>
            <a:off x="6558077" y="6046013"/>
            <a:ext cx="379476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 context understanding via knowledge graph</a:t>
            </a:r>
            <a:endParaRPr lang="en-US" sz="1000" dirty="0"/>
          </a:p>
        </p:txBody>
      </p:sp>
      <p:sp>
        <p:nvSpPr>
          <p:cNvPr id="70" name="Shape 47"/>
          <p:cNvSpPr/>
          <p:nvPr/>
        </p:nvSpPr>
        <p:spPr>
          <a:xfrm>
            <a:off x="5905195" y="5360213"/>
            <a:ext cx="381305" cy="381305"/>
          </a:xfrm>
          <a:prstGeom prst="ellipse">
            <a:avLst/>
          </a:prstGeom>
          <a:solidFill>
            <a:srgbClr val="0B1E3D"/>
          </a:solidFill>
          <a:ln w="25400">
            <a:solidFill>
              <a:srgbClr val="C5A059"/>
            </a:solidFill>
            <a:prstDash val="solid"/>
          </a:ln>
        </p:spPr>
      </p:sp>
      <p:pic>
        <p:nvPicPr>
          <p:cNvPr id="71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-43" b="-43"/>
          <a:stretch/>
        </p:blipFill>
        <p:spPr>
          <a:xfrm>
            <a:off x="6029554" y="5474513"/>
            <a:ext cx="133502" cy="15270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6467551"/>
            <a:ext cx="11277295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0"/>
            <a:ext cx="12191695" cy="100035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0" y="991210"/>
            <a:ext cx="121916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81305" y="304495"/>
            <a:ext cx="16578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381305" y="495605"/>
            <a:ext cx="18818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56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381305" y="1957730"/>
            <a:ext cx="66111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Multi-Hop RAG = The Analyst's Force Multiplier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81305" y="2348179"/>
            <a:ext cx="6495898" cy="1190549"/>
          </a:xfrm>
          <a:prstGeom prst="roundRect">
            <a:avLst>
              <a:gd name="adj" fmla="val 491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4749" y="2719426"/>
            <a:ext cx="62480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4749" y="2471623"/>
            <a:ext cx="6363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Problem &amp; Solution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81305" y="3685946"/>
            <a:ext cx="6495898" cy="1190549"/>
          </a:xfrm>
          <a:prstGeom prst="roundRect">
            <a:avLst>
              <a:gd name="adj" fmla="val 491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4749" y="4058107"/>
            <a:ext cx="62480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4749" y="3810305"/>
            <a:ext cx="6363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Techniques &amp; Applicability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81305" y="5024628"/>
            <a:ext cx="6495898" cy="875995"/>
          </a:xfrm>
          <a:prstGeom prst="roundRect">
            <a:avLst>
              <a:gd name="adj" fmla="val 90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4749" y="5148072"/>
            <a:ext cx="6363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Call to Action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504749" y="5395874"/>
            <a:ext cx="63633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the transition from simple document search to intelligent reasoning.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688543" y="5624474"/>
            <a:ext cx="11695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Define Pilot Scope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2072030" y="5624474"/>
            <a:ext cx="146486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Select Data Connectors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3751783" y="5624474"/>
            <a:ext cx="154990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Instrument Hop Logging</a:t>
            </a:r>
            <a:endParaRPr lang="en-US" sz="9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4749" y="5639105"/>
            <a:ext cx="114300" cy="114300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888236" y="5639105"/>
            <a:ext cx="114300" cy="114300"/>
          </a:xfrm>
          <a:prstGeom prst="rect">
            <a:avLst/>
          </a:prstGeom>
        </p:spPr>
      </p:pic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567989" y="5639105"/>
            <a:ext cx="114300" cy="1143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04749" y="2786177"/>
            <a:ext cx="69348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 RAG fails for complex financial questions requiring information from multiple disjointed sources.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504749" y="3019349"/>
            <a:ext cx="63249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Multi-hop RAG chains retrieval steps, using each result to intelligently inform the next query in the sequence.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504749" y="4123944"/>
            <a:ext cx="63249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Two pillars: </a:t>
            </a:r>
            <a:pPr algn="l" indent="0" marL="0">
              <a:buNone/>
            </a:pPr>
            <a:r>
              <a:rPr lang="en-US" sz="9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Query Decomposition</a:t>
            </a:r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(breaking down the ask) and </a:t>
            </a:r>
            <a:pPr algn="l" indent="0" marL="0">
              <a:buNone/>
            </a:pPr>
            <a:r>
              <a:rPr lang="en-US" sz="9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Knowledge Graphs</a:t>
            </a:r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(mapping relationships). 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504749" y="4515307"/>
            <a:ext cx="6363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Critical for M&amp;A, Credit Risk, Compliance Checks, and Portfolio Analysis.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7175297" y="1228954"/>
            <a:ext cx="4638751" cy="5400446"/>
          </a:xfrm>
          <a:prstGeom prst="roundRect">
            <a:avLst>
              <a:gd name="adj" fmla="val 32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7337146" y="1390802"/>
            <a:ext cx="19915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Connected Intelligence</a:t>
            </a:r>
            <a:endParaRPr lang="en-US" sz="9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3474" y="2633472"/>
            <a:ext cx="886054" cy="267005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301277" y="2633472"/>
            <a:ext cx="638251" cy="26700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4299E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EE3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Compliance</a:t>
            </a:r>
            <a:endParaRPr lang="en-US" sz="8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087" b="-1087"/>
          <a:stretch/>
        </p:blipFill>
        <p:spPr>
          <a:xfrm>
            <a:off x="9157716" y="2722169"/>
            <a:ext cx="105156" cy="85954"/>
          </a:xfrm>
          <a:prstGeom prst="rect">
            <a:avLst/>
          </a:prstGeom>
        </p:spPr>
      </p:pic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1198" y="4315054"/>
            <a:ext cx="733349" cy="267005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9368942" y="4315054"/>
            <a:ext cx="496519" cy="26700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4299E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EE3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Portfolio</a:t>
            </a:r>
            <a:endParaRPr lang="en-US" sz="80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841" b="-841"/>
          <a:stretch/>
        </p:blipFill>
        <p:spPr>
          <a:xfrm>
            <a:off x="9235440" y="4402836"/>
            <a:ext cx="95098" cy="85954"/>
          </a:xfrm>
          <a:prstGeom prst="rect">
            <a:avLst/>
          </a:prstGeom>
        </p:spPr>
      </p:pic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6196" y="3473806"/>
            <a:ext cx="790956" cy="267005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8673998" y="3473806"/>
            <a:ext cx="543154" cy="26700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4299E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EE3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M&amp;A Deal</a:t>
            </a:r>
            <a:endParaRPr lang="en-US" sz="800" dirty="0"/>
          </a:p>
        </p:txBody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087" b="-1087"/>
          <a:stretch/>
        </p:blipFill>
        <p:spPr>
          <a:xfrm>
            <a:off x="8531352" y="3562502"/>
            <a:ext cx="105156" cy="85954"/>
          </a:xfrm>
          <a:prstGeom prst="rect">
            <a:avLst/>
          </a:prstGeom>
        </p:spPr>
      </p:pic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40112" y="3473806"/>
            <a:ext cx="523951" cy="267005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10268712" y="3473806"/>
            <a:ext cx="295351" cy="26700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4299E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EE3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</a:t>
            </a:r>
            <a:endParaRPr lang="en-US" sz="800" dirty="0"/>
          </a:p>
        </p:txBody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10145268" y="3562502"/>
            <a:ext cx="85954" cy="85954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7569403" y="4900270"/>
            <a:ext cx="3849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"Synthesizing the World's Financial Data"</a:t>
            </a:r>
            <a:endParaRPr lang="en-US" sz="1200" dirty="0"/>
          </a:p>
        </p:txBody>
      </p:sp>
      <p:sp>
        <p:nvSpPr>
          <p:cNvPr id="45" name="Text 31"/>
          <p:cNvSpPr txBox="1"/>
          <p:nvPr/>
        </p:nvSpPr>
        <p:spPr>
          <a:xfrm>
            <a:off x="7812634" y="5167274"/>
            <a:ext cx="3363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6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Powered by Multi-Hop Reasoning</a:t>
            </a:r>
            <a:endParaRPr lang="en-US" sz="1200" dirty="0"/>
          </a:p>
        </p:txBody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13">
            <a:alphaModFix amt="50000"/>
          </a:blip>
          <a:srcRect l="0" r="0" t="0" b="0"/>
          <a:stretch/>
        </p:blipFill>
        <p:spPr>
          <a:xfrm rot="2700000">
            <a:off x="8921801" y="3600907"/>
            <a:ext cx="814730" cy="814730"/>
          </a:xfrm>
          <a:prstGeom prst="rect">
            <a:avLst/>
          </a:prstGeom>
        </p:spPr>
      </p:pic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14">
            <a:alphaModFix amt="50000"/>
          </a:blip>
          <a:srcRect l="0" r="0" t="0" b="0"/>
          <a:stretch/>
        </p:blipFill>
        <p:spPr>
          <a:xfrm rot="18900000">
            <a:off x="8921801" y="3600907"/>
            <a:ext cx="814730" cy="814730"/>
          </a:xfrm>
          <a:prstGeom prst="rect">
            <a:avLst/>
          </a:prstGeom>
        </p:spPr>
      </p:pic>
      <p:pic>
        <p:nvPicPr>
          <p:cNvPr id="48" name="Image 14" descr="preencoded.png">    </p:cNvPr>
          <p:cNvPicPr>
            <a:picLocks noChangeAspect="1"/>
          </p:cNvPicPr>
          <p:nvPr/>
        </p:nvPicPr>
        <p:blipFill>
          <a:blip r:embed="rId15">
            <a:alphaModFix amt="50000"/>
          </a:blip>
          <a:srcRect l="-2083" r="-2083" t="0" b="0"/>
          <a:stretch/>
        </p:blipFill>
        <p:spPr>
          <a:xfrm>
            <a:off x="8921801" y="3600907"/>
            <a:ext cx="1143000" cy="9144"/>
          </a:xfrm>
          <a:prstGeom prst="rect">
            <a:avLst/>
          </a:prstGeom>
        </p:spPr>
      </p:pic>
      <p:pic>
        <p:nvPicPr>
          <p:cNvPr id="49" name="Image 15" descr="preencoded.png">    </p:cNvPr>
          <p:cNvPicPr>
            <a:picLocks noChangeAspect="1"/>
          </p:cNvPicPr>
          <p:nvPr/>
        </p:nvPicPr>
        <p:blipFill>
          <a:blip r:embed="rId16">
            <a:alphaModFix amt="50000"/>
          </a:blip>
          <a:srcRect l="0" r="0" t="-2083" b="-2083"/>
          <a:stretch/>
        </p:blipFill>
        <p:spPr>
          <a:xfrm rot="5400000">
            <a:off x="8921801" y="3600907"/>
            <a:ext cx="9144" cy="1143000"/>
          </a:xfrm>
          <a:prstGeom prst="rect">
            <a:avLst/>
          </a:prstGeom>
        </p:spPr>
      </p:pic>
      <p:pic>
        <p:nvPicPr>
          <p:cNvPr id="50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9016898" y="3129077"/>
            <a:ext cx="952805" cy="952805"/>
          </a:xfrm>
          <a:prstGeom prst="rect">
            <a:avLst/>
          </a:prstGeom>
        </p:spPr>
      </p:pic>
      <p:pic>
        <p:nvPicPr>
          <p:cNvPr id="51" name="Image 17" descr="preencoded.png">    </p:cNvPr>
          <p:cNvPicPr>
            <a:picLocks noChangeAspect="1"/>
          </p:cNvPicPr>
          <p:nvPr/>
        </p:nvPicPr>
        <p:blipFill>
          <a:blip r:embed="rId18"/>
          <a:srcRect l="-607" r="-607" t="0" b="0"/>
          <a:stretch/>
        </p:blipFill>
        <p:spPr>
          <a:xfrm>
            <a:off x="9312250" y="3461918"/>
            <a:ext cx="362102" cy="286207"/>
          </a:xfrm>
          <a:prstGeom prst="rect">
            <a:avLst/>
          </a:prstGeom>
        </p:spPr>
      </p:pic>
      <p:sp>
        <p:nvSpPr>
          <p:cNvPr id="52" name="Text 32"/>
          <p:cNvSpPr txBox="1"/>
          <p:nvPr/>
        </p:nvSpPr>
        <p:spPr>
          <a:xfrm>
            <a:off x="10299802" y="304495"/>
            <a:ext cx="14383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1300" dirty="0"/>
          </a:p>
        </p:txBody>
      </p:sp>
      <p:sp>
        <p:nvSpPr>
          <p:cNvPr id="53" name="Text 33"/>
          <p:cNvSpPr txBox="1"/>
          <p:nvPr/>
        </p:nvSpPr>
        <p:spPr>
          <a:xfrm>
            <a:off x="10299802" y="609905"/>
            <a:ext cx="1438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100035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0" y="991210"/>
            <a:ext cx="121916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04495"/>
            <a:ext cx="48774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 the Hood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95605"/>
            <a:ext cx="54489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56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Appendix - Technical Architecture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0299802" y="342900"/>
            <a:ext cx="14383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299802" y="647395"/>
            <a:ext cx="1438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29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52805" y="6001207"/>
            <a:ext cx="10287000" cy="571500"/>
          </a:xfrm>
          <a:prstGeom prst="roundRect">
            <a:avLst>
              <a:gd name="adj" fmla="val 213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52144" y="6096305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1F2937"/>
          </a:solidFill>
          <a:ln w="12700">
            <a:solidFill>
              <a:srgbClr val="4B556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-2512" r="-2512" t="0" b="0"/>
          <a:stretch/>
        </p:blipFill>
        <p:spPr>
          <a:xfrm>
            <a:off x="1290218" y="6219749"/>
            <a:ext cx="105156" cy="1335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686154" y="6057900"/>
            <a:ext cx="9468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 &amp; Logging Layer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686154" y="6286500"/>
            <a:ext cx="19238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Traceability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590995" y="6286500"/>
            <a:ext cx="1010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Hop Tracing</a:t>
            </a:r>
            <a:endParaRPr lang="en-US" sz="12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62395" y="6324905"/>
            <a:ext cx="152705" cy="1527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974482" y="6286500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Attribution</a:t>
            </a:r>
            <a:endParaRPr lang="en-US" sz="12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745882" y="6324905"/>
            <a:ext cx="152705" cy="15270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837115" y="6286500"/>
            <a:ext cx="1286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Latency Metrics</a:t>
            </a:r>
            <a:endParaRPr lang="en-US" sz="12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608515" y="6324905"/>
            <a:ext cx="152705" cy="152705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1524305" y="3476549"/>
            <a:ext cx="1904695" cy="1429207"/>
          </a:xfrm>
          <a:prstGeom prst="roundRect">
            <a:avLst>
              <a:gd name="adj" fmla="val 511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0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2305202" y="3600907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-33" r="-33" t="0" b="0"/>
          <a:stretch/>
        </p:blipFill>
        <p:spPr>
          <a:xfrm>
            <a:off x="2391156" y="3696005"/>
            <a:ext cx="171907" cy="15270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780337" y="4019702"/>
            <a:ext cx="14008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Decomposition Agent</a:t>
            </a:r>
            <a:endParaRPr lang="en-US" sz="900" dirty="0"/>
          </a:p>
        </p:txBody>
      </p:sp>
      <p:sp>
        <p:nvSpPr>
          <p:cNvPr id="26" name="Text 18"/>
          <p:cNvSpPr txBox="1"/>
          <p:nvPr/>
        </p:nvSpPr>
        <p:spPr>
          <a:xfrm>
            <a:off x="1614830" y="4209898"/>
            <a:ext cx="172364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Breaks complex prompts into dependency chains</a:t>
            </a:r>
            <a:endParaRPr lang="en-US" sz="12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8351" y="3390595"/>
            <a:ext cx="228600" cy="2286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438351" y="3390595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B1E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E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Shape 20"/>
          <p:cNvSpPr/>
          <p:nvPr/>
        </p:nvSpPr>
        <p:spPr>
          <a:xfrm>
            <a:off x="4000500" y="2143354"/>
            <a:ext cx="1904695" cy="1828800"/>
          </a:xfrm>
          <a:prstGeom prst="roundRect">
            <a:avLst>
              <a:gd name="adj" fmla="val 312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0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4781398" y="2266798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876495" y="2361895"/>
            <a:ext cx="152705" cy="152705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4369003" y="2686507"/>
            <a:ext cx="11740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Retrieval Engine</a:t>
            </a:r>
            <a:endParaRPr lang="en-US" sz="9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3944" y="2915107"/>
            <a:ext cx="800100" cy="514807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123944" y="2915107"/>
            <a:ext cx="800100" cy="514807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D4E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Vector DB</a:t>
            </a:r>
            <a:endParaRPr lang="en-US" sz="12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00854" y="2915107"/>
            <a:ext cx="780898" cy="514807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5000854" y="2915107"/>
            <a:ext cx="781812" cy="514807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D4E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Graph DB</a:t>
            </a:r>
            <a:endParaRPr lang="en-US" sz="1200" dirty="0"/>
          </a:p>
        </p:txBody>
      </p:sp>
      <p:sp>
        <p:nvSpPr>
          <p:cNvPr id="37" name="Text 25"/>
          <p:cNvSpPr txBox="1"/>
          <p:nvPr/>
        </p:nvSpPr>
        <p:spPr>
          <a:xfrm>
            <a:off x="4091026" y="3467405"/>
            <a:ext cx="172364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Hybrid search across documents &amp; entities</a:t>
            </a:r>
            <a:endParaRPr lang="en-US" sz="120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14546" y="2057400"/>
            <a:ext cx="228600" cy="228600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3914546" y="2057400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B1E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E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Shape 27"/>
          <p:cNvSpPr/>
          <p:nvPr/>
        </p:nvSpPr>
        <p:spPr>
          <a:xfrm>
            <a:off x="6476695" y="2143354"/>
            <a:ext cx="1904695" cy="1429207"/>
          </a:xfrm>
          <a:prstGeom prst="roundRect">
            <a:avLst>
              <a:gd name="adj" fmla="val 511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0000"/>
              </a:srgbClr>
            </a:outerShdw>
          </a:effectLst>
        </p:spPr>
      </p:sp>
      <p:sp>
        <p:nvSpPr>
          <p:cNvPr id="41" name="Shape 28"/>
          <p:cNvSpPr/>
          <p:nvPr/>
        </p:nvSpPr>
        <p:spPr>
          <a:xfrm>
            <a:off x="7258507" y="2266798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rcRect l="-33" r="-33" t="0" b="0"/>
          <a:stretch/>
        </p:blipFill>
        <p:spPr>
          <a:xfrm>
            <a:off x="7343546" y="2361895"/>
            <a:ext cx="171907" cy="152705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6612026" y="2686507"/>
            <a:ext cx="164409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Bridge Entity Extractor</a:t>
            </a:r>
            <a:endParaRPr lang="en-US" sz="900" dirty="0"/>
          </a:p>
        </p:txBody>
      </p:sp>
      <p:sp>
        <p:nvSpPr>
          <p:cNvPr id="44" name="Text 30"/>
          <p:cNvSpPr txBox="1"/>
          <p:nvPr/>
        </p:nvSpPr>
        <p:spPr>
          <a:xfrm>
            <a:off x="6568135" y="2876702"/>
            <a:ext cx="172364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Identifies pivots (Companies, Dates) for next hop</a:t>
            </a:r>
            <a:endParaRPr lang="en-US" sz="1200" dirty="0"/>
          </a:p>
        </p:txBody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91656" y="2057400"/>
            <a:ext cx="228600" cy="228600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6391656" y="2057400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B1E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E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900" dirty="0"/>
          </a:p>
        </p:txBody>
      </p:sp>
      <p:sp>
        <p:nvSpPr>
          <p:cNvPr id="47" name="Shape 32"/>
          <p:cNvSpPr/>
          <p:nvPr/>
        </p:nvSpPr>
        <p:spPr>
          <a:xfrm>
            <a:off x="4000500" y="4809744"/>
            <a:ext cx="1904695" cy="1429207"/>
          </a:xfrm>
          <a:prstGeom prst="roundRect">
            <a:avLst>
              <a:gd name="adj" fmla="val 511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0000"/>
              </a:srgbClr>
            </a:outerShdw>
          </a:effectLst>
        </p:spPr>
      </p:sp>
      <p:sp>
        <p:nvSpPr>
          <p:cNvPr id="48" name="Shape 33"/>
          <p:cNvSpPr/>
          <p:nvPr/>
        </p:nvSpPr>
        <p:spPr>
          <a:xfrm>
            <a:off x="4781398" y="4934102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49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43" b="-43"/>
          <a:stretch/>
        </p:blipFill>
        <p:spPr>
          <a:xfrm>
            <a:off x="4886554" y="5029200"/>
            <a:ext cx="133502" cy="152705"/>
          </a:xfrm>
          <a:prstGeom prst="rect">
            <a:avLst/>
          </a:prstGeom>
        </p:spPr>
      </p:pic>
      <p:sp>
        <p:nvSpPr>
          <p:cNvPr id="50" name="Text 34"/>
          <p:cNvSpPr txBox="1"/>
          <p:nvPr/>
        </p:nvSpPr>
        <p:spPr>
          <a:xfrm>
            <a:off x="4001414" y="5352898"/>
            <a:ext cx="190835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Intermediate Context Store</a:t>
            </a:r>
            <a:endParaRPr lang="en-US" sz="900" dirty="0"/>
          </a:p>
        </p:txBody>
      </p:sp>
      <p:sp>
        <p:nvSpPr>
          <p:cNvPr id="51" name="Text 35"/>
          <p:cNvSpPr txBox="1"/>
          <p:nvPr/>
        </p:nvSpPr>
        <p:spPr>
          <a:xfrm>
            <a:off x="4091026" y="5544007"/>
            <a:ext cx="172364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Maintains state, provenance &amp; partial answers</a:t>
            </a:r>
            <a:endParaRPr lang="en-US" sz="1200" dirty="0"/>
          </a:p>
        </p:txBody>
      </p:sp>
      <p:pic>
        <p:nvPicPr>
          <p:cNvPr id="5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14546" y="4724705"/>
            <a:ext cx="228600" cy="228600"/>
          </a:xfrm>
          <a:prstGeom prst="rect">
            <a:avLst/>
          </a:prstGeom>
        </p:spPr>
      </p:pic>
      <p:sp>
        <p:nvSpPr>
          <p:cNvPr id="53" name="Text 36"/>
          <p:cNvSpPr/>
          <p:nvPr/>
        </p:nvSpPr>
        <p:spPr>
          <a:xfrm>
            <a:off x="3914546" y="4724705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B1E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E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900" dirty="0"/>
          </a:p>
        </p:txBody>
      </p:sp>
      <p:sp>
        <p:nvSpPr>
          <p:cNvPr id="54" name="Shape 37"/>
          <p:cNvSpPr/>
          <p:nvPr/>
        </p:nvSpPr>
        <p:spPr>
          <a:xfrm>
            <a:off x="8953805" y="3476549"/>
            <a:ext cx="1904695" cy="1429207"/>
          </a:xfrm>
          <a:prstGeom prst="roundRect">
            <a:avLst>
              <a:gd name="adj" fmla="val 511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0000"/>
              </a:srgbClr>
            </a:outerShdw>
          </a:effectLst>
        </p:spPr>
      </p:sp>
      <p:sp>
        <p:nvSpPr>
          <p:cNvPr id="55" name="Shape 38"/>
          <p:cNvSpPr/>
          <p:nvPr/>
        </p:nvSpPr>
        <p:spPr>
          <a:xfrm>
            <a:off x="9734702" y="3600907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C5A059">
              <a:alpha val="20000"/>
            </a:srgbClr>
          </a:solidFill>
          <a:ln w="12700">
            <a:solidFill>
              <a:srgbClr val="C5A059"/>
            </a:solidFill>
            <a:prstDash val="solid"/>
          </a:ln>
        </p:spPr>
      </p:sp>
      <p:pic>
        <p:nvPicPr>
          <p:cNvPr id="56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9829800" y="3696005"/>
            <a:ext cx="152705" cy="152705"/>
          </a:xfrm>
          <a:prstGeom prst="rect">
            <a:avLst/>
          </a:prstGeom>
        </p:spPr>
      </p:pic>
      <p:sp>
        <p:nvSpPr>
          <p:cNvPr id="57" name="Text 39"/>
          <p:cNvSpPr txBox="1"/>
          <p:nvPr/>
        </p:nvSpPr>
        <p:spPr>
          <a:xfrm>
            <a:off x="9428378" y="4019702"/>
            <a:ext cx="95554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Synthesis LLM</a:t>
            </a:r>
            <a:endParaRPr lang="en-US" sz="900" dirty="0"/>
          </a:p>
        </p:txBody>
      </p:sp>
      <p:sp>
        <p:nvSpPr>
          <p:cNvPr id="58" name="Text 40"/>
          <p:cNvSpPr txBox="1"/>
          <p:nvPr/>
        </p:nvSpPr>
        <p:spPr>
          <a:xfrm>
            <a:off x="9044330" y="4209898"/>
            <a:ext cx="172364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Combines contexts, resolves conflicts &amp; cites sources</a:t>
            </a:r>
            <a:endParaRPr lang="en-US" sz="1200" dirty="0"/>
          </a:p>
        </p:txBody>
      </p:sp>
      <p:pic>
        <p:nvPicPr>
          <p:cNvPr id="5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67851" y="3390595"/>
            <a:ext cx="228600" cy="228600"/>
          </a:xfrm>
          <a:prstGeom prst="rect">
            <a:avLst/>
          </a:prstGeom>
        </p:spPr>
      </p:pic>
      <p:sp>
        <p:nvSpPr>
          <p:cNvPr id="60" name="Text 41"/>
          <p:cNvSpPr/>
          <p:nvPr/>
        </p:nvSpPr>
        <p:spPr>
          <a:xfrm>
            <a:off x="8867851" y="3390595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B1E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E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900" dirty="0"/>
          </a:p>
        </p:txBody>
      </p:sp>
      <p:pic>
        <p:nvPicPr>
          <p:cNvPr id="61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286207" y="3619195"/>
            <a:ext cx="533095" cy="533095"/>
          </a:xfrm>
          <a:prstGeom prst="rect">
            <a:avLst/>
          </a:prstGeom>
        </p:spPr>
      </p:pic>
      <p:pic>
        <p:nvPicPr>
          <p:cNvPr id="62" name="Image 18" descr="preencoded.png">    </p:cNvPr>
          <p:cNvPicPr>
            <a:picLocks noChangeAspect="1"/>
          </p:cNvPicPr>
          <p:nvPr/>
        </p:nvPicPr>
        <p:blipFill>
          <a:blip r:embed="rId19"/>
          <a:srcRect l="-1648" r="-1648" t="0" b="0"/>
          <a:stretch/>
        </p:blipFill>
        <p:spPr>
          <a:xfrm>
            <a:off x="466344" y="3791102"/>
            <a:ext cx="171907" cy="190195"/>
          </a:xfrm>
          <a:prstGeom prst="rect">
            <a:avLst/>
          </a:prstGeom>
        </p:spPr>
      </p:pic>
      <p:pic>
        <p:nvPicPr>
          <p:cNvPr id="6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5098" y="4229100"/>
            <a:ext cx="914400" cy="400507"/>
          </a:xfrm>
          <a:prstGeom prst="rect">
            <a:avLst/>
          </a:prstGeom>
        </p:spPr>
      </p:pic>
      <p:sp>
        <p:nvSpPr>
          <p:cNvPr id="64" name="Text 42"/>
          <p:cNvSpPr/>
          <p:nvPr/>
        </p:nvSpPr>
        <p:spPr>
          <a:xfrm>
            <a:off x="95098" y="4229100"/>
            <a:ext cx="914400" cy="400507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D4E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Query</a:t>
            </a:r>
            <a:endParaRPr lang="en-US" sz="900" dirty="0"/>
          </a:p>
        </p:txBody>
      </p:sp>
      <p:pic>
        <p:nvPicPr>
          <p:cNvPr id="65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65730" y="4791456"/>
            <a:ext cx="752551" cy="323698"/>
          </a:xfrm>
          <a:prstGeom prst="rect">
            <a:avLst/>
          </a:prstGeom>
        </p:spPr>
      </p:pic>
      <p:sp>
        <p:nvSpPr>
          <p:cNvPr id="66" name="Text 43"/>
          <p:cNvSpPr/>
          <p:nvPr/>
        </p:nvSpPr>
        <p:spPr>
          <a:xfrm>
            <a:off x="3141878" y="4791456"/>
            <a:ext cx="476402" cy="3246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Loop</a:t>
            </a:r>
            <a:endParaRPr lang="en-US" sz="1200" dirty="0"/>
          </a:p>
        </p:txBody>
      </p:sp>
      <p:pic>
        <p:nvPicPr>
          <p:cNvPr id="67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2951683" y="4876495"/>
            <a:ext cx="152705" cy="152705"/>
          </a:xfrm>
          <a:prstGeom prst="rect">
            <a:avLst/>
          </a:prstGeom>
        </p:spPr>
      </p:pic>
      <p:sp>
        <p:nvSpPr>
          <p:cNvPr id="68" name="Shape 44"/>
          <p:cNvSpPr/>
          <p:nvPr/>
        </p:nvSpPr>
        <p:spPr>
          <a:xfrm>
            <a:off x="11334902" y="3619195"/>
            <a:ext cx="533095" cy="533095"/>
          </a:xfrm>
          <a:prstGeom prst="roundRect">
            <a:avLst>
              <a:gd name="adj" fmla="val 24504"/>
            </a:avLst>
          </a:prstGeom>
          <a:noFill/>
          <a:ln w="25400">
            <a:solidFill>
              <a:srgbClr val="FFFFFF"/>
            </a:solidFill>
            <a:prstDash val="solid"/>
          </a:ln>
        </p:spPr>
      </p:sp>
      <p:pic>
        <p:nvPicPr>
          <p:cNvPr id="69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11529670" y="3791102"/>
            <a:ext cx="142646" cy="190195"/>
          </a:xfrm>
          <a:prstGeom prst="rect">
            <a:avLst/>
          </a:prstGeom>
        </p:spPr>
      </p:pic>
      <p:pic>
        <p:nvPicPr>
          <p:cNvPr id="70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144707" y="4229100"/>
            <a:ext cx="914400" cy="400507"/>
          </a:xfrm>
          <a:prstGeom prst="rect">
            <a:avLst/>
          </a:prstGeom>
        </p:spPr>
      </p:pic>
      <p:sp>
        <p:nvSpPr>
          <p:cNvPr id="71" name="Text 45"/>
          <p:cNvSpPr/>
          <p:nvPr/>
        </p:nvSpPr>
        <p:spPr>
          <a:xfrm>
            <a:off x="11144707" y="4229100"/>
            <a:ext cx="914400" cy="400507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D4E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Report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2026-02-24T14:03:57Z</dcterms:created>
  <dcterms:modified xsi:type="dcterms:W3CDTF">2026-02-24T14:03:57Z</dcterms:modified>
</cp:coreProperties>
</file>