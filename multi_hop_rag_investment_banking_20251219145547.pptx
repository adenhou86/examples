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noFill/>
          <a:ln w="254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5902" y="-476402"/>
            <a:ext cx="4762195" cy="4762195"/>
          </a:xfrm>
          <a:prstGeom prst="ellipse">
            <a:avLst/>
          </a:prstGeom>
          <a:noFill/>
          <a:ln w="12700">
            <a:solidFill>
              <a:srgbClr val="C5A05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782105"/>
            <a:ext cx="12191695" cy="7589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265054" y="333756"/>
            <a:ext cx="16056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326673" y="619049"/>
            <a:ext cx="510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5005426"/>
            <a:ext cx="975390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471270"/>
            <a:ext cx="7963510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Search to Synthesis: Implementing Multi-hop RAG</a:t>
            </a:r>
            <a:endParaRPr lang="en-US" sz="45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47872"/>
            <a:ext cx="48106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Beyond "Single-Pass" Retrieval to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919118"/>
            <a:ext cx="35250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Financial Reasoning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19979"/>
            <a:ext cx="1124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538521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786323"/>
            <a:ext cx="13194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SPG-ML-LLM-DEV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63901" y="5319979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863901" y="5538521"/>
            <a:ext cx="15288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December 2025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3157423"/>
            <a:ext cx="914400" cy="3840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81305"/>
            <a:ext cx="1781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&amp; MOTIVATION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71500"/>
            <a:ext cx="7477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 with Standard RAG in Finance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6314846" cy="1266444"/>
          </a:xfrm>
          <a:prstGeom prst="roundRect">
            <a:avLst>
              <a:gd name="adj" fmla="val 43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454" y="2590495"/>
            <a:ext cx="5915254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538728"/>
            <a:ext cx="6314846" cy="1266444"/>
          </a:xfrm>
          <a:prstGeom prst="roundRect">
            <a:avLst>
              <a:gd name="adj" fmla="val 434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4" y="4081882"/>
            <a:ext cx="5915254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533095" y="5372100"/>
            <a:ext cx="6238951" cy="137160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3095" y="5372100"/>
            <a:ext cx="38405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1533449"/>
            <a:ext cx="5544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"Simple" Retrieval Fails the Analyst Test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7454" y="2276856"/>
            <a:ext cx="14145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Limitation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7454" y="2695651"/>
            <a:ext cx="576803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functions like a "Google Search" engine—it retrieves documents based purely on semantic similarity to the initial query context.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7454" y="3767328"/>
            <a:ext cx="1110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7454" y="4186123"/>
            <a:ext cx="59198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answers rarely exist in a single document. They are scattered across disjointed sources like 10-Ks, News Wires, and Internal Memos.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33095" y="5048402"/>
            <a:ext cx="2229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"Disconnect" Example: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24205" y="5524805"/>
            <a:ext cx="857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24205" y="5724144"/>
            <a:ext cx="4853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"Compare the EBITDA margins of Company A and its main competitor."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24205" y="6019495"/>
            <a:ext cx="1562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FAILURE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24205" y="6219749"/>
            <a:ext cx="57104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generic industry articles but misses the specific filings needed to calculate the margin. It cannot "connect the dots".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6503" y="1533449"/>
            <a:ext cx="4515307" cy="5210251"/>
          </a:xfrm>
          <a:prstGeom prst="roundRect">
            <a:avLst>
              <a:gd name="adj" fmla="val 34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64247" y="1781251"/>
            <a:ext cx="19193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VISUALIZING THE GAP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74152" y="3109874"/>
            <a:ext cx="914400" cy="75895"/>
          </a:xfrm>
          <a:prstGeom prst="roundRect">
            <a:avLst>
              <a:gd name="adj" fmla="val 602411"/>
            </a:avLst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8397850" y="3109874"/>
            <a:ext cx="2343607" cy="1218895"/>
          </a:xfrm>
          <a:prstGeom prst="roundRect">
            <a:avLst>
              <a:gd name="adj" fmla="val 4689"/>
            </a:avLst>
          </a:prstGeom>
          <a:solidFill>
            <a:srgbClr val="000000">
              <a:alpha val="20000"/>
            </a:srgbClr>
          </a:solidFill>
          <a:ln w="25400">
            <a:solidFill>
              <a:srgbClr val="4B55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12150" y="3299155"/>
            <a:ext cx="580644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88045" y="3375965"/>
            <a:ext cx="200254" cy="20025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693201" y="3613709"/>
            <a:ext cx="2953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9947758" y="3616452"/>
            <a:ext cx="590702" cy="543154"/>
          </a:xfrm>
          <a:prstGeom prst="roundRect">
            <a:avLst>
              <a:gd name="adj" fmla="val 11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030054" y="3695090"/>
            <a:ext cx="200254" cy="200254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0097719" y="3934663"/>
            <a:ext cx="3621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8789213" y="3510382"/>
            <a:ext cx="590702" cy="552298"/>
          </a:xfrm>
          <a:prstGeom prst="roundRect">
            <a:avLst>
              <a:gd name="adj" fmla="val 114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rcRect l="-837" r="-837" t="0" b="0"/>
          <a:stretch/>
        </p:blipFill>
        <p:spPr>
          <a:xfrm>
            <a:off x="8874252" y="3589020"/>
            <a:ext cx="152705" cy="200254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920886" y="3829507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</a:t>
            </a:r>
            <a:endParaRPr lang="en-US" sz="8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47074" y="4466844"/>
            <a:ext cx="114300" cy="114300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198864" y="4453128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GAP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9972446" y="3109874"/>
            <a:ext cx="914400" cy="75895"/>
          </a:xfrm>
          <a:prstGeom prst="rect">
            <a:avLst/>
          </a:prstGeom>
          <a:solidFill>
            <a:srgbClr val="4B5563">
              <a:alpha val="50000"/>
            </a:srgbClr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743139" y="5100523"/>
            <a:ext cx="357713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"Without a mechanism to hop between sources, the reasoning chain is broken."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550201" y="3281782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2563EB"/>
          </a:solidFill>
          <a:ln w="254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7755026" y="3471977"/>
            <a:ext cx="200254" cy="22860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464247" y="3976726"/>
            <a:ext cx="881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10886846" y="3281782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374151">
              <a:alpha val="50000"/>
            </a:srgbClr>
          </a:solidFill>
          <a:ln w="254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>
            <a:alphaModFix amt="50000"/>
          </a:blip>
          <a:srcRect l="0" r="0" t="0" b="0"/>
          <a:stretch/>
        </p:blipFill>
        <p:spPr>
          <a:xfrm>
            <a:off x="11077956" y="3471977"/>
            <a:ext cx="228600" cy="22860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927994" y="3976726"/>
            <a:ext cx="6336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>
                    <a:alpha val="5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10829239" y="304495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50" name="Text 42"/>
          <p:cNvSpPr txBox="1"/>
          <p:nvPr/>
        </p:nvSpPr>
        <p:spPr>
          <a:xfrm>
            <a:off x="11285525" y="49560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8769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1305" y="228600"/>
            <a:ext cx="19431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OVERVIEW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400507"/>
            <a:ext cx="35862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is Multi-hop RAG?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81305" y="1442923"/>
            <a:ext cx="6534302" cy="1304849"/>
          </a:xfrm>
          <a:prstGeom prst="roundRect">
            <a:avLst>
              <a:gd name="adj" fmla="val 409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9" y="1795882"/>
            <a:ext cx="62865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Shape 9"/>
          <p:cNvSpPr/>
          <p:nvPr/>
        </p:nvSpPr>
        <p:spPr>
          <a:xfrm>
            <a:off x="381305" y="2862072"/>
            <a:ext cx="6534302" cy="1571854"/>
          </a:xfrm>
          <a:prstGeom prst="roundRect">
            <a:avLst>
              <a:gd name="adj" fmla="val 28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9" y="3215030"/>
            <a:ext cx="62865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3" name="Shape 11"/>
          <p:cNvSpPr/>
          <p:nvPr/>
        </p:nvSpPr>
        <p:spPr>
          <a:xfrm>
            <a:off x="504749" y="3681374"/>
            <a:ext cx="6286500" cy="629107"/>
          </a:xfrm>
          <a:prstGeom prst="rect">
            <a:avLst/>
          </a:prstGeom>
          <a:solidFill>
            <a:srgbClr val="C5A059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4749" y="3681374"/>
            <a:ext cx="28346" cy="629107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1305" y="1114654"/>
            <a:ext cx="36722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"Planning-Reasoning" Architecture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4749" y="1576426"/>
            <a:ext cx="7863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4749" y="1861718"/>
            <a:ext cx="61246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RAG system that answers a question by performing multiple, sequential retrieval steps, where each step depends on the result of the previous one.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04749" y="2271370"/>
            <a:ext cx="6077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reasons across multiple documents in stages to arrive at a final answer, rather than attempting a single "lucky guess" search.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04749" y="2995574"/>
            <a:ext cx="2110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Concept: "Bridging"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776472"/>
            <a:ext cx="1077163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EXAMPLE: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09905" y="3929177"/>
            <a:ext cx="55440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answer "What is the NII impact of the 2023 acquisition?", the system must first identify which acquisition occurred in 2023 (The Bridge), then search for that specific deal's financial details.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3262579"/>
            <a:ext cx="5172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uses specific facts found in Step N to formulate the search query for Step N+1.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3471977"/>
            <a:ext cx="5639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identifies a Bridge Entity (a company, date, or person) to jump from one data source to another.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44207" y="1076249"/>
            <a:ext cx="4667098" cy="5591556"/>
          </a:xfrm>
          <a:prstGeom prst="roundRect">
            <a:avLst>
              <a:gd name="adj" fmla="val 3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06056" y="1209751"/>
            <a:ext cx="13240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MENTAL MODEL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06056" y="2700223"/>
            <a:ext cx="4343400" cy="514807"/>
          </a:xfrm>
          <a:prstGeom prst="roundRect">
            <a:avLst>
              <a:gd name="adj" fmla="val 2631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91095" y="2795321"/>
            <a:ext cx="7342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SINGLE-HOP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10229393" y="2795321"/>
            <a:ext cx="381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10569550" y="2814523"/>
            <a:ext cx="85954" cy="95098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692994" y="2795321"/>
            <a:ext cx="4197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-1648" r="-1648" t="0" b="0"/>
          <a:stretch/>
        </p:blipFill>
        <p:spPr>
          <a:xfrm>
            <a:off x="11068812" y="2814523"/>
            <a:ext cx="85954" cy="950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1193170" y="2795321"/>
            <a:ext cx="4480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7391095" y="2986430"/>
            <a:ext cx="6766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0803636" y="2986430"/>
            <a:ext cx="381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43793" y="3004718"/>
            <a:ext cx="95098" cy="9509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1277295" y="2986430"/>
            <a:ext cx="3721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Plan...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10004450" y="3641141"/>
            <a:ext cx="428854" cy="286207"/>
          </a:xfrm>
          <a:prstGeom prst="rect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0004450" y="4636008"/>
            <a:ext cx="428854" cy="286207"/>
          </a:xfrm>
          <a:prstGeom prst="rect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521294" y="4636008"/>
            <a:ext cx="428854" cy="286207"/>
          </a:xfrm>
          <a:prstGeom prst="rect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521294" y="3641141"/>
            <a:ext cx="428854" cy="286207"/>
          </a:xfrm>
          <a:prstGeom prst="roundRect">
            <a:avLst>
              <a:gd name="adj" fmla="val 159745"/>
            </a:avLst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167774" y="3366821"/>
            <a:ext cx="619049" cy="619049"/>
          </a:xfrm>
          <a:prstGeom prst="ellipse">
            <a:avLst/>
          </a:prstGeom>
          <a:solidFill>
            <a:srgbClr val="1A365D"/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91802" y="3534156"/>
            <a:ext cx="171907" cy="171907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368028" y="3715207"/>
            <a:ext cx="3054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</a:t>
            </a:r>
            <a:endParaRPr lang="en-US" sz="800" dirty="0"/>
          </a:p>
        </p:txBody>
      </p:sp>
      <p:sp>
        <p:nvSpPr>
          <p:cNvPr id="44" name="Shape 38"/>
          <p:cNvSpPr/>
          <p:nvPr/>
        </p:nvSpPr>
        <p:spPr>
          <a:xfrm>
            <a:off x="10682935" y="4006901"/>
            <a:ext cx="619049" cy="619049"/>
          </a:xfrm>
          <a:prstGeom prst="ellipse">
            <a:avLst/>
          </a:prstGeom>
          <a:solidFill>
            <a:srgbClr val="1A365D"/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906049" y="4173322"/>
            <a:ext cx="171907" cy="171907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10828325" y="4354373"/>
            <a:ext cx="40965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9167774" y="4576572"/>
            <a:ext cx="619049" cy="619049"/>
          </a:xfrm>
          <a:prstGeom prst="ellipse">
            <a:avLst/>
          </a:prstGeom>
          <a:solidFill>
            <a:srgbClr val="1A365D"/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9411005" y="4743907"/>
            <a:ext cx="133502" cy="171907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9341510" y="4924044"/>
            <a:ext cx="3529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</a:t>
            </a:r>
            <a:endParaRPr lang="en-US" sz="800" dirty="0"/>
          </a:p>
        </p:txBody>
      </p:sp>
      <p:sp>
        <p:nvSpPr>
          <p:cNvPr id="50" name="Shape 42"/>
          <p:cNvSpPr/>
          <p:nvPr/>
        </p:nvSpPr>
        <p:spPr>
          <a:xfrm>
            <a:off x="7652614" y="4006901"/>
            <a:ext cx="619049" cy="619049"/>
          </a:xfrm>
          <a:prstGeom prst="ellipse">
            <a:avLst/>
          </a:prstGeom>
          <a:solidFill>
            <a:srgbClr val="1A365D"/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76642" y="4173322"/>
            <a:ext cx="171907" cy="171907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7816291" y="4354373"/>
            <a:ext cx="37216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9059875" y="4043477"/>
            <a:ext cx="838505" cy="476402"/>
          </a:xfrm>
          <a:prstGeom prst="roundRect">
            <a:avLst>
              <a:gd name="adj" fmla="val 3071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4" name="Text 45"/>
          <p:cNvSpPr txBox="1"/>
          <p:nvPr/>
        </p:nvSpPr>
        <p:spPr>
          <a:xfrm>
            <a:off x="9188806" y="4100170"/>
            <a:ext cx="6574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STEP</a:t>
            </a:r>
            <a:endParaRPr lang="en-US" sz="800" dirty="0"/>
          </a:p>
        </p:txBody>
      </p:sp>
      <p:sp>
        <p:nvSpPr>
          <p:cNvPr id="55" name="Text 46"/>
          <p:cNvSpPr txBox="1"/>
          <p:nvPr/>
        </p:nvSpPr>
        <p:spPr>
          <a:xfrm>
            <a:off x="9174175" y="4310482"/>
            <a:ext cx="69037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Synthesize</a:t>
            </a:r>
            <a:endParaRPr lang="en-US" sz="800" dirty="0"/>
          </a:p>
        </p:txBody>
      </p:sp>
      <p:sp>
        <p:nvSpPr>
          <p:cNvPr id="56" name="Text 47"/>
          <p:cNvSpPr txBox="1"/>
          <p:nvPr/>
        </p:nvSpPr>
        <p:spPr>
          <a:xfrm>
            <a:off x="10376611" y="276149"/>
            <a:ext cx="14913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300" dirty="0"/>
          </a:p>
        </p:txBody>
      </p:sp>
      <p:sp>
        <p:nvSpPr>
          <p:cNvPr id="57" name="Text 48"/>
          <p:cNvSpPr txBox="1"/>
          <p:nvPr/>
        </p:nvSpPr>
        <p:spPr>
          <a:xfrm>
            <a:off x="11362334" y="495605"/>
            <a:ext cx="467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81305"/>
            <a:ext cx="21342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EVOLUTION OF THE PIPELINE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71500"/>
            <a:ext cx="4534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Single-Hop vs. Multi-Hop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57200" y="1380744"/>
            <a:ext cx="11277295" cy="2619756"/>
          </a:xfrm>
          <a:prstGeom prst="roundRect">
            <a:avLst>
              <a:gd name="adj" fmla="val 101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" y="1790395"/>
            <a:ext cx="1695298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2" name="Shape 10"/>
          <p:cNvSpPr/>
          <p:nvPr/>
        </p:nvSpPr>
        <p:spPr>
          <a:xfrm>
            <a:off x="2155241" y="1390802"/>
            <a:ext cx="4791456" cy="418795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0296" y="1390802"/>
            <a:ext cx="4791456" cy="418795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40296" y="1790395"/>
            <a:ext cx="4791456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" y="2238451"/>
            <a:ext cx="16952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155241" y="1809598"/>
            <a:ext cx="4791456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0296" y="1809598"/>
            <a:ext cx="4791456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40296" y="2238451"/>
            <a:ext cx="47914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" y="2247595"/>
            <a:ext cx="11259007" cy="4379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" y="2676449"/>
            <a:ext cx="16952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155241" y="2247595"/>
            <a:ext cx="4791456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0296" y="2247595"/>
            <a:ext cx="4791456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940296" y="2676449"/>
            <a:ext cx="47914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" y="3115361"/>
            <a:ext cx="16952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55241" y="2686507"/>
            <a:ext cx="4791456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0296" y="2686507"/>
            <a:ext cx="4791456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40296" y="3115361"/>
            <a:ext cx="47914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" y="3124505"/>
            <a:ext cx="11259007" cy="4379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" y="3553358"/>
            <a:ext cx="16952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55241" y="3124505"/>
            <a:ext cx="4791456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0296" y="3124505"/>
            <a:ext cx="4791456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40296" y="3553358"/>
            <a:ext cx="47914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937553" y="3562502"/>
            <a:ext cx="9144" cy="4288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940296" y="3562502"/>
            <a:ext cx="4791456" cy="428854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7454" y="1514246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46350" y="1514246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SINGLE-HOP (STANDARD)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130491" y="1514246"/>
            <a:ext cx="1600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(AGENTIC)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57454" y="1933956"/>
            <a:ext cx="8906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Type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346350" y="1933956"/>
            <a:ext cx="20628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Factual, explicit ("What is X?")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130491" y="1933956"/>
            <a:ext cx="31583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Complex, multi-part ("How does X impact Y?")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7454" y="2371954"/>
            <a:ext cx="9390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2346350" y="2371954"/>
            <a:ext cx="1843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Document / Chunk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130491" y="2371954"/>
            <a:ext cx="2443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Disconnected Documents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57454" y="2809951"/>
            <a:ext cx="6336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346350" y="2809951"/>
            <a:ext cx="12627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(One pass)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130491" y="2809951"/>
            <a:ext cx="20820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Iterative / Recursive (Looping)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57454" y="3247949"/>
            <a:ext cx="833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346350" y="3247949"/>
            <a:ext cx="15480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and Summarize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130491" y="3247949"/>
            <a:ext cx="15288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Deduce and Connect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57454" y="3685946"/>
            <a:ext cx="986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Fin. Example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2346350" y="3685946"/>
            <a:ext cx="2472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"Show me the 2023 Annual Report."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130491" y="3685946"/>
            <a:ext cx="33768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"Is the CEO's compensation linked to ESG goals?"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229100"/>
            <a:ext cx="5486400" cy="2400300"/>
          </a:xfrm>
          <a:prstGeom prst="roundRect">
            <a:avLst>
              <a:gd name="adj" fmla="val 1209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4229100"/>
            <a:ext cx="54864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067458" y="4390949"/>
            <a:ext cx="2352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WORKFLOW: LINEAR</a:t>
            </a:r>
            <a:endParaRPr lang="en-US" sz="900" dirty="0"/>
          </a:p>
        </p:txBody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0" b="-1100"/>
          <a:stretch/>
        </p:blipFill>
        <p:spPr>
          <a:xfrm>
            <a:off x="2714854" y="5519318"/>
            <a:ext cx="114300" cy="133502"/>
          </a:xfrm>
          <a:prstGeom prst="rect">
            <a:avLst/>
          </a:prstGeom>
        </p:spPr>
      </p:pic>
      <p:pic>
        <p:nvPicPr>
          <p:cNvPr id="5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3524098" y="5519318"/>
            <a:ext cx="114300" cy="133502"/>
          </a:xfrm>
          <a:prstGeom prst="rect">
            <a:avLst/>
          </a:prstGeom>
        </p:spPr>
      </p:pic>
      <p:sp>
        <p:nvSpPr>
          <p:cNvPr id="58" name="Shape 54"/>
          <p:cNvSpPr/>
          <p:nvPr/>
        </p:nvSpPr>
        <p:spPr>
          <a:xfrm>
            <a:off x="6248095" y="4229100"/>
            <a:ext cx="5495544" cy="2400300"/>
          </a:xfrm>
          <a:prstGeom prst="roundRect">
            <a:avLst>
              <a:gd name="adj" fmla="val 1209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7946136" y="4390949"/>
            <a:ext cx="2181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AGENTIC WORKFLOW: CYCLIC</a:t>
            </a:r>
            <a:endParaRPr lang="en-US" sz="900" dirty="0"/>
          </a:p>
        </p:txBody>
      </p:sp>
      <p:pic>
        <p:nvPicPr>
          <p:cNvPr id="6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44154" y="4817059"/>
            <a:ext cx="133502" cy="133502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8677656" y="4791456"/>
            <a:ext cx="876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1</a:t>
            </a:r>
            <a:endParaRPr lang="en-US" sz="1200" dirty="0"/>
          </a:p>
        </p:txBody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28609" y="5903366"/>
            <a:ext cx="133502" cy="133502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8662111" y="5876849"/>
            <a:ext cx="9144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2</a:t>
            </a:r>
            <a:endParaRPr lang="en-US" sz="1200" dirty="0"/>
          </a:p>
        </p:txBody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6562649" y="5343754"/>
            <a:ext cx="133502" cy="152705"/>
          </a:xfrm>
          <a:prstGeom prst="rect">
            <a:avLst/>
          </a:prstGeom>
        </p:spPr>
      </p:pic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3" b="-43"/>
          <a:stretch/>
        </p:blipFill>
        <p:spPr>
          <a:xfrm>
            <a:off x="11287354" y="5343754"/>
            <a:ext cx="133502" cy="152705"/>
          </a:xfrm>
          <a:prstGeom prst="rect">
            <a:avLst/>
          </a:prstGeom>
        </p:spPr>
      </p:pic>
      <p:sp>
        <p:nvSpPr>
          <p:cNvPr id="66" name="Shape 58"/>
          <p:cNvSpPr/>
          <p:nvPr/>
        </p:nvSpPr>
        <p:spPr>
          <a:xfrm>
            <a:off x="6791249" y="5429707"/>
            <a:ext cx="457200" cy="1920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7" name="Shape 59"/>
          <p:cNvSpPr/>
          <p:nvPr/>
        </p:nvSpPr>
        <p:spPr>
          <a:xfrm>
            <a:off x="10735056" y="5429707"/>
            <a:ext cx="457200" cy="1920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8" name="Shape 60"/>
          <p:cNvSpPr/>
          <p:nvPr/>
        </p:nvSpPr>
        <p:spPr>
          <a:xfrm>
            <a:off x="8382305" y="4819802"/>
            <a:ext cx="1218895" cy="1218895"/>
          </a:xfrm>
          <a:prstGeom prst="roundRect">
            <a:avLst>
              <a:gd name="adj" fmla="val 75019"/>
            </a:avLst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9" name="Text 61"/>
          <p:cNvSpPr txBox="1"/>
          <p:nvPr/>
        </p:nvSpPr>
        <p:spPr>
          <a:xfrm>
            <a:off x="7309714" y="6258154"/>
            <a:ext cx="3486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Refines query based on intermediate results</a:t>
            </a:r>
            <a:endParaRPr lang="en-US" sz="1200" dirty="0"/>
          </a:p>
        </p:txBody>
      </p:sp>
      <p:sp>
        <p:nvSpPr>
          <p:cNvPr id="70" name="Shape 62"/>
          <p:cNvSpPr/>
          <p:nvPr/>
        </p:nvSpPr>
        <p:spPr>
          <a:xfrm>
            <a:off x="2181758" y="5281574"/>
            <a:ext cx="381305" cy="381305"/>
          </a:xfrm>
          <a:prstGeom prst="ellipse">
            <a:avLst/>
          </a:prstGeom>
          <a:solidFill>
            <a:srgbClr val="374151"/>
          </a:solidFill>
          <a:ln/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7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2305202" y="5395874"/>
            <a:ext cx="133502" cy="152705"/>
          </a:xfrm>
          <a:prstGeom prst="rect">
            <a:avLst/>
          </a:prstGeom>
        </p:spPr>
      </p:pic>
      <p:sp>
        <p:nvSpPr>
          <p:cNvPr id="72" name="Text 63"/>
          <p:cNvSpPr txBox="1"/>
          <p:nvPr/>
        </p:nvSpPr>
        <p:spPr>
          <a:xfrm>
            <a:off x="2197303" y="5738774"/>
            <a:ext cx="4389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900" dirty="0"/>
          </a:p>
        </p:txBody>
      </p:sp>
      <p:sp>
        <p:nvSpPr>
          <p:cNvPr id="73" name="Shape 64"/>
          <p:cNvSpPr/>
          <p:nvPr/>
        </p:nvSpPr>
        <p:spPr>
          <a:xfrm>
            <a:off x="2986430" y="5281574"/>
            <a:ext cx="381305" cy="381305"/>
          </a:xfrm>
          <a:prstGeom prst="ellipse">
            <a:avLst/>
          </a:prstGeom>
          <a:solidFill>
            <a:srgbClr val="1E40A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7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100730" y="5395874"/>
            <a:ext cx="152705" cy="152705"/>
          </a:xfrm>
          <a:prstGeom prst="rect">
            <a:avLst/>
          </a:prstGeom>
        </p:spPr>
      </p:pic>
      <p:sp>
        <p:nvSpPr>
          <p:cNvPr id="75" name="Text 65"/>
          <p:cNvSpPr txBox="1"/>
          <p:nvPr/>
        </p:nvSpPr>
        <p:spPr>
          <a:xfrm>
            <a:off x="2981858" y="5738774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900" dirty="0"/>
          </a:p>
        </p:txBody>
      </p:sp>
      <p:sp>
        <p:nvSpPr>
          <p:cNvPr id="76" name="Shape 66"/>
          <p:cNvSpPr/>
          <p:nvPr/>
        </p:nvSpPr>
        <p:spPr>
          <a:xfrm>
            <a:off x="3813962" y="5281574"/>
            <a:ext cx="381305" cy="381305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7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3938321" y="5395874"/>
            <a:ext cx="133502" cy="152705"/>
          </a:xfrm>
          <a:prstGeom prst="rect">
            <a:avLst/>
          </a:prstGeom>
        </p:spPr>
      </p:pic>
      <p:sp>
        <p:nvSpPr>
          <p:cNvPr id="78" name="Text 67"/>
          <p:cNvSpPr txBox="1"/>
          <p:nvPr/>
        </p:nvSpPr>
        <p:spPr>
          <a:xfrm>
            <a:off x="3791102" y="5738774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</a:t>
            </a:r>
            <a:endParaRPr lang="en-US" sz="900" dirty="0"/>
          </a:p>
        </p:txBody>
      </p:sp>
      <p:sp>
        <p:nvSpPr>
          <p:cNvPr id="79" name="Shape 68"/>
          <p:cNvSpPr/>
          <p:nvPr/>
        </p:nvSpPr>
        <p:spPr>
          <a:xfrm>
            <a:off x="8534095" y="4972507"/>
            <a:ext cx="914400" cy="914400"/>
          </a:xfrm>
          <a:prstGeom prst="roundRect">
            <a:avLst>
              <a:gd name="adj" fmla="val 100000"/>
            </a:avLst>
          </a:prstGeom>
          <a:noFill/>
          <a:ln w="25400">
            <a:solidFill>
              <a:srgbClr val="F59E0B"/>
            </a:solidFill>
            <a:prstDash val="solid"/>
          </a:ln>
        </p:spPr>
      </p:sp>
      <p:pic>
        <p:nvPicPr>
          <p:cNvPr id="8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896198" y="5179162"/>
            <a:ext cx="190195" cy="190195"/>
          </a:xfrm>
          <a:prstGeom prst="rect">
            <a:avLst/>
          </a:prstGeom>
        </p:spPr>
      </p:pic>
      <p:sp>
        <p:nvSpPr>
          <p:cNvPr id="81" name="Text 69"/>
          <p:cNvSpPr txBox="1"/>
          <p:nvPr/>
        </p:nvSpPr>
        <p:spPr>
          <a:xfrm>
            <a:off x="8601761" y="5469941"/>
            <a:ext cx="896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PLANNER</a:t>
            </a:r>
            <a:endParaRPr lang="en-US" sz="1200" dirty="0"/>
          </a:p>
        </p:txBody>
      </p:sp>
      <p:sp>
        <p:nvSpPr>
          <p:cNvPr id="82" name="Text 70"/>
          <p:cNvSpPr txBox="1"/>
          <p:nvPr/>
        </p:nvSpPr>
        <p:spPr>
          <a:xfrm>
            <a:off x="10326319" y="304495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83" name="Text 71"/>
          <p:cNvSpPr txBox="1"/>
          <p:nvPr/>
        </p:nvSpPr>
        <p:spPr>
          <a:xfrm>
            <a:off x="11275466" y="304495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WORKFLOW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590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"Retrieve-Read-Reason" Loop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006340" y="612007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1E40A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6383" y="6120079"/>
            <a:ext cx="114300" cy="114300"/>
          </a:xfrm>
          <a:prstGeom prst="roundRect">
            <a:avLst>
              <a:gd name="adj" fmla="val 800000"/>
            </a:avLst>
          </a:prstGeom>
          <a:solidFill>
            <a:srgbClr val="78350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7450" y="6100877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Step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56578" y="6100877"/>
            <a:ext cx="8193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Output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9905" y="2605126"/>
            <a:ext cx="10972800" cy="1920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905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" y="1957730"/>
            <a:ext cx="485546" cy="571500"/>
          </a:xfrm>
          <a:prstGeom prst="roundRect">
            <a:avLst>
              <a:gd name="adj" fmla="val 29541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923544" y="2119579"/>
            <a:ext cx="256946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9244" y="2700223"/>
            <a:ext cx="15105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Decomposition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" y="3033979"/>
            <a:ext cx="2200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breaks the complex query into a logical dependency chain.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43146" y="2499970"/>
            <a:ext cx="247802" cy="228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4219956" y="2529230"/>
            <a:ext cx="95098" cy="152705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62195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962449" y="1957730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76749" y="2119579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962449" y="2700223"/>
            <a:ext cx="15864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(Hop 1)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4962449" y="3033979"/>
            <a:ext cx="21534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 the first broad search to identify the target entity or concept.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800746" y="2499970"/>
            <a:ext cx="247802" cy="228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7877556" y="2529230"/>
            <a:ext cx="95098" cy="15270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15400" y="1757477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115654" y="1957730"/>
            <a:ext cx="514807" cy="571500"/>
          </a:xfrm>
          <a:prstGeom prst="roundRect">
            <a:avLst>
              <a:gd name="adj" fmla="val 26314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9229954" y="2119579"/>
            <a:ext cx="286207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15654" y="2700223"/>
            <a:ext cx="16623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Discovery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115654" y="3033979"/>
            <a:ext cx="21058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 key "Bridge Entities" (e.g., "Target is Acme Corp") from results.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10953598" y="3054096"/>
            <a:ext cx="19202" cy="121889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029554" y="3715207"/>
            <a:ext cx="2286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9905" y="4929530"/>
            <a:ext cx="10972800" cy="1920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6" name="Shape 29"/>
          <p:cNvSpPr/>
          <p:nvPr/>
        </p:nvSpPr>
        <p:spPr>
          <a:xfrm>
            <a:off x="8915400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9115654" y="4281221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229954" y="4443070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9115654" y="5024628"/>
            <a:ext cx="11960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Refinement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9115654" y="5357470"/>
            <a:ext cx="23527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Reformulate the query using new knowledge (e.g., "Acme Corp Revenue").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7800746" y="4824374"/>
            <a:ext cx="247802" cy="228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7877556" y="4852721"/>
            <a:ext cx="95098" cy="15270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4762195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4962449" y="4281221"/>
            <a:ext cx="457200" cy="571500"/>
          </a:xfrm>
          <a:prstGeom prst="roundRect">
            <a:avLst>
              <a:gd name="adj" fmla="val 33333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76749" y="4443070"/>
            <a:ext cx="228600" cy="22860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4962449" y="5024628"/>
            <a:ext cx="16248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(Hop 2)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4962449" y="5357470"/>
            <a:ext cx="21717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 the second, targeted search using the refined parameters.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4143146" y="4824374"/>
            <a:ext cx="247802" cy="228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4219956" y="4852721"/>
            <a:ext cx="95098" cy="152705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609905" y="4081882"/>
            <a:ext cx="2667305" cy="1714500"/>
          </a:xfrm>
          <a:prstGeom prst="roundRect">
            <a:avLst>
              <a:gd name="adj" fmla="val 2370"/>
            </a:avLst>
          </a:prstGeom>
          <a:solidFill>
            <a:srgbClr val="C5A059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809244" y="4281221"/>
            <a:ext cx="428854" cy="571500"/>
          </a:xfrm>
          <a:prstGeom prst="roundRect">
            <a:avLst>
              <a:gd name="adj" fmla="val 37906"/>
            </a:avLst>
          </a:prstGeom>
          <a:solidFill>
            <a:srgbClr val="C5A059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rcRect l="-57" r="-57" t="0" b="0"/>
          <a:stretch/>
        </p:blipFill>
        <p:spPr>
          <a:xfrm>
            <a:off x="923544" y="4443070"/>
            <a:ext cx="200254" cy="22860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809244" y="5024628"/>
            <a:ext cx="9957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54" name="Text 42"/>
          <p:cNvSpPr txBox="1"/>
          <p:nvPr/>
        </p:nvSpPr>
        <p:spPr>
          <a:xfrm>
            <a:off x="809244" y="5357470"/>
            <a:ext cx="2343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context from Hop 1 and Hop 2 for the final cited answer.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809244" y="1623974"/>
            <a:ext cx="286207" cy="286207"/>
          </a:xfrm>
          <a:prstGeom prst="ellipse">
            <a:avLst/>
          </a:prstGeom>
          <a:solidFill>
            <a:srgbClr val="C5A059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56" name="Text 44"/>
          <p:cNvSpPr txBox="1"/>
          <p:nvPr/>
        </p:nvSpPr>
        <p:spPr>
          <a:xfrm>
            <a:off x="926287" y="1666951"/>
            <a:ext cx="1572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45"/>
          <p:cNvSpPr/>
          <p:nvPr/>
        </p:nvSpPr>
        <p:spPr>
          <a:xfrm>
            <a:off x="4962449" y="1623974"/>
            <a:ext cx="286207" cy="286207"/>
          </a:xfrm>
          <a:prstGeom prst="ellipse">
            <a:avLst/>
          </a:prstGeom>
          <a:solidFill>
            <a:srgbClr val="C5A059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58" name="Text 46"/>
          <p:cNvSpPr txBox="1"/>
          <p:nvPr/>
        </p:nvSpPr>
        <p:spPr>
          <a:xfrm>
            <a:off x="5065776" y="1666951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9115654" y="1623974"/>
            <a:ext cx="286207" cy="286207"/>
          </a:xfrm>
          <a:prstGeom prst="ellipse">
            <a:avLst/>
          </a:prstGeom>
          <a:solidFill>
            <a:srgbClr val="C5A059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60" name="Text 48"/>
          <p:cNvSpPr txBox="1"/>
          <p:nvPr/>
        </p:nvSpPr>
        <p:spPr>
          <a:xfrm>
            <a:off x="9218981" y="1666951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9115654" y="3948379"/>
            <a:ext cx="286207" cy="286207"/>
          </a:xfrm>
          <a:prstGeom prst="ellipse">
            <a:avLst/>
          </a:prstGeom>
          <a:solidFill>
            <a:srgbClr val="C5A059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62" name="Text 50"/>
          <p:cNvSpPr txBox="1"/>
          <p:nvPr/>
        </p:nvSpPr>
        <p:spPr>
          <a:xfrm>
            <a:off x="9212580" y="3991356"/>
            <a:ext cx="1956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4962449" y="3948379"/>
            <a:ext cx="286207" cy="286207"/>
          </a:xfrm>
          <a:prstGeom prst="ellipse">
            <a:avLst/>
          </a:prstGeom>
          <a:solidFill>
            <a:srgbClr val="C5A059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64" name="Text 52"/>
          <p:cNvSpPr txBox="1"/>
          <p:nvPr/>
        </p:nvSpPr>
        <p:spPr>
          <a:xfrm>
            <a:off x="5065776" y="3991356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809244" y="3948379"/>
            <a:ext cx="286207" cy="286207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66" name="Text 54"/>
          <p:cNvSpPr txBox="1"/>
          <p:nvPr/>
        </p:nvSpPr>
        <p:spPr>
          <a:xfrm>
            <a:off x="909828" y="3991356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55"/>
          <p:cNvSpPr txBox="1"/>
          <p:nvPr/>
        </p:nvSpPr>
        <p:spPr>
          <a:xfrm>
            <a:off x="10862158" y="304495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68" name="Text 56"/>
          <p:cNvSpPr txBox="1"/>
          <p:nvPr/>
        </p:nvSpPr>
        <p:spPr>
          <a:xfrm>
            <a:off x="11286439" y="49560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3896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Query Decomposition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457200" y="2180844"/>
            <a:ext cx="3657600" cy="1324051"/>
          </a:xfrm>
          <a:prstGeom prst="roundRect">
            <a:avLst>
              <a:gd name="adj" fmla="val 397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727094"/>
            <a:ext cx="3657600" cy="1324051"/>
          </a:xfrm>
          <a:prstGeom prst="roundRect">
            <a:avLst>
              <a:gd name="adj" fmla="val 397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5639105"/>
            <a:ext cx="3657600" cy="914400"/>
          </a:xfrm>
          <a:prstGeom prst="rect">
            <a:avLst/>
          </a:prstGeom>
          <a:solidFill>
            <a:srgbClr val="1E3A8A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5639105"/>
            <a:ext cx="38405" cy="914400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561795"/>
            <a:ext cx="37536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Breaking Down the "Deal Question"</a:t>
            </a:r>
            <a:endParaRPr lang="en-US" sz="18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454" y="2407615"/>
            <a:ext cx="133502" cy="13350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66851" y="2391156"/>
            <a:ext cx="13194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57454" y="2667305"/>
            <a:ext cx="312907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LLMs struggle to fetch all facets of a complex, multi-hop query in a single pass. Context windows get flooded with irrelevant noise.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657454" y="3952951"/>
            <a:ext cx="105156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38505" y="3936492"/>
            <a:ext cx="11859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57454" y="4212641"/>
            <a:ext cx="3205886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"Agent" decomposes the prompt into a dependency chain. Each step retrieves specific facts needed for the next.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47395" y="5790895"/>
            <a:ext cx="848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647395" y="6029554"/>
            <a:ext cx="317662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"You cannot answer Sub-Q 3 without knowing the answer to Sub-Q 1."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" y="1914754"/>
            <a:ext cx="457200" cy="38405"/>
          </a:xfrm>
          <a:prstGeom prst="rect">
            <a:avLst/>
          </a:prstGeom>
          <a:solidFill>
            <a:srgbClr val="C5A059">
              <a:alpha val="60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4416552" y="1533449"/>
            <a:ext cx="9144" cy="502005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475366" y="1533449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FLOW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223199" y="2391156"/>
            <a:ext cx="19202" cy="38130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6" name="Shape 22"/>
          <p:cNvSpPr/>
          <p:nvPr/>
        </p:nvSpPr>
        <p:spPr>
          <a:xfrm>
            <a:off x="4959706" y="3286354"/>
            <a:ext cx="19202" cy="2553005"/>
          </a:xfrm>
          <a:prstGeom prst="rect">
            <a:avLst/>
          </a:prstGeom>
          <a:solidFill>
            <a:srgbClr val="4B5563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5650" y="2747772"/>
            <a:ext cx="114300" cy="11430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606186" y="1609344"/>
            <a:ext cx="5257800" cy="1067105"/>
          </a:xfrm>
          <a:prstGeom prst="roundRect">
            <a:avLst>
              <a:gd name="adj" fmla="val 6121"/>
            </a:avLst>
          </a:prstGeom>
          <a:solidFill>
            <a:srgbClr val="C5A059">
              <a:alpha val="10000"/>
            </a:srgbClr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29" name="Text 24"/>
          <p:cNvSpPr txBox="1"/>
          <p:nvPr/>
        </p:nvSpPr>
        <p:spPr>
          <a:xfrm>
            <a:off x="7842809" y="1781251"/>
            <a:ext cx="8668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6112764" y="2009851"/>
            <a:ext cx="43772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"How will the new tariff policy impact our largest automotive holding?"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5111496" y="3057754"/>
            <a:ext cx="6476695" cy="705002"/>
          </a:xfrm>
          <a:prstGeom prst="roundRect">
            <a:avLst>
              <a:gd name="adj" fmla="val 14022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197389" y="3295498"/>
            <a:ext cx="1228954" cy="256946"/>
          </a:xfrm>
          <a:prstGeom prst="roundRect">
            <a:avLst>
              <a:gd name="adj" fmla="val 26360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-1677" r="-1677" t="0" b="0"/>
          <a:stretch/>
        </p:blipFill>
        <p:spPr>
          <a:xfrm>
            <a:off x="10320833" y="3369564"/>
            <a:ext cx="95098" cy="10515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0491826" y="3343046"/>
            <a:ext cx="8887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Ford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5302606" y="3219602"/>
            <a:ext cx="1696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Entity Identification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5302606" y="3419856"/>
            <a:ext cx="3262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"Identify our fund's largest automotive holding"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111496" y="3991356"/>
            <a:ext cx="19202" cy="3044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2"/>
          <p:cNvSpPr/>
          <p:nvPr/>
        </p:nvSpPr>
        <p:spPr>
          <a:xfrm>
            <a:off x="5111496" y="3991356"/>
            <a:ext cx="6476695" cy="705002"/>
          </a:xfrm>
          <a:prstGeom prst="roundRect">
            <a:avLst>
              <a:gd name="adj" fmla="val 14022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766706" y="4229100"/>
            <a:ext cx="1657807" cy="256946"/>
          </a:xfrm>
          <a:prstGeom prst="roundRect">
            <a:avLst>
              <a:gd name="adj" fmla="val 26360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rcRect l="-1677" r="-1677" t="0" b="0"/>
          <a:stretch/>
        </p:blipFill>
        <p:spPr>
          <a:xfrm>
            <a:off x="9891065" y="4303166"/>
            <a:ext cx="95098" cy="10515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10062058" y="4276649"/>
            <a:ext cx="13176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25% on Steel</a:t>
            </a:r>
            <a:endParaRPr lang="en-US" sz="800" dirty="0"/>
          </a:p>
        </p:txBody>
      </p:sp>
      <p:sp>
        <p:nvSpPr>
          <p:cNvPr id="42" name="Text 35"/>
          <p:cNvSpPr txBox="1"/>
          <p:nvPr/>
        </p:nvSpPr>
        <p:spPr>
          <a:xfrm>
            <a:off x="5302606" y="4153205"/>
            <a:ext cx="1914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External Factor Lookup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5302606" y="4352544"/>
            <a:ext cx="3939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are the new tariff policies for automotive imports?"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5111496" y="4924044"/>
            <a:ext cx="19202" cy="3044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Shape 38"/>
          <p:cNvSpPr/>
          <p:nvPr/>
        </p:nvSpPr>
        <p:spPr>
          <a:xfrm>
            <a:off x="5111496" y="4924044"/>
            <a:ext cx="6476695" cy="1143000"/>
          </a:xfrm>
          <a:prstGeom prst="roundRect">
            <a:avLst>
              <a:gd name="adj" fmla="val 5333"/>
            </a:avLst>
          </a:prstGeom>
          <a:solidFill>
            <a:srgbClr val="0B1E3D">
              <a:alpha val="8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2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552737" y="5162702"/>
            <a:ext cx="1876349" cy="256946"/>
          </a:xfrm>
          <a:prstGeom prst="roundRect">
            <a:avLst>
              <a:gd name="adj" fmla="val 26360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958" b="-1958"/>
          <a:stretch/>
        </p:blipFill>
        <p:spPr>
          <a:xfrm>
            <a:off x="9676181" y="5236769"/>
            <a:ext cx="75895" cy="105156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9828886" y="5210251"/>
            <a:ext cx="155539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Retrieves: 10-K Risk Factors</a:t>
            </a:r>
            <a:endParaRPr lang="en-US" sz="800" dirty="0"/>
          </a:p>
        </p:txBody>
      </p:sp>
      <p:sp>
        <p:nvSpPr>
          <p:cNvPr id="49" name="Shape 41"/>
          <p:cNvSpPr/>
          <p:nvPr/>
        </p:nvSpPr>
        <p:spPr>
          <a:xfrm>
            <a:off x="5302606" y="5581498"/>
            <a:ext cx="1485900" cy="323698"/>
          </a:xfrm>
          <a:prstGeom prst="roundRect">
            <a:avLst>
              <a:gd name="adj" fmla="val 33234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6858000" y="5581498"/>
            <a:ext cx="1514246" cy="323698"/>
          </a:xfrm>
          <a:prstGeom prst="roundRect">
            <a:avLst>
              <a:gd name="adj" fmla="val 33234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5302606" y="5086807"/>
            <a:ext cx="2352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Impact Analysis (Dependency)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5302606" y="5286146"/>
            <a:ext cx="3053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Ford's exposure to imported steel?"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5388559" y="5648249"/>
            <a:ext cx="1429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from Step 1</a:t>
            </a:r>
            <a:endParaRPr lang="en-US" sz="1200" dirty="0"/>
          </a:p>
        </p:txBody>
      </p:sp>
      <p:sp>
        <p:nvSpPr>
          <p:cNvPr id="54" name="Text 46"/>
          <p:cNvSpPr txBox="1"/>
          <p:nvPr/>
        </p:nvSpPr>
        <p:spPr>
          <a:xfrm>
            <a:off x="6943954" y="5648249"/>
            <a:ext cx="14575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from Step 2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5111496" y="3209544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5111496" y="4143146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5111496" y="5076749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C5A05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10842041" y="304495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11280953" y="49560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81305"/>
            <a:ext cx="2019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A (CONTINUED)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571500"/>
            <a:ext cx="34866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Recursive Retrieval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10664647" y="647395"/>
            <a:ext cx="11622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09630" y="809244"/>
            <a:ext cx="6336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56025"/>
            <a:ext cx="3610051" cy="1438351"/>
          </a:xfrm>
          <a:prstGeom prst="roundRect">
            <a:avLst>
              <a:gd name="adj" fmla="val 336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859475"/>
            <a:ext cx="990295" cy="476402"/>
          </a:xfrm>
          <a:prstGeom prst="roundRect">
            <a:avLst>
              <a:gd name="adj" fmla="val 15355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2571" r="-2571" t="0" b="0"/>
          <a:stretch/>
        </p:blipFill>
        <p:spPr>
          <a:xfrm>
            <a:off x="1522476" y="6039612"/>
            <a:ext cx="105156" cy="1143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703527" y="5859475"/>
            <a:ext cx="923544" cy="476402"/>
          </a:xfrm>
          <a:prstGeom prst="roundRect">
            <a:avLst>
              <a:gd name="adj" fmla="val 15355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2571" r="-2571" t="0" b="0"/>
          <a:stretch/>
        </p:blipFill>
        <p:spPr>
          <a:xfrm>
            <a:off x="2693822" y="6039612"/>
            <a:ext cx="105156" cy="1143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874874" y="5859475"/>
            <a:ext cx="1190549" cy="476402"/>
          </a:xfrm>
          <a:prstGeom prst="roundRect">
            <a:avLst>
              <a:gd name="adj" fmla="val 15355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7200" y="1751076"/>
            <a:ext cx="3162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"Drill-Down" Method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2475281"/>
            <a:ext cx="358627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Instead of searching for specific details immediately, the system first retrieves a high-level summary to understand the context, then generates targeted queries for the details.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694944" y="4121201"/>
            <a:ext cx="105156" cy="1335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5995" y="4103827"/>
            <a:ext cx="10341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" y="4418381"/>
            <a:ext cx="311993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"The system learns what to look for from the initial retrieval, then drills deeper into specific sections."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5592470"/>
            <a:ext cx="12097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LOGIC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80644" y="5916168"/>
            <a:ext cx="5577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Broad Search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1826971" y="5916168"/>
            <a:ext cx="61447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Cue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2999232" y="5916168"/>
            <a:ext cx="7004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Targeted Lookup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57200" y="2189988"/>
            <a:ext cx="457200" cy="38405"/>
          </a:xfrm>
          <a:prstGeom prst="rect">
            <a:avLst/>
          </a:prstGeom>
          <a:solidFill>
            <a:srgbClr val="C5A059">
              <a:alpha val="60000"/>
            </a:srgbClr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086393" y="1533449"/>
            <a:ext cx="2743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SCENARIO: EARNINGS CALL ANALYSIS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927702" y="1809598"/>
            <a:ext cx="6400800" cy="1057046"/>
          </a:xfrm>
          <a:prstGeom prst="roundRect">
            <a:avLst>
              <a:gd name="adj" fmla="val 623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194706" y="2033626"/>
            <a:ext cx="418795" cy="476402"/>
          </a:xfrm>
          <a:prstGeom prst="roundRect">
            <a:avLst>
              <a:gd name="adj" fmla="val 21834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18150" y="2168957"/>
            <a:ext cx="171907" cy="17190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766206" y="2033626"/>
            <a:ext cx="1543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1: BROAD CONTEXT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5766206" y="2253082"/>
            <a:ext cx="2210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Retrieve CEO's Opening Remarks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5766206" y="2490826"/>
            <a:ext cx="3458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"Summary of headwinds mentioned in Q3 opening"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9962388" y="1971446"/>
            <a:ext cx="113385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047427" y="2029054"/>
            <a:ext cx="10387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TRANSCRIPT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10270541" y="2286000"/>
            <a:ext cx="914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 Scanned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10105034" y="2467051"/>
            <a:ext cx="111922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Sections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8118043" y="2866644"/>
            <a:ext cx="19202" cy="38130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0" name="Shape 34"/>
          <p:cNvSpPr/>
          <p:nvPr/>
        </p:nvSpPr>
        <p:spPr>
          <a:xfrm>
            <a:off x="8118043" y="3343046"/>
            <a:ext cx="19202" cy="38130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1" name="Shape 35"/>
          <p:cNvSpPr/>
          <p:nvPr/>
        </p:nvSpPr>
        <p:spPr>
          <a:xfrm>
            <a:off x="5407762" y="3724351"/>
            <a:ext cx="5447995" cy="1200607"/>
          </a:xfrm>
          <a:prstGeom prst="roundRect">
            <a:avLst>
              <a:gd name="adj" fmla="val 483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674766" y="3943807"/>
            <a:ext cx="466344" cy="476402"/>
          </a:xfrm>
          <a:prstGeom prst="roundRect">
            <a:avLst>
              <a:gd name="adj" fmla="val 196078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-1064" r="-1064" t="0" b="0"/>
          <a:stretch/>
        </p:blipFill>
        <p:spPr>
          <a:xfrm>
            <a:off x="5798210" y="4079138"/>
            <a:ext cx="219456" cy="171907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6293815" y="3943807"/>
            <a:ext cx="15151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2: REFINED QUERY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6293815" y="4162349"/>
            <a:ext cx="2610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Locate CFO's "FX Impact" Commentary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6293815" y="4401007"/>
            <a:ext cx="30861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"Quantify FX impact on APAC revenue in CFO section"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9533534" y="3886200"/>
            <a:ext cx="1086307" cy="381305"/>
          </a:xfrm>
          <a:prstGeom prst="roundRect">
            <a:avLst>
              <a:gd name="adj" fmla="val 2398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618574" y="3943807"/>
            <a:ext cx="562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 SECTION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10242194" y="4343400"/>
            <a:ext cx="457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9561881" y="4524451"/>
            <a:ext cx="11859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Paragraph</a:t>
            </a:r>
            <a:endParaRPr lang="en-US" sz="1300" dirty="0"/>
          </a:p>
        </p:txBody>
      </p:sp>
      <p:sp>
        <p:nvSpPr>
          <p:cNvPr id="51" name="Shape 44"/>
          <p:cNvSpPr/>
          <p:nvPr/>
        </p:nvSpPr>
        <p:spPr>
          <a:xfrm>
            <a:off x="8118043" y="4924044"/>
            <a:ext cx="19202" cy="38130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Shape 45"/>
          <p:cNvSpPr/>
          <p:nvPr/>
        </p:nvSpPr>
        <p:spPr>
          <a:xfrm>
            <a:off x="5887822" y="5305349"/>
            <a:ext cx="4486046" cy="972007"/>
          </a:xfrm>
          <a:prstGeom prst="roundRect">
            <a:avLst>
              <a:gd name="adj" fmla="val 737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6153912" y="5467198"/>
            <a:ext cx="418795" cy="476402"/>
          </a:xfrm>
          <a:prstGeom prst="roundRect">
            <a:avLst>
              <a:gd name="adj" fmla="val 218341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78270" y="5603443"/>
            <a:ext cx="171907" cy="171907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6725412" y="5467198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EXTRACTION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6725412" y="5695798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"FX Impact: -$45M"</a:t>
            </a:r>
            <a:endParaRPr lang="en-US" sz="1300" dirty="0"/>
          </a:p>
        </p:txBody>
      </p:sp>
      <p:sp>
        <p:nvSpPr>
          <p:cNvPr id="57" name="Text 49"/>
          <p:cNvSpPr txBox="1"/>
          <p:nvPr/>
        </p:nvSpPr>
        <p:spPr>
          <a:xfrm>
            <a:off x="6725412" y="5962802"/>
            <a:ext cx="2181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CFO Financial Review, Para 3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9313164" y="5672023"/>
            <a:ext cx="819302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9399118" y="5729630"/>
            <a:ext cx="7242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EXACT DATA</a:t>
            </a:r>
            <a:endParaRPr lang="en-US" sz="800" dirty="0"/>
          </a:p>
        </p:txBody>
      </p:sp>
      <p:sp>
        <p:nvSpPr>
          <p:cNvPr id="60" name="Shape 52"/>
          <p:cNvSpPr/>
          <p:nvPr/>
        </p:nvSpPr>
        <p:spPr>
          <a:xfrm>
            <a:off x="5853989" y="3133649"/>
            <a:ext cx="4552798" cy="323698"/>
          </a:xfrm>
          <a:prstGeom prst="roundRect">
            <a:avLst>
              <a:gd name="adj" fmla="val 282486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5977433" y="3200400"/>
            <a:ext cx="4420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 "Headwinds in APAC due to currency fluctuation"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42041" y="6286500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8210" y="647669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81305"/>
            <a:ext cx="10479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TECHNIQUE 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Knowledge Graphs (GraphRAG)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57200" y="2447849"/>
            <a:ext cx="3657600" cy="1362456"/>
          </a:xfrm>
          <a:prstGeom prst="roundRect">
            <a:avLst>
              <a:gd name="adj" fmla="val 375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031590"/>
            <a:ext cx="3657600" cy="1371600"/>
          </a:xfrm>
          <a:prstGeom prst="roundRect">
            <a:avLst>
              <a:gd name="adj" fmla="val 370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550408"/>
            <a:ext cx="3657600" cy="1086307"/>
          </a:xfrm>
          <a:prstGeom prst="roundRect">
            <a:avLst>
              <a:gd name="adj" fmla="val 5907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9" y="6017666"/>
            <a:ext cx="95098" cy="9509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90956" y="5979262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6017666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456993" y="5979262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Person/Fund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049" y="6265469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0956" y="6227064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0" y="6265469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456993" y="6227064"/>
            <a:ext cx="8101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1533449"/>
            <a:ext cx="32004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Reasoning for Corporate Hierarchies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454" y="2673706"/>
            <a:ext cx="133502" cy="13350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66851" y="2657246"/>
            <a:ext cx="1986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VECTORS FAIL HERE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57454" y="2971800"/>
            <a:ext cx="335767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databases find similar text, not connected entities. They struggle with explicit relationships like ownership, family trees, or supply chains.</a:t>
            </a:r>
            <a:endParaRPr lang="en-US" sz="10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657454" y="4257446"/>
            <a:ext cx="152705" cy="13350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86054" y="4240987"/>
            <a:ext cx="19193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GRAPH ADVANTAGE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57454" y="4555541"/>
            <a:ext cx="322508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stored as Nodes (Companies, People) and Edges (OWNS, SUPPLIES).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657454" y="5045659"/>
            <a:ext cx="3172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"Hop" = traversing graph edges, not text similarity.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619049" y="5712257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LEGEND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19295" y="1457554"/>
            <a:ext cx="7324344" cy="5171846"/>
          </a:xfrm>
          <a:prstGeom prst="roundRect">
            <a:avLst>
              <a:gd name="adj" fmla="val 39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4429354" y="1466698"/>
            <a:ext cx="7295998" cy="5152644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524951" y="1619402"/>
            <a:ext cx="3047695" cy="752551"/>
          </a:xfrm>
          <a:prstGeom prst="roundRect">
            <a:avLst>
              <a:gd name="adj" fmla="val 6152"/>
            </a:avLst>
          </a:prstGeom>
          <a:solidFill>
            <a:srgbClr val="111827">
              <a:alpha val="8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48395" y="1757477"/>
            <a:ext cx="114300" cy="11430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839505" y="1742846"/>
            <a:ext cx="1448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PATH IDENTIFIED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8648395" y="1933956"/>
            <a:ext cx="28483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→ Invests In → Fund A → Owns → Entity X (Sanctioned)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42041" y="6286500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80953" y="6476695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81305"/>
            <a:ext cx="18196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• COMPLIANCE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Ultimate Beneficial Owner (UBO)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57200" y="2162556"/>
            <a:ext cx="3657600" cy="1533449"/>
          </a:xfrm>
          <a:prstGeom prst="roundRect">
            <a:avLst>
              <a:gd name="adj" fmla="val 29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7454" y="2959913"/>
            <a:ext cx="3258007" cy="533095"/>
          </a:xfrm>
          <a:prstGeom prst="roundRect">
            <a:avLst>
              <a:gd name="adj" fmla="val 12252"/>
            </a:avLst>
          </a:prstGeom>
          <a:solidFill>
            <a:srgbClr val="1F2937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4" y="2959913"/>
            <a:ext cx="19202" cy="53309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883457"/>
            <a:ext cx="3657600" cy="1571854"/>
          </a:xfrm>
          <a:prstGeom prst="roundRect">
            <a:avLst>
              <a:gd name="adj" fmla="val 282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531206"/>
            <a:ext cx="3657600" cy="1086307"/>
          </a:xfrm>
          <a:prstGeom prst="roundRect">
            <a:avLst>
              <a:gd name="adj" fmla="val 5907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5998464"/>
            <a:ext cx="95098" cy="9509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" y="5960059"/>
            <a:ext cx="9811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Investor/Person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5998464"/>
            <a:ext cx="95098" cy="9509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456993" y="5960059"/>
            <a:ext cx="8860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Fund/Holding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9049" y="6246266"/>
            <a:ext cx="95098" cy="9509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" y="6207862"/>
            <a:ext cx="6483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6246266"/>
            <a:ext cx="95098" cy="9509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456993" y="6207862"/>
            <a:ext cx="8293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 List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533449"/>
            <a:ext cx="3771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Following the Ownership Trail</a:t>
            </a:r>
            <a:endParaRPr lang="en-US" sz="1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454" y="2388413"/>
            <a:ext cx="133502" cy="13350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66851" y="2371954"/>
            <a:ext cx="13194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57454" y="2648102"/>
            <a:ext cx="32250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Scenario: Compliance check for a new investor.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90956" y="3074213"/>
            <a:ext cx="26389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the new investor have any exposure to sanctioned entities?"</a:t>
            </a:r>
            <a:endParaRPr lang="en-US" sz="9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657454" y="4110228"/>
            <a:ext cx="105156" cy="13350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38505" y="4093769"/>
            <a:ext cx="10341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657454" y="4407408"/>
            <a:ext cx="3243377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"hop" follows relationship edges (A owns B, B invested in C) rather than text similarity. This path is often invisible to standard vector search which looks for keywords.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619049" y="5693969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TYPES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4419295" y="1457554"/>
            <a:ext cx="7324344" cy="5171846"/>
          </a:xfrm>
          <a:prstGeom prst="roundRect">
            <a:avLst>
              <a:gd name="adj" fmla="val 391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4429354" y="1466698"/>
            <a:ext cx="7295998" cy="5152644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8131759" y="5655564"/>
            <a:ext cx="3372307" cy="743407"/>
          </a:xfrm>
          <a:prstGeom prst="roundRect">
            <a:avLst>
              <a:gd name="adj" fmla="val 6308"/>
            </a:avLst>
          </a:prstGeom>
          <a:solidFill>
            <a:srgbClr val="111827">
              <a:alpha val="90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93608" y="5832043"/>
            <a:ext cx="114300" cy="11430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8483803" y="5817413"/>
            <a:ext cx="1733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EXPOSURE DETECTED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8293608" y="6055157"/>
            <a:ext cx="314827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Investor A → Fund B → Company C → OFAC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62158" y="6286500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09299" y="6476695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81305"/>
            <a:ext cx="15343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CONCRETE EXAMPLE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"/>
            <a:ext cx="3734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Financial Bridge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267151" y="1533449"/>
            <a:ext cx="9144" cy="5020056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12087" r="-12087" t="0" b="0"/>
          <a:stretch/>
        </p:blipFill>
        <p:spPr>
          <a:xfrm>
            <a:off x="328270" y="2661818"/>
            <a:ext cx="780898" cy="838505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61872" y="2967228"/>
            <a:ext cx="838505" cy="83850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53082" y="2661818"/>
            <a:ext cx="838505" cy="8385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4262018"/>
            <a:ext cx="2505456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4881982"/>
            <a:ext cx="2505456" cy="1285646"/>
          </a:xfrm>
          <a:prstGeom prst="roundRect">
            <a:avLst>
              <a:gd name="adj" fmla="val 4215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075774" y="1543507"/>
            <a:ext cx="1666951" cy="247802"/>
          </a:xfrm>
          <a:prstGeom prst="roundRect">
            <a:avLst>
              <a:gd name="adj" fmla="val 369004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1561795"/>
            <a:ext cx="22439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Reality: Siloed Data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1895551"/>
            <a:ext cx="25630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 lives in disconnected islands. Standard RAG finds one, but can't link them.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28270" y="3595421"/>
            <a:ext cx="6199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263701" y="3900830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News/Web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2253082" y="3595421"/>
            <a:ext cx="952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Docs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81812" y="4376318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2922" y="4367174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logical connection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19049" y="5043830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19049" y="5272430"/>
            <a:ext cx="218633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"How will proposed tariff increases on Chinese EV imports impact the margins of Tesla's main battery supplier?"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1561795"/>
            <a:ext cx="22055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Multi-Hop Solution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10199218" y="1604772"/>
            <a:ext cx="142646" cy="1143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418674" y="1591056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the Dots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657600" y="2433218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819449" y="25959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42" b="-842"/>
          <a:stretch/>
        </p:blipFill>
        <p:spPr>
          <a:xfrm>
            <a:off x="3914546" y="2700223"/>
            <a:ext cx="190195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992624" y="2614270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ID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3819449" y="3090672"/>
            <a:ext cx="16578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"Who is Tesla's main battery supplier?"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819449" y="3510382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3819449" y="3638398"/>
            <a:ext cx="105156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000500" y="3605479"/>
            <a:ext cx="462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3819449" y="3804818"/>
            <a:ext cx="2009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Supply Chain DB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6038698" y="3295498"/>
            <a:ext cx="3314700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1" name="Shape 32"/>
          <p:cNvSpPr/>
          <p:nvPr/>
        </p:nvSpPr>
        <p:spPr>
          <a:xfrm>
            <a:off x="9448495" y="2318918"/>
            <a:ext cx="2286000" cy="1971446"/>
          </a:xfrm>
          <a:prstGeom prst="roundRect">
            <a:avLst>
              <a:gd name="adj" fmla="val 17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610344" y="2481682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9734702" y="2585923"/>
            <a:ext cx="133502" cy="17190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681106" y="2499970"/>
            <a:ext cx="1010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EXPOSURE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9610344" y="2976372"/>
            <a:ext cx="197236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"CATL's revenue exposure to US market?"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9610344" y="3396082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610344" y="3524098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791395" y="3491179"/>
            <a:ext cx="833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14% of Rev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9610344" y="3690518"/>
            <a:ext cx="16962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CATL Annual Report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6001207" y="4276649"/>
            <a:ext cx="19202" cy="571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1" name="Shape 40"/>
          <p:cNvSpPr/>
          <p:nvPr/>
        </p:nvSpPr>
        <p:spPr>
          <a:xfrm>
            <a:off x="6001207" y="4848149"/>
            <a:ext cx="381305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Shape 41"/>
          <p:cNvSpPr/>
          <p:nvPr/>
        </p:nvSpPr>
        <p:spPr>
          <a:xfrm>
            <a:off x="4572000" y="451987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4733849" y="468172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39005" y="4785970"/>
            <a:ext cx="171907" cy="171907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807354" y="4700930"/>
            <a:ext cx="1010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APP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4733849" y="5176418"/>
            <a:ext cx="17145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"Tariff rate for battery imports?"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4733849" y="5596128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4733849" y="5724144"/>
            <a:ext cx="105156" cy="1143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4914900" y="5691226"/>
            <a:ext cx="7388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 Rate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4733849" y="5891479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Trade Policy Doc</a:t>
            </a:r>
            <a:endParaRPr lang="en-US" sz="1200" dirty="0"/>
          </a:p>
        </p:txBody>
      </p:sp>
      <p:sp>
        <p:nvSpPr>
          <p:cNvPr id="61" name="Shape 48"/>
          <p:cNvSpPr/>
          <p:nvPr/>
        </p:nvSpPr>
        <p:spPr>
          <a:xfrm>
            <a:off x="6953098" y="5381244"/>
            <a:ext cx="2210105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2" name="Shape 49"/>
          <p:cNvSpPr/>
          <p:nvPr/>
        </p:nvSpPr>
        <p:spPr>
          <a:xfrm>
            <a:off x="9258300" y="4519879"/>
            <a:ext cx="2476195" cy="1742846"/>
          </a:xfrm>
          <a:prstGeom prst="roundRect">
            <a:avLst>
              <a:gd name="adj" fmla="val 3440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100" b="-100"/>
          <a:stretch/>
        </p:blipFill>
        <p:spPr>
          <a:xfrm>
            <a:off x="9553651" y="4796028"/>
            <a:ext cx="114300" cy="152705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9877349" y="4785970"/>
            <a:ext cx="881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5" name="Text 51"/>
          <p:cNvSpPr txBox="1"/>
          <p:nvPr/>
        </p:nvSpPr>
        <p:spPr>
          <a:xfrm>
            <a:off x="9458554" y="5138928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Supplier: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11245291" y="5138928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900" dirty="0"/>
          </a:p>
        </p:txBody>
      </p:sp>
      <p:sp>
        <p:nvSpPr>
          <p:cNvPr id="67" name="Text 53"/>
          <p:cNvSpPr txBox="1"/>
          <p:nvPr/>
        </p:nvSpPr>
        <p:spPr>
          <a:xfrm>
            <a:off x="9458554" y="5367528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 Exp: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11326673" y="5367528"/>
            <a:ext cx="295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14%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9458554" y="5596128"/>
            <a:ext cx="400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Tariff: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11247120" y="5596128"/>
            <a:ext cx="381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</a:t>
            </a:r>
            <a:endParaRPr lang="en-US" sz="900" dirty="0"/>
          </a:p>
        </p:txBody>
      </p:sp>
      <p:sp>
        <p:nvSpPr>
          <p:cNvPr id="71" name="Shape 57"/>
          <p:cNvSpPr/>
          <p:nvPr/>
        </p:nvSpPr>
        <p:spPr>
          <a:xfrm>
            <a:off x="9458554" y="5824728"/>
            <a:ext cx="2076602" cy="914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2" name="Text 58"/>
          <p:cNvSpPr txBox="1"/>
          <p:nvPr/>
        </p:nvSpPr>
        <p:spPr>
          <a:xfrm>
            <a:off x="9747504" y="5910682"/>
            <a:ext cx="1591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Est. Margin Impact: -3.5%</a:t>
            </a:r>
            <a:endParaRPr lang="en-US" sz="900" dirty="0"/>
          </a:p>
        </p:txBody>
      </p:sp>
      <p:sp>
        <p:nvSpPr>
          <p:cNvPr id="73" name="Shape 59"/>
          <p:cNvSpPr/>
          <p:nvPr/>
        </p:nvSpPr>
        <p:spPr>
          <a:xfrm>
            <a:off x="3552444" y="2328977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4" name="Text 60"/>
          <p:cNvSpPr txBox="1"/>
          <p:nvPr/>
        </p:nvSpPr>
        <p:spPr>
          <a:xfrm>
            <a:off x="3660343" y="2361895"/>
            <a:ext cx="1572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75" name="Shape 61"/>
          <p:cNvSpPr/>
          <p:nvPr/>
        </p:nvSpPr>
        <p:spPr>
          <a:xfrm>
            <a:off x="9344254" y="2214677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6" name="Text 62"/>
          <p:cNvSpPr txBox="1"/>
          <p:nvPr/>
        </p:nvSpPr>
        <p:spPr>
          <a:xfrm>
            <a:off x="9437522" y="2247595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77" name="Shape 63"/>
          <p:cNvSpPr/>
          <p:nvPr/>
        </p:nvSpPr>
        <p:spPr>
          <a:xfrm>
            <a:off x="4466844" y="4414723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8" name="Text 64"/>
          <p:cNvSpPr txBox="1"/>
          <p:nvPr/>
        </p:nvSpPr>
        <p:spPr>
          <a:xfrm>
            <a:off x="4561027" y="4448556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114800"/>
            <a:ext cx="12191695" cy="9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438705" y="0"/>
            <a:ext cx="9144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876495" y="0"/>
            <a:ext cx="9144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753905" y="0"/>
            <a:ext cx="9144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1305"/>
            <a:ext cx="40389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EXAMPLE - CMBS/SASB TRANSACTION SEARCH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571500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Multi-Constraint Financial Query</a:t>
            </a:r>
            <a:endParaRPr lang="en-US" sz="2700" dirty="0"/>
          </a:p>
        </p:txBody>
      </p:sp>
      <p:sp>
        <p:nvSpPr>
          <p:cNvPr id="19" name="Text 17"/>
          <p:cNvSpPr txBox="1"/>
          <p:nvPr/>
        </p:nvSpPr>
        <p:spPr>
          <a:xfrm>
            <a:off x="10767060" y="609905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9124" y="809244"/>
            <a:ext cx="5577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333549"/>
            <a:ext cx="3638398" cy="990295"/>
          </a:xfrm>
          <a:prstGeom prst="roundRect">
            <a:avLst>
              <a:gd name="adj" fmla="val 5327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C5A059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507992"/>
            <a:ext cx="3638398" cy="1714500"/>
          </a:xfrm>
          <a:prstGeom prst="roundRect">
            <a:avLst>
              <a:gd name="adj" fmla="val 237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1790395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"Needle in a Haystack" Query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" y="2476195"/>
            <a:ext cx="3446374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"Find all 2024 US SASB transactions secured by Hotels or Resorts that included condominium interest managed by the hotel but owned by third parties"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495751"/>
            <a:ext cx="370057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single query contains four distinct constraints that typically reside in completely different sections of deal documentation or separate databases.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7454" y="4721962"/>
            <a:ext cx="114300" cy="1143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47649" y="4707331"/>
            <a:ext cx="1600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SINGLE-HOP FAILS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57454" y="4955134"/>
            <a:ext cx="3253435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single document contains all four attributes in one paragraph. A standard vector search will match "Hotels" or "2024" but fail to enforce the complex "third-party owned" structure constraint simultaneously.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143354"/>
            <a:ext cx="457200" cy="38405"/>
          </a:xfrm>
          <a:prstGeom prst="rect">
            <a:avLst/>
          </a:prstGeom>
          <a:solidFill>
            <a:srgbClr val="C5A059">
              <a:alpha val="60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298534" y="1380744"/>
            <a:ext cx="2524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PROGRESSIVE FILTERING PIPELINE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902098" y="2357323"/>
            <a:ext cx="6400800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130698" y="2481682"/>
            <a:ext cx="286207" cy="400507"/>
          </a:xfrm>
          <a:prstGeom prst="roundRect">
            <a:avLst>
              <a:gd name="adj" fmla="val 319489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100" b="-1100"/>
          <a:stretch/>
        </p:blipFill>
        <p:spPr>
          <a:xfrm>
            <a:off x="5216652" y="2612441"/>
            <a:ext cx="114300" cy="13350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568696" y="2510028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1: DEAL TYPE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5568696" y="2671877"/>
            <a:ext cx="18534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SASB CMBS Transactions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10604297" y="2490826"/>
            <a:ext cx="590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Universe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0088575" y="2661818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~5,000 Deals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8093354" y="3004718"/>
            <a:ext cx="19202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5222138" y="3233318"/>
            <a:ext cx="5762549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450738" y="3357677"/>
            <a:ext cx="286207" cy="400507"/>
          </a:xfrm>
          <a:prstGeom prst="roundRect">
            <a:avLst>
              <a:gd name="adj" fmla="val 319489"/>
            </a:avLst>
          </a:prstGeom>
          <a:solidFill>
            <a:srgbClr val="1E40AF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5536692" y="3488436"/>
            <a:ext cx="114300" cy="133502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5888736" y="3386023"/>
            <a:ext cx="1457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2: TIME PERIOD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5888736" y="3547872"/>
            <a:ext cx="1100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Issued in 2024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10296144" y="3366821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9907524" y="3538728"/>
            <a:ext cx="991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~450 Deals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8093354" y="3881628"/>
            <a:ext cx="19202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5542178" y="4110228"/>
            <a:ext cx="5124298" cy="647395"/>
          </a:xfrm>
          <a:prstGeom prst="roundRect">
            <a:avLst>
              <a:gd name="adj" fmla="val 1661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770778" y="4233672"/>
            <a:ext cx="304495" cy="400507"/>
          </a:xfrm>
          <a:prstGeom prst="roundRect">
            <a:avLst>
              <a:gd name="adj" fmla="val 300300"/>
            </a:avLst>
          </a:prstGeom>
          <a:solidFill>
            <a:srgbClr val="78350F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56732" y="4364431"/>
            <a:ext cx="133502" cy="133502"/>
          </a:xfrm>
          <a:prstGeom prst="rect">
            <a:avLst/>
          </a:prstGeom>
        </p:spPr>
      </p:pic>
      <p:sp>
        <p:nvSpPr>
          <p:cNvPr id="50" name="Text 44"/>
          <p:cNvSpPr txBox="1"/>
          <p:nvPr/>
        </p:nvSpPr>
        <p:spPr>
          <a:xfrm>
            <a:off x="6227978" y="4262018"/>
            <a:ext cx="17812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3: COLLATERAL TYPE</a:t>
            </a:r>
            <a:endParaRPr lang="en-US" sz="900" dirty="0"/>
          </a:p>
        </p:txBody>
      </p:sp>
      <p:sp>
        <p:nvSpPr>
          <p:cNvPr id="51" name="Text 45"/>
          <p:cNvSpPr txBox="1"/>
          <p:nvPr/>
        </p:nvSpPr>
        <p:spPr>
          <a:xfrm>
            <a:off x="6227978" y="4424782"/>
            <a:ext cx="12051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Hotels / Resorts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9976104" y="4243730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</a:t>
            </a:r>
            <a:endParaRPr lang="en-US" sz="900" dirty="0"/>
          </a:p>
        </p:txBody>
      </p:sp>
      <p:sp>
        <p:nvSpPr>
          <p:cNvPr id="53" name="Text 47"/>
          <p:cNvSpPr txBox="1"/>
          <p:nvPr/>
        </p:nvSpPr>
        <p:spPr>
          <a:xfrm>
            <a:off x="9710928" y="4414723"/>
            <a:ext cx="866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~35 Deals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8093354" y="4757623"/>
            <a:ext cx="19202" cy="2286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5862218" y="4986223"/>
            <a:ext cx="4486046" cy="666598"/>
          </a:xfrm>
          <a:prstGeom prst="roundRect">
            <a:avLst>
              <a:gd name="adj" fmla="val 15677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6090818" y="5119726"/>
            <a:ext cx="276149" cy="400507"/>
          </a:xfrm>
          <a:prstGeom prst="roundRect">
            <a:avLst>
              <a:gd name="adj" fmla="val 331126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6176772" y="5250485"/>
            <a:ext cx="105156" cy="133502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6519672" y="5148072"/>
            <a:ext cx="1743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4: DEAL STRUCTURE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6519672" y="5309921"/>
            <a:ext cx="25100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Third-Party Owned Condo Interest</a:t>
            </a:r>
            <a:endParaRPr lang="en-US" sz="1000" dirty="0"/>
          </a:p>
        </p:txBody>
      </p:sp>
      <p:sp>
        <p:nvSpPr>
          <p:cNvPr id="60" name="Text 53"/>
          <p:cNvSpPr txBox="1"/>
          <p:nvPr/>
        </p:nvSpPr>
        <p:spPr>
          <a:xfrm>
            <a:off x="9648749" y="5110582"/>
            <a:ext cx="581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Set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9424721" y="5281574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Deals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04495"/>
            <a:ext cx="31345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EXAMPLE — HOP-BY-HOP EXECUTION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6402"/>
            <a:ext cx="3777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Hops to the Answer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900830"/>
            <a:ext cx="10362895" cy="1920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Shape 8"/>
          <p:cNvSpPr/>
          <p:nvPr/>
        </p:nvSpPr>
        <p:spPr>
          <a:xfrm>
            <a:off x="1419149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0998" y="2443277"/>
            <a:ext cx="323698" cy="409651"/>
          </a:xfrm>
          <a:prstGeom prst="roundRect">
            <a:avLst>
              <a:gd name="adj" fmla="val 49850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57807" y="2550262"/>
            <a:ext cx="171907" cy="17190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580998" y="2967228"/>
            <a:ext cx="1476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Universe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6627" r="-6627" t="0" b="0"/>
          <a:stretch/>
        </p:blipFill>
        <p:spPr>
          <a:xfrm>
            <a:off x="1580998" y="3271723"/>
            <a:ext cx="85954" cy="758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705356" y="3262579"/>
            <a:ext cx="8101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80998" y="3386023"/>
            <a:ext cx="2600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SASB CMBS transactions were issued in 2024 with hotel collateral?"</a:t>
            </a:r>
            <a:endParaRPr lang="en-US" sz="9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-7143" r="-7143" t="0" b="0"/>
          <a:stretch/>
        </p:blipFill>
        <p:spPr>
          <a:xfrm>
            <a:off x="1580998" y="3795674"/>
            <a:ext cx="75895" cy="758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5298" y="3786530"/>
            <a:ext cx="5340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580998" y="3929177"/>
            <a:ext cx="1133856" cy="286207"/>
          </a:xfrm>
          <a:prstGeom prst="roundRect">
            <a:avLst>
              <a:gd name="adj" fmla="val 4259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666951" y="3976726"/>
            <a:ext cx="1077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Trepp / Intex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580998" y="4291279"/>
            <a:ext cx="1657807" cy="286207"/>
          </a:xfrm>
          <a:prstGeom prst="roundRect">
            <a:avLst>
              <a:gd name="adj" fmla="val 42599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666951" y="4338828"/>
            <a:ext cx="1600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Prospectus (424B5)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580998" y="5014570"/>
            <a:ext cx="2533802" cy="400507"/>
          </a:xfrm>
          <a:prstGeom prst="rect">
            <a:avLst/>
          </a:prstGeom>
          <a:solidFill>
            <a:srgbClr val="C5A059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580998" y="5014570"/>
            <a:ext cx="19202" cy="400507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1676095" y="5081321"/>
            <a:ext cx="4672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676095" y="5205679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of ~15 deals</a:t>
            </a:r>
            <a:endParaRPr lang="en-US" sz="9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l="-1923" r="-1923" t="0" b="0"/>
          <a:stretch/>
        </p:blipFill>
        <p:spPr>
          <a:xfrm>
            <a:off x="4410151" y="3792931"/>
            <a:ext cx="123444" cy="1901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667098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28946" y="2443277"/>
            <a:ext cx="286207" cy="409651"/>
          </a:xfrm>
          <a:prstGeom prst="roundRect">
            <a:avLst>
              <a:gd name="adj" fmla="val 63898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rcRect l="-1773" r="-1773" t="0" b="0"/>
          <a:stretch/>
        </p:blipFill>
        <p:spPr>
          <a:xfrm>
            <a:off x="4905756" y="2550262"/>
            <a:ext cx="133502" cy="171907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828946" y="2967228"/>
            <a:ext cx="1381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Details</a:t>
            </a:r>
            <a:endParaRPr lang="en-US" sz="12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-6627" r="-6627" t="0" b="0"/>
          <a:stretch/>
        </p:blipFill>
        <p:spPr>
          <a:xfrm>
            <a:off x="4828946" y="3271723"/>
            <a:ext cx="85954" cy="7589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953305" y="3262579"/>
            <a:ext cx="8101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4828946" y="3386023"/>
            <a:ext cx="25630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"For each deal, what is the specific property ownership structure?"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6627" r="-6627" t="0" b="0"/>
          <a:stretch/>
        </p:blipFill>
        <p:spPr>
          <a:xfrm>
            <a:off x="4828946" y="3795674"/>
            <a:ext cx="85954" cy="75895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953305" y="3786530"/>
            <a:ext cx="5715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 FOR</a:t>
            </a:r>
            <a:endParaRPr lang="en-US" sz="800" dirty="0"/>
          </a:p>
        </p:txBody>
      </p:sp>
      <p:sp>
        <p:nvSpPr>
          <p:cNvPr id="37" name="Shape 28"/>
          <p:cNvSpPr/>
          <p:nvPr/>
        </p:nvSpPr>
        <p:spPr>
          <a:xfrm>
            <a:off x="4828946" y="3929177"/>
            <a:ext cx="19202" cy="45720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4924044" y="3948379"/>
            <a:ext cx="25054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 simple vs. leasehold, condo structures, split ownership.</a:t>
            </a:r>
            <a:endParaRPr lang="en-US" sz="120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rcRect l="-7143" r="-7143" t="0" b="0"/>
          <a:stretch/>
        </p:blipFill>
        <p:spPr>
          <a:xfrm>
            <a:off x="4828946" y="4824374"/>
            <a:ext cx="75895" cy="75895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943246" y="4815230"/>
            <a:ext cx="5340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SOURCES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4828946" y="4977079"/>
            <a:ext cx="25054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"Description of Mortgage Pool", Offering Circulars</a:t>
            </a:r>
            <a:endParaRPr lang="en-US" sz="120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rcRect l="-1923" r="-1923" t="0" b="0"/>
          <a:stretch/>
        </p:blipFill>
        <p:spPr>
          <a:xfrm>
            <a:off x="7658100" y="3792931"/>
            <a:ext cx="123444" cy="190195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7915046" y="2243023"/>
            <a:ext cx="2857500" cy="3333902"/>
          </a:xfrm>
          <a:prstGeom prst="roundRect">
            <a:avLst>
              <a:gd name="adj" fmla="val 85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076895" y="2443277"/>
            <a:ext cx="323698" cy="409651"/>
          </a:xfrm>
          <a:prstGeom prst="roundRect">
            <a:avLst>
              <a:gd name="adj" fmla="val 49850"/>
            </a:avLst>
          </a:prstGeom>
          <a:solidFill>
            <a:srgbClr val="C5A059">
              <a:alpha val="10000"/>
            </a:srgbClr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153705" y="2550262"/>
            <a:ext cx="171907" cy="171907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076895" y="2967228"/>
            <a:ext cx="1228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&amp; Select</a:t>
            </a:r>
            <a:endParaRPr lang="en-US" sz="12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rcRect l="-6627" r="-6627" t="0" b="0"/>
          <a:stretch/>
        </p:blipFill>
        <p:spPr>
          <a:xfrm>
            <a:off x="8076895" y="3271723"/>
            <a:ext cx="85954" cy="75895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8201254" y="3262579"/>
            <a:ext cx="8101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49" name="Text 36"/>
          <p:cNvSpPr txBox="1"/>
          <p:nvPr/>
        </p:nvSpPr>
        <p:spPr>
          <a:xfrm>
            <a:off x="8076895" y="3386023"/>
            <a:ext cx="2362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deals include third-party owned condo units?"</a:t>
            </a:r>
            <a:endParaRPr lang="en-US" sz="900" dirty="0"/>
          </a:p>
        </p:txBody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rcRect l="-6627" r="-6627" t="0" b="0"/>
          <a:stretch/>
        </p:blipFill>
        <p:spPr>
          <a:xfrm>
            <a:off x="8076895" y="3795674"/>
            <a:ext cx="85954" cy="7589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8201254" y="3786530"/>
            <a:ext cx="6291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KEYWORDS</a:t>
            </a:r>
            <a:endParaRPr lang="en-US" sz="800" dirty="0"/>
          </a:p>
        </p:txBody>
      </p:sp>
      <p:sp>
        <p:nvSpPr>
          <p:cNvPr id="52" name="Text 38"/>
          <p:cNvSpPr txBox="1"/>
          <p:nvPr/>
        </p:nvSpPr>
        <p:spPr>
          <a:xfrm>
            <a:off x="8076895" y="3948379"/>
            <a:ext cx="11814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"Condo-hotel"</a:t>
            </a:r>
            <a:endParaRPr lang="en-US" sz="1200" dirty="0"/>
          </a:p>
        </p:txBody>
      </p:sp>
      <p:sp>
        <p:nvSpPr>
          <p:cNvPr id="53" name="Text 39"/>
          <p:cNvSpPr txBox="1"/>
          <p:nvPr/>
        </p:nvSpPr>
        <p:spPr>
          <a:xfrm>
            <a:off x="9178747" y="3948379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"HOA"</a:t>
            </a:r>
            <a:endParaRPr lang="en-US" sz="1200" dirty="0"/>
          </a:p>
        </p:txBody>
      </p:sp>
      <p:sp>
        <p:nvSpPr>
          <p:cNvPr id="54" name="Text 40"/>
          <p:cNvSpPr txBox="1"/>
          <p:nvPr/>
        </p:nvSpPr>
        <p:spPr>
          <a:xfrm>
            <a:off x="8076895" y="4214470"/>
            <a:ext cx="15151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"Revenue sharing"</a:t>
            </a:r>
            <a:endParaRPr lang="en-US" sz="1200" dirty="0"/>
          </a:p>
        </p:txBody>
      </p:sp>
      <p:sp>
        <p:nvSpPr>
          <p:cNvPr id="55" name="Shape 41"/>
          <p:cNvSpPr/>
          <p:nvPr/>
        </p:nvSpPr>
        <p:spPr>
          <a:xfrm>
            <a:off x="8076895" y="4862779"/>
            <a:ext cx="2533802" cy="552298"/>
          </a:xfrm>
          <a:prstGeom prst="rect">
            <a:avLst/>
          </a:prstGeom>
          <a:solidFill>
            <a:srgbClr val="C5A059">
              <a:alpha val="10000"/>
            </a:srgbClr>
          </a:solidFill>
          <a:ln/>
        </p:spPr>
      </p:sp>
      <p:sp>
        <p:nvSpPr>
          <p:cNvPr id="56" name="Shape 42"/>
          <p:cNvSpPr/>
          <p:nvPr/>
        </p:nvSpPr>
        <p:spPr>
          <a:xfrm>
            <a:off x="8076895" y="4862779"/>
            <a:ext cx="19202" cy="55229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7" name="Text 43"/>
          <p:cNvSpPr txBox="1"/>
          <p:nvPr/>
        </p:nvSpPr>
        <p:spPr>
          <a:xfrm>
            <a:off x="8172907" y="4929530"/>
            <a:ext cx="8101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ANSWER</a:t>
            </a:r>
            <a:endParaRPr lang="en-US" sz="800" dirty="0"/>
          </a:p>
        </p:txBody>
      </p:sp>
      <p:sp>
        <p:nvSpPr>
          <p:cNvPr id="58" name="Text 44"/>
          <p:cNvSpPr txBox="1"/>
          <p:nvPr/>
        </p:nvSpPr>
        <p:spPr>
          <a:xfrm>
            <a:off x="8172907" y="5052974"/>
            <a:ext cx="20391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2-3 qualifying deals with citation evidence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1580998" y="2119579"/>
            <a:ext cx="267005" cy="267005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60" name="Text 46"/>
          <p:cNvSpPr txBox="1"/>
          <p:nvPr/>
        </p:nvSpPr>
        <p:spPr>
          <a:xfrm>
            <a:off x="1687982" y="2152498"/>
            <a:ext cx="1572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4828946" y="2119579"/>
            <a:ext cx="267005" cy="267005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62" name="Text 48"/>
          <p:cNvSpPr txBox="1"/>
          <p:nvPr/>
        </p:nvSpPr>
        <p:spPr>
          <a:xfrm>
            <a:off x="4923130" y="215249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Shape 49"/>
          <p:cNvSpPr/>
          <p:nvPr/>
        </p:nvSpPr>
        <p:spPr>
          <a:xfrm>
            <a:off x="8076895" y="2119579"/>
            <a:ext cx="267005" cy="267005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64" name="Text 50"/>
          <p:cNvSpPr txBox="1"/>
          <p:nvPr/>
        </p:nvSpPr>
        <p:spPr>
          <a:xfrm>
            <a:off x="8171078" y="215249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Text 51"/>
          <p:cNvSpPr txBox="1"/>
          <p:nvPr/>
        </p:nvSpPr>
        <p:spPr>
          <a:xfrm>
            <a:off x="10842041" y="228600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66" name="Text 52"/>
          <p:cNvSpPr txBox="1"/>
          <p:nvPr/>
        </p:nvSpPr>
        <p:spPr>
          <a:xfrm>
            <a:off x="11297412" y="381305"/>
            <a:ext cx="523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1305" y="247802"/>
            <a:ext cx="1153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476402"/>
            <a:ext cx="4415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M&amp;A Valuation Comp (3 Hops)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917936" y="495605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97082" y="685800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2910" y="1266444"/>
            <a:ext cx="9144" cy="528614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5" y="3438144"/>
            <a:ext cx="2553005" cy="1162202"/>
          </a:xfrm>
          <a:prstGeom prst="roundRect">
            <a:avLst>
              <a:gd name="adj" fmla="val 5159"/>
            </a:avLst>
          </a:prstGeom>
          <a:solidFill>
            <a:srgbClr val="1F293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3564" y="36009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92378" y="36383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502359" y="36009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12087" y="36383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22069" y="3600907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30882" y="36383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1305" y="4828946"/>
            <a:ext cx="2553005" cy="1104595"/>
          </a:xfrm>
          <a:prstGeom prst="roundRect">
            <a:avLst>
              <a:gd name="adj" fmla="val 5709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1305" y="1276502"/>
            <a:ext cx="7287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Headline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1305" y="1533449"/>
            <a:ext cx="2153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Comparables from Scratch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81305" y="1828800"/>
            <a:ext cx="2658161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cannot search for an "average multiple" directly. The system must first identify the targets, retrieve their financials at deal time, and then compute the average.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3154" y="4000500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fails to identify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6773" y="4229100"/>
            <a:ext cx="20391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"Top 3 deals" dynamically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3154" y="5009998"/>
            <a:ext cx="1162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3154" y="5296205"/>
            <a:ext cx="229605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"What was the average EV/EBITDA multiple of the three largest SaaS acquisitions in North America last quarter?"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471977" y="1333195"/>
            <a:ext cx="2181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Execution Flow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92617" y="1266444"/>
            <a:ext cx="3219602" cy="323698"/>
          </a:xfrm>
          <a:prstGeom prst="roundRect">
            <a:avLst>
              <a:gd name="adj" fmla="val 282486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-33" r="-33" t="0" b="0"/>
          <a:stretch/>
        </p:blipFill>
        <p:spPr>
          <a:xfrm>
            <a:off x="8716061" y="1343254"/>
            <a:ext cx="171907" cy="1527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963863" y="1333195"/>
            <a:ext cx="28392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 → Retrieval → Calculation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863133" y="2553005"/>
            <a:ext cx="3715207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673084" y="3762756"/>
            <a:ext cx="714146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853928" y="3791102"/>
            <a:ext cx="19202" cy="571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624682" y="1895551"/>
            <a:ext cx="2095805" cy="1333195"/>
          </a:xfrm>
          <a:prstGeom prst="roundRect">
            <a:avLst>
              <a:gd name="adj" fmla="val 39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48126" y="20189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34079" y="2104949"/>
            <a:ext cx="133502" cy="133502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3748126" y="3047695"/>
            <a:ext cx="18480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8" name="Shape 34"/>
          <p:cNvSpPr/>
          <p:nvPr/>
        </p:nvSpPr>
        <p:spPr>
          <a:xfrm>
            <a:off x="3748126" y="3133649"/>
            <a:ext cx="342900" cy="190195"/>
          </a:xfrm>
          <a:prstGeom prst="roundRect">
            <a:avLst>
              <a:gd name="adj" fmla="val 72115"/>
            </a:avLst>
          </a:prstGeom>
          <a:solidFill>
            <a:srgbClr val="2563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166921" y="3133649"/>
            <a:ext cx="342900" cy="190195"/>
          </a:xfrm>
          <a:prstGeom prst="roundRect">
            <a:avLst>
              <a:gd name="adj" fmla="val 72115"/>
            </a:avLst>
          </a:prstGeom>
          <a:solidFill>
            <a:srgbClr val="2563EB"/>
          </a:solidFill>
          <a:ln/>
        </p:spPr>
      </p:sp>
      <p:sp>
        <p:nvSpPr>
          <p:cNvPr id="40" name="Shape 36"/>
          <p:cNvSpPr/>
          <p:nvPr/>
        </p:nvSpPr>
        <p:spPr>
          <a:xfrm>
            <a:off x="4585716" y="3133649"/>
            <a:ext cx="342900" cy="190195"/>
          </a:xfrm>
          <a:prstGeom prst="roundRect">
            <a:avLst>
              <a:gd name="adj" fmla="val 72115"/>
            </a:avLst>
          </a:prstGeom>
          <a:solidFill>
            <a:srgbClr val="2563EB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4657039" y="2038198"/>
            <a:ext cx="1057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42" name="Text 38"/>
          <p:cNvSpPr txBox="1"/>
          <p:nvPr/>
        </p:nvSpPr>
        <p:spPr>
          <a:xfrm>
            <a:off x="3748126" y="2400300"/>
            <a:ext cx="19248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"List top SaaS acquisitions in NA in Q3 2025"</a:t>
            </a:r>
            <a:endParaRPr lang="en-US" sz="1200" dirty="0"/>
          </a:p>
        </p:txBody>
      </p:sp>
      <p:sp>
        <p:nvSpPr>
          <p:cNvPr id="43" name="Text 39"/>
          <p:cNvSpPr txBox="1"/>
          <p:nvPr/>
        </p:nvSpPr>
        <p:spPr>
          <a:xfrm>
            <a:off x="3805733" y="3172054"/>
            <a:ext cx="3054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A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4224528" y="3172054"/>
            <a:ext cx="3054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B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4643323" y="3172054"/>
            <a:ext cx="3054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Co. C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3748126" y="3376879"/>
            <a:ext cx="1828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Deal Database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3538728" y="1809598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630168" y="1837944"/>
            <a:ext cx="133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Shape 45"/>
          <p:cNvSpPr/>
          <p:nvPr/>
        </p:nvSpPr>
        <p:spPr>
          <a:xfrm>
            <a:off x="9715500" y="1895551"/>
            <a:ext cx="2095805" cy="1333195"/>
          </a:xfrm>
          <a:prstGeom prst="roundRect">
            <a:avLst>
              <a:gd name="adj" fmla="val 39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838944" y="201899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9934956" y="2104949"/>
            <a:ext cx="114300" cy="133502"/>
          </a:xfrm>
          <a:prstGeom prst="rect">
            <a:avLst/>
          </a:prstGeom>
        </p:spPr>
      </p:pic>
      <p:sp>
        <p:nvSpPr>
          <p:cNvPr id="52" name="Shape 47"/>
          <p:cNvSpPr/>
          <p:nvPr/>
        </p:nvSpPr>
        <p:spPr>
          <a:xfrm>
            <a:off x="9838944" y="3047695"/>
            <a:ext cx="18480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9838944" y="3133649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A: 14.5x</a:t>
            </a:r>
            <a:endParaRPr lang="en-US" sz="1200" dirty="0"/>
          </a:p>
        </p:txBody>
      </p:sp>
      <p:sp>
        <p:nvSpPr>
          <p:cNvPr id="54" name="Text 49"/>
          <p:cNvSpPr txBox="1"/>
          <p:nvPr/>
        </p:nvSpPr>
        <p:spPr>
          <a:xfrm>
            <a:off x="9838944" y="3400654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B: 12.2x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9838944" y="366674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 C: 15.8x</a:t>
            </a:r>
            <a:endParaRPr lang="en-US" sz="1200" dirty="0"/>
          </a:p>
        </p:txBody>
      </p:sp>
      <p:sp>
        <p:nvSpPr>
          <p:cNvPr id="56" name="Text 51"/>
          <p:cNvSpPr txBox="1"/>
          <p:nvPr/>
        </p:nvSpPr>
        <p:spPr>
          <a:xfrm>
            <a:off x="10796321" y="2038198"/>
            <a:ext cx="1010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9838944" y="2400300"/>
            <a:ext cx="16669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"Get EV &amp; EBITDA for A, B, C at deal date"</a:t>
            </a:r>
            <a:endParaRPr lang="en-US" sz="1200" dirty="0"/>
          </a:p>
        </p:txBody>
      </p:sp>
      <p:sp>
        <p:nvSpPr>
          <p:cNvPr id="58" name="Shape 53"/>
          <p:cNvSpPr/>
          <p:nvPr/>
        </p:nvSpPr>
        <p:spPr>
          <a:xfrm>
            <a:off x="9629546" y="1809598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9710014" y="183794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6434633" y="3685946"/>
            <a:ext cx="2095805" cy="1333195"/>
          </a:xfrm>
          <a:prstGeom prst="roundRect">
            <a:avLst>
              <a:gd name="adj" fmla="val 39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6558077" y="3810305"/>
            <a:ext cx="304495" cy="304495"/>
          </a:xfrm>
          <a:prstGeom prst="roundRect">
            <a:avLst>
              <a:gd name="adj" fmla="val 56306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2" name="Image 3" descr="preencoded.png">    </p:cNvPr>
          <p:cNvPicPr>
            <a:picLocks noChangeAspect="1"/>
          </p:cNvPicPr>
          <p:nvPr/>
        </p:nvPicPr>
        <p:blipFill>
          <a:blip r:embed="rId4"/>
          <a:srcRect l="-2512" r="-2512" t="0" b="0"/>
          <a:stretch/>
        </p:blipFill>
        <p:spPr>
          <a:xfrm>
            <a:off x="6657746" y="3895344"/>
            <a:ext cx="105156" cy="133502"/>
          </a:xfrm>
          <a:prstGeom prst="rect">
            <a:avLst/>
          </a:prstGeom>
        </p:spPr>
      </p:pic>
      <p:sp>
        <p:nvSpPr>
          <p:cNvPr id="63" name="Shape 57"/>
          <p:cNvSpPr/>
          <p:nvPr/>
        </p:nvSpPr>
        <p:spPr>
          <a:xfrm>
            <a:off x="6558077" y="4647895"/>
            <a:ext cx="18480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4" name="Text 58"/>
          <p:cNvSpPr txBox="1"/>
          <p:nvPr/>
        </p:nvSpPr>
        <p:spPr>
          <a:xfrm>
            <a:off x="7253935" y="3829507"/>
            <a:ext cx="1267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6558077" y="4190695"/>
            <a:ext cx="14575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"Calculate average multiple"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6558077" y="4753051"/>
            <a:ext cx="1924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Computing (14.5 + 12.2 + 15.8) / 3</a:t>
            </a:r>
            <a:endParaRPr lang="en-US" sz="1200" dirty="0"/>
          </a:p>
        </p:txBody>
      </p:sp>
      <p:sp>
        <p:nvSpPr>
          <p:cNvPr id="67" name="Shape 61"/>
          <p:cNvSpPr/>
          <p:nvPr/>
        </p:nvSpPr>
        <p:spPr>
          <a:xfrm>
            <a:off x="6348679" y="3600907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429146" y="3629254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Shape 63"/>
          <p:cNvSpPr/>
          <p:nvPr/>
        </p:nvSpPr>
        <p:spPr>
          <a:xfrm>
            <a:off x="9525305" y="4143146"/>
            <a:ext cx="2286000" cy="1429207"/>
          </a:xfrm>
          <a:prstGeom prst="roundRect">
            <a:avLst>
              <a:gd name="adj" fmla="val 4265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7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9734702" y="4343400"/>
            <a:ext cx="133502" cy="152705"/>
          </a:xfrm>
          <a:prstGeom prst="rect">
            <a:avLst/>
          </a:prstGeom>
        </p:spPr>
      </p:pic>
      <p:sp>
        <p:nvSpPr>
          <p:cNvPr id="71" name="Shape 64"/>
          <p:cNvSpPr/>
          <p:nvPr/>
        </p:nvSpPr>
        <p:spPr>
          <a:xfrm>
            <a:off x="9687154" y="4610405"/>
            <a:ext cx="1962302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2" name="Shape 65"/>
          <p:cNvSpPr/>
          <p:nvPr/>
        </p:nvSpPr>
        <p:spPr>
          <a:xfrm>
            <a:off x="9687154" y="4953305"/>
            <a:ext cx="1962302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3" name="Shape 66"/>
          <p:cNvSpPr/>
          <p:nvPr/>
        </p:nvSpPr>
        <p:spPr>
          <a:xfrm>
            <a:off x="9687154" y="5296205"/>
            <a:ext cx="1962302" cy="304495"/>
          </a:xfrm>
          <a:prstGeom prst="roundRect">
            <a:avLst>
              <a:gd name="adj" fmla="val 3753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4" name="Shape 67"/>
          <p:cNvSpPr/>
          <p:nvPr/>
        </p:nvSpPr>
        <p:spPr>
          <a:xfrm>
            <a:off x="9687154" y="5639105"/>
            <a:ext cx="19623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5" name="Text 68"/>
          <p:cNvSpPr txBox="1"/>
          <p:nvPr/>
        </p:nvSpPr>
        <p:spPr>
          <a:xfrm>
            <a:off x="9991649" y="4324198"/>
            <a:ext cx="1371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ANSWER</a:t>
            </a:r>
            <a:endParaRPr lang="en-US" sz="1200" dirty="0"/>
          </a:p>
        </p:txBody>
      </p:sp>
      <p:sp>
        <p:nvSpPr>
          <p:cNvPr id="76" name="Text 69"/>
          <p:cNvSpPr txBox="1"/>
          <p:nvPr/>
        </p:nvSpPr>
        <p:spPr>
          <a:xfrm>
            <a:off x="9724644" y="4667098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A:</a:t>
            </a:r>
            <a:endParaRPr lang="en-US" sz="1200" dirty="0"/>
          </a:p>
        </p:txBody>
      </p:sp>
      <p:sp>
        <p:nvSpPr>
          <p:cNvPr id="77" name="Text 70"/>
          <p:cNvSpPr txBox="1"/>
          <p:nvPr/>
        </p:nvSpPr>
        <p:spPr>
          <a:xfrm>
            <a:off x="11153851" y="4677156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14.5x</a:t>
            </a:r>
            <a:endParaRPr lang="en-US" sz="1200" dirty="0"/>
          </a:p>
        </p:txBody>
      </p:sp>
      <p:sp>
        <p:nvSpPr>
          <p:cNvPr id="78" name="Text 71"/>
          <p:cNvSpPr txBox="1"/>
          <p:nvPr/>
        </p:nvSpPr>
        <p:spPr>
          <a:xfrm>
            <a:off x="9724644" y="5009998"/>
            <a:ext cx="800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B:</a:t>
            </a:r>
            <a:endParaRPr lang="en-US" sz="1200" dirty="0"/>
          </a:p>
        </p:txBody>
      </p:sp>
      <p:sp>
        <p:nvSpPr>
          <p:cNvPr id="79" name="Text 72"/>
          <p:cNvSpPr txBox="1"/>
          <p:nvPr/>
        </p:nvSpPr>
        <p:spPr>
          <a:xfrm>
            <a:off x="11153851" y="5020056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12.2x</a:t>
            </a:r>
            <a:endParaRPr lang="en-US" sz="1200" dirty="0"/>
          </a:p>
        </p:txBody>
      </p:sp>
      <p:sp>
        <p:nvSpPr>
          <p:cNvPr id="80" name="Text 73"/>
          <p:cNvSpPr txBox="1"/>
          <p:nvPr/>
        </p:nvSpPr>
        <p:spPr>
          <a:xfrm>
            <a:off x="9724644" y="5352898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C:</a:t>
            </a:r>
            <a:endParaRPr lang="en-US" sz="1200" dirty="0"/>
          </a:p>
        </p:txBody>
      </p:sp>
      <p:sp>
        <p:nvSpPr>
          <p:cNvPr id="81" name="Text 74"/>
          <p:cNvSpPr txBox="1"/>
          <p:nvPr/>
        </p:nvSpPr>
        <p:spPr>
          <a:xfrm>
            <a:off x="11153851" y="5362956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15.8x</a:t>
            </a:r>
            <a:endParaRPr lang="en-US" sz="1200" dirty="0"/>
          </a:p>
        </p:txBody>
      </p:sp>
      <p:sp>
        <p:nvSpPr>
          <p:cNvPr id="82" name="Text 75"/>
          <p:cNvSpPr txBox="1"/>
          <p:nvPr/>
        </p:nvSpPr>
        <p:spPr>
          <a:xfrm>
            <a:off x="9726473" y="5743346"/>
            <a:ext cx="20007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EV/EBITDA</a:t>
            </a:r>
            <a:endParaRPr lang="en-US" sz="1200" dirty="0"/>
          </a:p>
        </p:txBody>
      </p:sp>
      <p:sp>
        <p:nvSpPr>
          <p:cNvPr id="83" name="Text 76"/>
          <p:cNvSpPr txBox="1"/>
          <p:nvPr/>
        </p:nvSpPr>
        <p:spPr>
          <a:xfrm>
            <a:off x="10412273" y="5991149"/>
            <a:ext cx="6858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A05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14.2x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1305" y="247802"/>
            <a:ext cx="3820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2: SUPPLY CHAIN CONTAGION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81305" y="476402"/>
            <a:ext cx="61868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Tracing Exposure Through the Value Chain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843870" y="495605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86109" y="685800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62910" y="1228954"/>
            <a:ext cx="9144" cy="5400446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479" b="-4479"/>
          <a:stretch/>
        </p:blipFill>
        <p:spPr>
          <a:xfrm>
            <a:off x="683971" y="2676449"/>
            <a:ext cx="609905" cy="59070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24482" y="2676449"/>
            <a:ext cx="590702" cy="590702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4030" y="3648456"/>
            <a:ext cx="590702" cy="590702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24482" y="3648456"/>
            <a:ext cx="590702" cy="59070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1305" y="4619549"/>
            <a:ext cx="255300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1"/>
          <p:cNvSpPr/>
          <p:nvPr/>
        </p:nvSpPr>
        <p:spPr>
          <a:xfrm>
            <a:off x="381305" y="5352898"/>
            <a:ext cx="2553005" cy="1143000"/>
          </a:xfrm>
          <a:prstGeom prst="roundRect">
            <a:avLst>
              <a:gd name="adj" fmla="val 5333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9919411" y="1228954"/>
            <a:ext cx="1895551" cy="323698"/>
          </a:xfrm>
          <a:prstGeom prst="roundRect">
            <a:avLst>
              <a:gd name="adj" fmla="val 282486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81305" y="1248156"/>
            <a:ext cx="12673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381305" y="1561795"/>
            <a:ext cx="2667305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Tracing downstream risk requires connecting entity relationships, geographic revenue data, and regulatory events.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83718" y="3323844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2006194" y="3323844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 Rev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31266" y="4295851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Regulations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848917" y="4295851"/>
            <a:ext cx="1057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Data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7337" y="4733849"/>
            <a:ext cx="152705" cy="15270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7532" y="4724705"/>
            <a:ext cx="19623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Multi-domain reasoning required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504749" y="5495544"/>
            <a:ext cx="1991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504749" y="5743346"/>
            <a:ext cx="235275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of Tesla's battery suppliers has the highest revenue exposure to China, and how has their stock performed since US export controls were announced?"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3547872" y="1295705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4-Hop Execution Path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10005365" y="1304849"/>
            <a:ext cx="190195" cy="15270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233965" y="1295705"/>
            <a:ext cx="16102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Chained Reasoning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3547872" y="2072030"/>
            <a:ext cx="2000707" cy="1762049"/>
          </a:xfrm>
          <a:prstGeom prst="roundRect">
            <a:avLst>
              <a:gd name="adj" fmla="val 22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652114" y="2176272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-837" r="-837" t="0" b="0"/>
          <a:stretch/>
        </p:blipFill>
        <p:spPr>
          <a:xfrm>
            <a:off x="3718865" y="2253082"/>
            <a:ext cx="152705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457700" y="2195474"/>
            <a:ext cx="1105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 MAP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3652114" y="2557577"/>
            <a:ext cx="18580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"Tesla's primary battery suppliers?"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3652114" y="3071470"/>
            <a:ext cx="1790395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3652114" y="3133649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3795674" y="3119018"/>
            <a:ext cx="12957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CATL, Panasonic, LG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3652114" y="3290926"/>
            <a:ext cx="1733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Supply Chain DB</a:t>
            </a:r>
            <a:endParaRPr lang="en-US" sz="1200" dirty="0"/>
          </a:p>
        </p:txBody>
      </p:sp>
      <p:sp>
        <p:nvSpPr>
          <p:cNvPr id="41" name="Shape 31"/>
          <p:cNvSpPr/>
          <p:nvPr/>
        </p:nvSpPr>
        <p:spPr>
          <a:xfrm>
            <a:off x="5624474" y="2943454"/>
            <a:ext cx="4114800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2" name="Shape 32"/>
          <p:cNvSpPr/>
          <p:nvPr/>
        </p:nvSpPr>
        <p:spPr>
          <a:xfrm>
            <a:off x="9810598" y="2186330"/>
            <a:ext cx="2000707" cy="1533449"/>
          </a:xfrm>
          <a:prstGeom prst="roundRect">
            <a:avLst>
              <a:gd name="adj" fmla="val 296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9915754" y="2290572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991649" y="2367382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863986" y="2309774"/>
            <a:ext cx="9628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9915754" y="2671877"/>
            <a:ext cx="1762963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"% Revenue from China for each?"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9915754" y="3185770"/>
            <a:ext cx="1790395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9915754" y="3247949"/>
            <a:ext cx="105156" cy="114300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058400" y="3233318"/>
            <a:ext cx="9811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 (Highest)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9915754" y="3405226"/>
            <a:ext cx="1905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Annual Reports</a:t>
            </a:r>
            <a:endParaRPr lang="en-US" sz="1200" dirty="0"/>
          </a:p>
        </p:txBody>
      </p:sp>
      <p:sp>
        <p:nvSpPr>
          <p:cNvPr id="51" name="Shape 39"/>
          <p:cNvSpPr/>
          <p:nvPr/>
        </p:nvSpPr>
        <p:spPr>
          <a:xfrm>
            <a:off x="9267444" y="2619756"/>
            <a:ext cx="19202" cy="4764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Shape 40"/>
          <p:cNvSpPr/>
          <p:nvPr/>
        </p:nvSpPr>
        <p:spPr>
          <a:xfrm>
            <a:off x="9001354" y="3095244"/>
            <a:ext cx="286207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3" name="Shape 41"/>
          <p:cNvSpPr/>
          <p:nvPr/>
        </p:nvSpPr>
        <p:spPr>
          <a:xfrm>
            <a:off x="3547872" y="4300423"/>
            <a:ext cx="2000707" cy="1762049"/>
          </a:xfrm>
          <a:prstGeom prst="roundRect">
            <a:avLst>
              <a:gd name="adj" fmla="val 22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4" name="Shape 42"/>
          <p:cNvSpPr/>
          <p:nvPr/>
        </p:nvSpPr>
        <p:spPr>
          <a:xfrm>
            <a:off x="3652114" y="4405579"/>
            <a:ext cx="286207" cy="286207"/>
          </a:xfrm>
          <a:prstGeom prst="roundRect">
            <a:avLst>
              <a:gd name="adj" fmla="val 63898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728923" y="4481474"/>
            <a:ext cx="133502" cy="133502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4140403" y="4424782"/>
            <a:ext cx="1420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EXTRACT</a:t>
            </a:r>
            <a:endParaRPr lang="en-US" sz="1200" dirty="0"/>
          </a:p>
        </p:txBody>
      </p:sp>
      <p:sp>
        <p:nvSpPr>
          <p:cNvPr id="57" name="Text 44"/>
          <p:cNvSpPr txBox="1"/>
          <p:nvPr/>
        </p:nvSpPr>
        <p:spPr>
          <a:xfrm>
            <a:off x="3652114" y="4785970"/>
            <a:ext cx="17529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"Date of latest US export controls?"</a:t>
            </a:r>
            <a:endParaRPr lang="en-US" sz="1200" dirty="0"/>
          </a:p>
        </p:txBody>
      </p:sp>
      <p:sp>
        <p:nvSpPr>
          <p:cNvPr id="58" name="Shape 45"/>
          <p:cNvSpPr/>
          <p:nvPr/>
        </p:nvSpPr>
        <p:spPr>
          <a:xfrm>
            <a:off x="3652114" y="5300777"/>
            <a:ext cx="1790395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3652114" y="5362956"/>
            <a:ext cx="105156" cy="114300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3795674" y="5348326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17, 2023</a:t>
            </a:r>
            <a:endParaRPr lang="en-US" sz="900" dirty="0"/>
          </a:p>
        </p:txBody>
      </p:sp>
      <p:sp>
        <p:nvSpPr>
          <p:cNvPr id="61" name="Text 47"/>
          <p:cNvSpPr txBox="1"/>
          <p:nvPr/>
        </p:nvSpPr>
        <p:spPr>
          <a:xfrm>
            <a:off x="3652114" y="5519318"/>
            <a:ext cx="15526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Regulatory News</a:t>
            </a:r>
            <a:endParaRPr lang="en-US" sz="1200" dirty="0"/>
          </a:p>
        </p:txBody>
      </p:sp>
      <p:sp>
        <p:nvSpPr>
          <p:cNvPr id="62" name="Shape 48"/>
          <p:cNvSpPr/>
          <p:nvPr/>
        </p:nvSpPr>
        <p:spPr>
          <a:xfrm>
            <a:off x="5776265" y="5171846"/>
            <a:ext cx="3866998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3" name="Shape 49"/>
          <p:cNvSpPr/>
          <p:nvPr/>
        </p:nvSpPr>
        <p:spPr>
          <a:xfrm>
            <a:off x="9715500" y="4138574"/>
            <a:ext cx="2095805" cy="2085746"/>
          </a:xfrm>
          <a:prstGeom prst="roundRect">
            <a:avLst>
              <a:gd name="adj" fmla="val 2002"/>
            </a:avLst>
          </a:prstGeom>
          <a:solidFill>
            <a:srgbClr val="C5A059">
              <a:alpha val="1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896551" y="4319626"/>
            <a:ext cx="114300" cy="114300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144354" y="4300423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4: MARKET DATA</a:t>
            </a:r>
            <a:endParaRPr lang="en-US" sz="900" dirty="0"/>
          </a:p>
        </p:txBody>
      </p:sp>
      <p:sp>
        <p:nvSpPr>
          <p:cNvPr id="66" name="Text 51"/>
          <p:cNvSpPr txBox="1"/>
          <p:nvPr/>
        </p:nvSpPr>
        <p:spPr>
          <a:xfrm>
            <a:off x="9838944" y="4586630"/>
            <a:ext cx="638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</a:t>
            </a:r>
            <a:endParaRPr lang="en-US" sz="1200" dirty="0"/>
          </a:p>
        </p:txBody>
      </p:sp>
      <p:sp>
        <p:nvSpPr>
          <p:cNvPr id="67" name="Text 52"/>
          <p:cNvSpPr txBox="1"/>
          <p:nvPr/>
        </p:nvSpPr>
        <p:spPr>
          <a:xfrm>
            <a:off x="11300155" y="4586630"/>
            <a:ext cx="505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CATL</a:t>
            </a:r>
            <a:endParaRPr lang="en-US" sz="1200" dirty="0"/>
          </a:p>
        </p:txBody>
      </p:sp>
      <p:sp>
        <p:nvSpPr>
          <p:cNvPr id="68" name="Text 53"/>
          <p:cNvSpPr txBox="1"/>
          <p:nvPr/>
        </p:nvSpPr>
        <p:spPr>
          <a:xfrm>
            <a:off x="9838944" y="4852721"/>
            <a:ext cx="924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Date:</a:t>
            </a:r>
            <a:endParaRPr lang="en-US" sz="1200" dirty="0"/>
          </a:p>
        </p:txBody>
      </p:sp>
      <p:sp>
        <p:nvSpPr>
          <p:cNvPr id="69" name="Text 54"/>
          <p:cNvSpPr txBox="1"/>
          <p:nvPr/>
        </p:nvSpPr>
        <p:spPr>
          <a:xfrm>
            <a:off x="10801807" y="4852721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Oct 17, 2023</a:t>
            </a:r>
            <a:endParaRPr lang="en-US" sz="1200" dirty="0"/>
          </a:p>
        </p:txBody>
      </p:sp>
      <p:sp>
        <p:nvSpPr>
          <p:cNvPr id="70" name="Shape 55"/>
          <p:cNvSpPr/>
          <p:nvPr/>
        </p:nvSpPr>
        <p:spPr>
          <a:xfrm>
            <a:off x="9838944" y="5100523"/>
            <a:ext cx="1848002" cy="9144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1" name="Text 56"/>
          <p:cNvSpPr txBox="1"/>
          <p:nvPr/>
        </p:nvSpPr>
        <p:spPr>
          <a:xfrm>
            <a:off x="10046513" y="5167274"/>
            <a:ext cx="15526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since Event</a:t>
            </a:r>
            <a:endParaRPr lang="en-US" sz="1200" dirty="0"/>
          </a:p>
        </p:txBody>
      </p:sp>
      <p:sp>
        <p:nvSpPr>
          <p:cNvPr id="72" name="Text 57"/>
          <p:cNvSpPr txBox="1"/>
          <p:nvPr/>
        </p:nvSpPr>
        <p:spPr>
          <a:xfrm>
            <a:off x="10442448" y="5662879"/>
            <a:ext cx="609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-14.2%</a:t>
            </a:r>
            <a:endParaRPr lang="en-US" sz="1200" dirty="0"/>
          </a:p>
        </p:txBody>
      </p:sp>
      <p:pic>
        <p:nvPicPr>
          <p:cNvPr id="7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100" b="-100"/>
          <a:stretch/>
        </p:blipFill>
        <p:spPr>
          <a:xfrm>
            <a:off x="10970057" y="5672023"/>
            <a:ext cx="114300" cy="152705"/>
          </a:xfrm>
          <a:prstGeom prst="rect">
            <a:avLst/>
          </a:prstGeom>
        </p:spPr>
      </p:pic>
      <p:sp>
        <p:nvSpPr>
          <p:cNvPr id="74" name="Text 58"/>
          <p:cNvSpPr txBox="1"/>
          <p:nvPr/>
        </p:nvSpPr>
        <p:spPr>
          <a:xfrm>
            <a:off x="9849917" y="5891479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Underperformed Sector</a:t>
            </a:r>
            <a:endParaRPr lang="en-US" sz="1200" dirty="0"/>
          </a:p>
        </p:txBody>
      </p:sp>
      <p:sp>
        <p:nvSpPr>
          <p:cNvPr id="75" name="Shape 59"/>
          <p:cNvSpPr/>
          <p:nvPr/>
        </p:nvSpPr>
        <p:spPr>
          <a:xfrm>
            <a:off x="3461918" y="1986077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6" name="Text 60"/>
          <p:cNvSpPr txBox="1"/>
          <p:nvPr/>
        </p:nvSpPr>
        <p:spPr>
          <a:xfrm>
            <a:off x="3553358" y="2014423"/>
            <a:ext cx="133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77" name="Shape 61"/>
          <p:cNvSpPr/>
          <p:nvPr/>
        </p:nvSpPr>
        <p:spPr>
          <a:xfrm>
            <a:off x="9724644" y="2100377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8" name="Text 62"/>
          <p:cNvSpPr txBox="1"/>
          <p:nvPr/>
        </p:nvSpPr>
        <p:spPr>
          <a:xfrm>
            <a:off x="9805111" y="2128723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79" name="Shape 63"/>
          <p:cNvSpPr/>
          <p:nvPr/>
        </p:nvSpPr>
        <p:spPr>
          <a:xfrm>
            <a:off x="3461918" y="4214470"/>
            <a:ext cx="228600" cy="22860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80" name="Text 64"/>
          <p:cNvSpPr txBox="1"/>
          <p:nvPr/>
        </p:nvSpPr>
        <p:spPr>
          <a:xfrm>
            <a:off x="3542386" y="4243730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8860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8769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1305" y="228600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81305" y="400507"/>
            <a:ext cx="39008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Portfolio Contagion Check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05134" y="457200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97082" y="609905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037844"/>
            <a:ext cx="9144" cy="5667451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3" name="Shape 11"/>
          <p:cNvSpPr/>
          <p:nvPr/>
        </p:nvSpPr>
        <p:spPr>
          <a:xfrm>
            <a:off x="381305" y="2905049"/>
            <a:ext cx="2648102" cy="1647749"/>
          </a:xfrm>
          <a:prstGeom prst="roundRect">
            <a:avLst>
              <a:gd name="adj" fmla="val 2566"/>
            </a:avLst>
          </a:prstGeom>
          <a:solidFill>
            <a:srgbClr val="111827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" y="2991002"/>
            <a:ext cx="2495398" cy="323698"/>
          </a:xfrm>
          <a:prstGeom prst="roundRect">
            <a:avLst>
              <a:gd name="adj" fmla="val 33234"/>
            </a:avLst>
          </a:prstGeom>
          <a:solidFill>
            <a:srgbClr val="1F2937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96212" y="3353105"/>
            <a:ext cx="9144" cy="75895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20394" y="3429000"/>
            <a:ext cx="761695" cy="914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Shape 15"/>
          <p:cNvSpPr/>
          <p:nvPr/>
        </p:nvSpPr>
        <p:spPr>
          <a:xfrm>
            <a:off x="1399032" y="3438144"/>
            <a:ext cx="9144" cy="57607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7689" y="3495751"/>
            <a:ext cx="476402" cy="514807"/>
          </a:xfrm>
          <a:prstGeom prst="roundRect">
            <a:avLst>
              <a:gd name="adj" fmla="val 15355"/>
            </a:avLst>
          </a:prstGeom>
          <a:solidFill>
            <a:srgbClr val="11182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32127" y="3438144"/>
            <a:ext cx="9144" cy="57607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" name="Shape 18"/>
          <p:cNvSpPr/>
          <p:nvPr/>
        </p:nvSpPr>
        <p:spPr>
          <a:xfrm>
            <a:off x="381305" y="5162702"/>
            <a:ext cx="2648102" cy="1276502"/>
          </a:xfrm>
          <a:prstGeom prst="roundRect">
            <a:avLst>
              <a:gd name="adj" fmla="val 4277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9313" y="1037844"/>
            <a:ext cx="2229307" cy="286207"/>
          </a:xfrm>
          <a:prstGeom prst="roundRect">
            <a:avLst>
              <a:gd name="adj" fmla="val 319489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1305" y="1047902"/>
            <a:ext cx="12435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Hidden Risk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1305" y="1333195"/>
            <a:ext cx="2563063" cy="1420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Bankruptcy contagion is often obscured by complex corporate structures. A subsidiary fails, but the exposure lies in the parent company's debt held by your funds.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1325" y="3057754"/>
            <a:ext cx="2438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Corp (Energy Group 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53642" y="3543300"/>
            <a:ext cx="4197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A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282" y="4619549"/>
            <a:ext cx="152705" cy="152705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14477" y="4610405"/>
            <a:ext cx="24862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doesn't know the Parent's name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66344" y="5266944"/>
            <a:ext cx="1991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" y="5514746"/>
            <a:ext cx="250545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"Identify all mutual funds in our portfolio holding bonds from the parent company of the utility that filed Chapter 11 in Texas last week."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3412541" y="1095451"/>
            <a:ext cx="2548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Traversing the Corporate Hierarchy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80" b="-180"/>
          <a:stretch/>
        </p:blipFill>
        <p:spPr>
          <a:xfrm>
            <a:off x="9675266" y="1095451"/>
            <a:ext cx="190195" cy="15270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9903866" y="1086307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3-Hop Contagion Check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1638605" y="3495751"/>
            <a:ext cx="599846" cy="972007"/>
          </a:xfrm>
          <a:prstGeom prst="roundRect">
            <a:avLst>
              <a:gd name="adj" fmla="val 9679"/>
            </a:avLst>
          </a:prstGeom>
          <a:solidFill>
            <a:srgbClr val="7F1D1D">
              <a:alpha val="96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724558" y="3543300"/>
            <a:ext cx="428854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>
                    <a:alpha val="96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B (Ch. 11)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3412541" y="2100377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517697" y="220461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93592" y="2281428"/>
            <a:ext cx="114300" cy="1143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4123944" y="2223821"/>
            <a:ext cx="12097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EVENT/NEWS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3517697" y="2529230"/>
            <a:ext cx="178125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"Which utility filed Ch.11 in Texas last week?"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3517697" y="3176626"/>
            <a:ext cx="1695298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3517697" y="3252521"/>
            <a:ext cx="133502" cy="152705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3688690" y="3243377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Utility Co. X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3517697" y="3471977"/>
            <a:ext cx="16102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News/Legal Filings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5394046" y="3047695"/>
            <a:ext cx="4438498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5" name="Shape 39"/>
          <p:cNvSpPr/>
          <p:nvPr/>
        </p:nvSpPr>
        <p:spPr>
          <a:xfrm>
            <a:off x="9905695" y="2100377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0010851" y="220461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10077602" y="2281428"/>
            <a:ext cx="133502" cy="1143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0744200" y="2223821"/>
            <a:ext cx="1086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HIERARCHY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10010851" y="2529230"/>
            <a:ext cx="157185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"Who is the parent company of Utility Co. X?"</a:t>
            </a:r>
            <a:endParaRPr lang="en-US" sz="1200" dirty="0"/>
          </a:p>
        </p:txBody>
      </p:sp>
      <p:sp>
        <p:nvSpPr>
          <p:cNvPr id="50" name="Shape 43"/>
          <p:cNvSpPr/>
          <p:nvPr/>
        </p:nvSpPr>
        <p:spPr>
          <a:xfrm>
            <a:off x="10010851" y="3176626"/>
            <a:ext cx="1695298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10010851" y="3252521"/>
            <a:ext cx="114300" cy="15270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163556" y="3243377"/>
            <a:ext cx="1362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Group Y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10010851" y="3471977"/>
            <a:ext cx="1810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Capital IQ / 10-K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6086246" y="3573475"/>
            <a:ext cx="19202" cy="2862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5" name="Shape 47"/>
          <p:cNvSpPr/>
          <p:nvPr/>
        </p:nvSpPr>
        <p:spPr>
          <a:xfrm>
            <a:off x="6096305" y="3858768"/>
            <a:ext cx="286207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6" name="Shape 48"/>
          <p:cNvSpPr/>
          <p:nvPr/>
        </p:nvSpPr>
        <p:spPr>
          <a:xfrm>
            <a:off x="3869741" y="4129430"/>
            <a:ext cx="1904695" cy="1914754"/>
          </a:xfrm>
          <a:prstGeom prst="roundRect">
            <a:avLst>
              <a:gd name="adj" fmla="val 192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3974897" y="4233672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050792" y="4310482"/>
            <a:ext cx="114300" cy="114300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4790542" y="4252874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HOLDINGS</a:t>
            </a:r>
            <a:endParaRPr lang="en-US" sz="1200" dirty="0"/>
          </a:p>
        </p:txBody>
      </p:sp>
      <p:sp>
        <p:nvSpPr>
          <p:cNvPr id="60" name="Text 51"/>
          <p:cNvSpPr txBox="1"/>
          <p:nvPr/>
        </p:nvSpPr>
        <p:spPr>
          <a:xfrm>
            <a:off x="3974897" y="4557370"/>
            <a:ext cx="15243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"List bonds issued by Energy Group Y."</a:t>
            </a:r>
            <a:endParaRPr lang="en-US" sz="1200" dirty="0"/>
          </a:p>
        </p:txBody>
      </p:sp>
      <p:sp>
        <p:nvSpPr>
          <p:cNvPr id="61" name="Shape 52"/>
          <p:cNvSpPr/>
          <p:nvPr/>
        </p:nvSpPr>
        <p:spPr>
          <a:xfrm>
            <a:off x="3974897" y="5205679"/>
            <a:ext cx="1695298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3974897" y="5281574"/>
            <a:ext cx="133502" cy="152705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4145890" y="5272430"/>
            <a:ext cx="1305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 3 Issues</a:t>
            </a:r>
            <a:endParaRPr lang="en-US" sz="1200" dirty="0"/>
          </a:p>
        </p:txBody>
      </p:sp>
      <p:sp>
        <p:nvSpPr>
          <p:cNvPr id="64" name="Text 54"/>
          <p:cNvSpPr txBox="1"/>
          <p:nvPr/>
        </p:nvSpPr>
        <p:spPr>
          <a:xfrm>
            <a:off x="3974897" y="5501030"/>
            <a:ext cx="131490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Internal Portfolio DB</a:t>
            </a:r>
            <a:endParaRPr lang="en-US" sz="1200" dirty="0"/>
          </a:p>
        </p:txBody>
      </p:sp>
      <p:sp>
        <p:nvSpPr>
          <p:cNvPr id="65" name="Shape 55"/>
          <p:cNvSpPr/>
          <p:nvPr/>
        </p:nvSpPr>
        <p:spPr>
          <a:xfrm>
            <a:off x="5851246" y="5076749"/>
            <a:ext cx="3791102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6" name="Shape 56"/>
          <p:cNvSpPr/>
          <p:nvPr/>
        </p:nvSpPr>
        <p:spPr>
          <a:xfrm>
            <a:off x="9715500" y="4153205"/>
            <a:ext cx="2095805" cy="1867205"/>
          </a:xfrm>
          <a:prstGeom prst="roundRect">
            <a:avLst>
              <a:gd name="adj" fmla="val 2499"/>
            </a:avLst>
          </a:prstGeom>
          <a:solidFill>
            <a:srgbClr val="DC2626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>
            <a:off x="9838944" y="4295851"/>
            <a:ext cx="190195" cy="190195"/>
          </a:xfrm>
          <a:prstGeom prst="roundRect">
            <a:avLst>
              <a:gd name="adj" fmla="val 48077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8" name="Image 8" descr="preencoded.png">    </p:cNvPr>
          <p:cNvPicPr>
            <a:picLocks noChangeAspect="1"/>
          </p:cNvPicPr>
          <p:nvPr/>
        </p:nvPicPr>
        <p:blipFill>
          <a:blip r:embed="rId9"/>
          <a:srcRect l="-299" r="-299" t="0" b="0"/>
          <a:stretch/>
        </p:blipFill>
        <p:spPr>
          <a:xfrm>
            <a:off x="9924898" y="4315054"/>
            <a:ext cx="19202" cy="152705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10105949" y="4295851"/>
            <a:ext cx="13908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DETECTED</a:t>
            </a:r>
            <a:endParaRPr lang="en-US" sz="1200" dirty="0"/>
          </a:p>
        </p:txBody>
      </p:sp>
      <p:sp>
        <p:nvSpPr>
          <p:cNvPr id="70" name="Shape 59"/>
          <p:cNvSpPr/>
          <p:nvPr/>
        </p:nvSpPr>
        <p:spPr>
          <a:xfrm>
            <a:off x="9838944" y="5020056"/>
            <a:ext cx="18480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1" name="Text 60"/>
          <p:cNvSpPr txBox="1"/>
          <p:nvPr/>
        </p:nvSpPr>
        <p:spPr>
          <a:xfrm>
            <a:off x="9838944" y="4562856"/>
            <a:ext cx="121981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Growth Fund:</a:t>
            </a:r>
            <a:endParaRPr lang="en-US" sz="1200" dirty="0"/>
          </a:p>
        </p:txBody>
      </p:sp>
      <p:sp>
        <p:nvSpPr>
          <p:cNvPr id="72" name="Text 61"/>
          <p:cNvSpPr txBox="1"/>
          <p:nvPr/>
        </p:nvSpPr>
        <p:spPr>
          <a:xfrm>
            <a:off x="11138306" y="4572000"/>
            <a:ext cx="667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$12.5M</a:t>
            </a:r>
            <a:endParaRPr lang="en-US" sz="1200" dirty="0"/>
          </a:p>
        </p:txBody>
      </p:sp>
      <p:sp>
        <p:nvSpPr>
          <p:cNvPr id="73" name="Shape 62"/>
          <p:cNvSpPr/>
          <p:nvPr/>
        </p:nvSpPr>
        <p:spPr>
          <a:xfrm>
            <a:off x="9838944" y="5544007"/>
            <a:ext cx="1848002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4" name="Text 63"/>
          <p:cNvSpPr txBox="1"/>
          <p:nvPr/>
        </p:nvSpPr>
        <p:spPr>
          <a:xfrm>
            <a:off x="9838944" y="5086807"/>
            <a:ext cx="11530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Income Opps:</a:t>
            </a:r>
            <a:endParaRPr lang="en-US" sz="1200" dirty="0"/>
          </a:p>
        </p:txBody>
      </p:sp>
      <p:sp>
        <p:nvSpPr>
          <p:cNvPr id="75" name="Text 64"/>
          <p:cNvSpPr txBox="1"/>
          <p:nvPr/>
        </p:nvSpPr>
        <p:spPr>
          <a:xfrm>
            <a:off x="11229746" y="5095951"/>
            <a:ext cx="5815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$4.0M</a:t>
            </a:r>
            <a:endParaRPr lang="en-US" sz="1200" dirty="0"/>
          </a:p>
        </p:txBody>
      </p:sp>
      <p:sp>
        <p:nvSpPr>
          <p:cNvPr id="76" name="Shape 65"/>
          <p:cNvSpPr/>
          <p:nvPr/>
        </p:nvSpPr>
        <p:spPr>
          <a:xfrm>
            <a:off x="9838944" y="5591556"/>
            <a:ext cx="1848002" cy="304495"/>
          </a:xfrm>
          <a:prstGeom prst="roundRect">
            <a:avLst>
              <a:gd name="adj" fmla="val 37538"/>
            </a:avLst>
          </a:prstGeom>
          <a:solidFill>
            <a:srgbClr val="7F1D1D">
              <a:alpha val="20000"/>
            </a:srgbClr>
          </a:solidFill>
          <a:ln/>
        </p:spPr>
      </p:sp>
      <p:sp>
        <p:nvSpPr>
          <p:cNvPr id="77" name="Text 66"/>
          <p:cNvSpPr txBox="1"/>
          <p:nvPr/>
        </p:nvSpPr>
        <p:spPr>
          <a:xfrm>
            <a:off x="9877349" y="5648249"/>
            <a:ext cx="1305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Exposure:</a:t>
            </a:r>
            <a:endParaRPr lang="en-US" sz="1200" dirty="0"/>
          </a:p>
        </p:txBody>
      </p:sp>
      <p:sp>
        <p:nvSpPr>
          <p:cNvPr id="78" name="Text 67"/>
          <p:cNvSpPr txBox="1"/>
          <p:nvPr/>
        </p:nvSpPr>
        <p:spPr>
          <a:xfrm>
            <a:off x="11119104" y="5648249"/>
            <a:ext cx="648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$16.5M</a:t>
            </a:r>
            <a:endParaRPr lang="en-US" sz="1200" dirty="0"/>
          </a:p>
        </p:txBody>
      </p:sp>
      <p:sp>
        <p:nvSpPr>
          <p:cNvPr id="79" name="Shape 68"/>
          <p:cNvSpPr/>
          <p:nvPr/>
        </p:nvSpPr>
        <p:spPr>
          <a:xfrm>
            <a:off x="3326587" y="2014423"/>
            <a:ext cx="190195" cy="1901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80" name="Text 69"/>
          <p:cNvSpPr txBox="1"/>
          <p:nvPr/>
        </p:nvSpPr>
        <p:spPr>
          <a:xfrm>
            <a:off x="3403397" y="2038198"/>
            <a:ext cx="114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81" name="Shape 70"/>
          <p:cNvSpPr/>
          <p:nvPr/>
        </p:nvSpPr>
        <p:spPr>
          <a:xfrm>
            <a:off x="9820656" y="2014423"/>
            <a:ext cx="190195" cy="1901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9887407" y="2038198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83" name="Shape 72"/>
          <p:cNvSpPr/>
          <p:nvPr/>
        </p:nvSpPr>
        <p:spPr>
          <a:xfrm>
            <a:off x="3783787" y="4043477"/>
            <a:ext cx="190195" cy="19019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84" name="Text 73"/>
          <p:cNvSpPr txBox="1"/>
          <p:nvPr/>
        </p:nvSpPr>
        <p:spPr>
          <a:xfrm>
            <a:off x="3850538" y="4067251"/>
            <a:ext cx="1335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62158" y="6286500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15700" y="6476695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81305"/>
            <a:ext cx="34107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CROSS-JURISDICTIONAL COMPARISON (2 HOPS)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"/>
            <a:ext cx="5667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Use Case 4: Regulatory Arbitrage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457200" y="1380744"/>
            <a:ext cx="11277295" cy="2495398"/>
          </a:xfrm>
          <a:prstGeom prst="roundRect">
            <a:avLst>
              <a:gd name="adj" fmla="val 1119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" y="1390802"/>
            <a:ext cx="11259007" cy="314554"/>
          </a:xfrm>
          <a:prstGeom prst="rect">
            <a:avLst/>
          </a:prstGeom>
          <a:solidFill>
            <a:srgbClr val="1F2937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" y="1696212"/>
            <a:ext cx="11259007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" y="2104949"/>
            <a:ext cx="2257654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Shape 14"/>
          <p:cNvSpPr/>
          <p:nvPr/>
        </p:nvSpPr>
        <p:spPr>
          <a:xfrm>
            <a:off x="2718511" y="1705356"/>
            <a:ext cx="4505249" cy="418795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1931" y="1705356"/>
            <a:ext cx="4505249" cy="418795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221931" y="2104949"/>
            <a:ext cx="4505249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" y="2553005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18511" y="2124151"/>
            <a:ext cx="4505249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1931" y="2124151"/>
            <a:ext cx="4505249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221931" y="2553005"/>
            <a:ext cx="4505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562149"/>
            <a:ext cx="11259007" cy="43799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" y="2991002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18511" y="2562149"/>
            <a:ext cx="4505249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1931" y="2562149"/>
            <a:ext cx="4505249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221931" y="2991002"/>
            <a:ext cx="4505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" y="3429000"/>
            <a:ext cx="22576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18511" y="3000146"/>
            <a:ext cx="4505249" cy="437998"/>
          </a:xfrm>
          <a:prstGeom prst="rect">
            <a:avLst/>
          </a:prstGeom>
          <a:noFill/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1931" y="3000146"/>
            <a:ext cx="4505249" cy="437998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21931" y="3429000"/>
            <a:ext cx="4505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" y="3438144"/>
            <a:ext cx="11259007" cy="42885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214616" y="3438144"/>
            <a:ext cx="9144" cy="42885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221931" y="3438144"/>
            <a:ext cx="4505249" cy="428854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4944" y="1466698"/>
            <a:ext cx="5962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QUERY: "DOES UK OR NETHERLANDS OFFER BETTER TAX TREATMENT FOR IP ROYALTIES?"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57454" y="1828800"/>
            <a:ext cx="7242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CRITERIA</a:t>
            </a:r>
            <a:endParaRPr lang="en-US" sz="9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-3882" r="-3882" t="0" b="0"/>
          <a:stretch/>
        </p:blipFill>
        <p:spPr>
          <a:xfrm>
            <a:off x="2908706" y="1826057"/>
            <a:ext cx="161849" cy="133502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3128162" y="1828800"/>
            <a:ext cx="1724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 PATENT BOX (HOP 1)</a:t>
            </a:r>
            <a:endParaRPr lang="en-US" sz="900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rcRect l="-3425" r="-3425" t="0" b="0"/>
          <a:stretch/>
        </p:blipFill>
        <p:spPr>
          <a:xfrm>
            <a:off x="7412126" y="1826057"/>
            <a:ext cx="142646" cy="133502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7612380" y="1828800"/>
            <a:ext cx="2915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NETHERLANDS INNOVATION BOX (HOP 2)</a:t>
            </a:r>
            <a:endParaRPr lang="en-US" sz="900" dirty="0"/>
          </a:p>
        </p:txBody>
      </p:sp>
      <p:sp>
        <p:nvSpPr>
          <p:cNvPr id="41" name="Text 37"/>
          <p:cNvSpPr txBox="1"/>
          <p:nvPr/>
        </p:nvSpPr>
        <p:spPr>
          <a:xfrm>
            <a:off x="657454" y="2247595"/>
            <a:ext cx="6912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Tax Rate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2908706" y="2247595"/>
            <a:ext cx="16431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10% Corporate Tax Rate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7412126" y="2247595"/>
            <a:ext cx="15105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9% Effective Tax Rate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57454" y="2686507"/>
            <a:ext cx="13002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Qualifying Assets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2908706" y="2686507"/>
            <a:ext cx="1986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Patents &amp; Exclusive Licenses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7412126" y="2686507"/>
            <a:ext cx="1681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Patents + R&amp;D Software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657454" y="3124505"/>
            <a:ext cx="1424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Entry Requirement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2908706" y="3124505"/>
            <a:ext cx="16907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condition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7412126" y="3124505"/>
            <a:ext cx="15956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WBSO R&amp;D Certificate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657454" y="3562502"/>
            <a:ext cx="7671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51" name="Text 47"/>
          <p:cNvSpPr txBox="1"/>
          <p:nvPr/>
        </p:nvSpPr>
        <p:spPr>
          <a:xfrm>
            <a:off x="2908706" y="3562502"/>
            <a:ext cx="19577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rate, narrower scope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7412126" y="3562502"/>
            <a:ext cx="2147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Advantageous for Software IP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57200" y="4105656"/>
            <a:ext cx="5486400" cy="2523744"/>
          </a:xfrm>
          <a:prstGeom prst="roundRect">
            <a:avLst>
              <a:gd name="adj" fmla="val 1094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457200" y="4105656"/>
            <a:ext cx="54864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1972361" y="4267505"/>
            <a:ext cx="25438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PATTERN: COMPARATIVE ANALYSIS</a:t>
            </a:r>
            <a:endParaRPr lang="en-US" sz="900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2221992" y="5458054"/>
            <a:ext cx="114300" cy="133502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2412187" y="5162702"/>
            <a:ext cx="1343254" cy="323698"/>
          </a:xfrm>
          <a:prstGeom prst="roundRect">
            <a:avLst>
              <a:gd name="adj" fmla="val 33234"/>
            </a:avLst>
          </a:prstGeom>
          <a:solidFill>
            <a:srgbClr val="1E3A8A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535631" y="5238598"/>
            <a:ext cx="152705" cy="152705"/>
          </a:xfrm>
          <a:prstGeom prst="rect">
            <a:avLst/>
          </a:prstGeom>
        </p:spPr>
      </p:pic>
      <p:sp>
        <p:nvSpPr>
          <p:cNvPr id="59" name="Text 53"/>
          <p:cNvSpPr txBox="1"/>
          <p:nvPr/>
        </p:nvSpPr>
        <p:spPr>
          <a:xfrm>
            <a:off x="2726741" y="5229454"/>
            <a:ext cx="1019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UK</a:t>
            </a:r>
            <a:endParaRPr lang="en-US" sz="1200" dirty="0"/>
          </a:p>
        </p:txBody>
      </p:sp>
      <p:sp>
        <p:nvSpPr>
          <p:cNvPr id="60" name="Shape 54"/>
          <p:cNvSpPr/>
          <p:nvPr/>
        </p:nvSpPr>
        <p:spPr>
          <a:xfrm>
            <a:off x="2412187" y="5562295"/>
            <a:ext cx="1343254" cy="323698"/>
          </a:xfrm>
          <a:prstGeom prst="roundRect">
            <a:avLst>
              <a:gd name="adj" fmla="val 3323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535631" y="5639105"/>
            <a:ext cx="152705" cy="152705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2726741" y="5629046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NL</a:t>
            </a:r>
            <a:endParaRPr lang="en-US" sz="120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3823106" y="5458054"/>
            <a:ext cx="114300" cy="133502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6248095" y="4105656"/>
            <a:ext cx="5495544" cy="2523744"/>
          </a:xfrm>
          <a:prstGeom prst="roundRect">
            <a:avLst>
              <a:gd name="adj" fmla="val 1094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7866583" y="4267505"/>
            <a:ext cx="2343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ALTERNATIVE: BASEL III IMPACT</a:t>
            </a:r>
            <a:endParaRPr lang="en-US" sz="900" dirty="0"/>
          </a:p>
        </p:txBody>
      </p:sp>
      <p:sp>
        <p:nvSpPr>
          <p:cNvPr id="66" name="Text 58"/>
          <p:cNvSpPr txBox="1"/>
          <p:nvPr/>
        </p:nvSpPr>
        <p:spPr>
          <a:xfrm>
            <a:off x="7434986" y="4595774"/>
            <a:ext cx="32004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Basel III output floor impact BNP or JPM more?"</a:t>
            </a:r>
            <a:endParaRPr lang="en-US" sz="900" dirty="0"/>
          </a:p>
        </p:txBody>
      </p:sp>
      <p:sp>
        <p:nvSpPr>
          <p:cNvPr id="67" name="Shape 59"/>
          <p:cNvSpPr/>
          <p:nvPr/>
        </p:nvSpPr>
        <p:spPr>
          <a:xfrm>
            <a:off x="6653174" y="4900270"/>
            <a:ext cx="1723644" cy="1162202"/>
          </a:xfrm>
          <a:prstGeom prst="roundRect">
            <a:avLst>
              <a:gd name="adj" fmla="val 2580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7037222" y="5005426"/>
            <a:ext cx="1077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BNP Paribas</a:t>
            </a:r>
            <a:endParaRPr lang="en-US" sz="1200" dirty="0"/>
          </a:p>
        </p:txBody>
      </p:sp>
      <p:sp>
        <p:nvSpPr>
          <p:cNvPr id="69" name="Shape 61"/>
          <p:cNvSpPr/>
          <p:nvPr/>
        </p:nvSpPr>
        <p:spPr>
          <a:xfrm>
            <a:off x="6739128" y="5253228"/>
            <a:ext cx="1552651" cy="4572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70" name="Shape 62"/>
          <p:cNvSpPr/>
          <p:nvPr/>
        </p:nvSpPr>
        <p:spPr>
          <a:xfrm>
            <a:off x="6739128" y="5550408"/>
            <a:ext cx="1552651" cy="16184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1" name="Text 63"/>
          <p:cNvSpPr txBox="1"/>
          <p:nvPr/>
        </p:nvSpPr>
        <p:spPr>
          <a:xfrm>
            <a:off x="7358177" y="5367528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35%</a:t>
            </a:r>
            <a:endParaRPr lang="en-US" sz="1200" dirty="0"/>
          </a:p>
        </p:txBody>
      </p:sp>
      <p:sp>
        <p:nvSpPr>
          <p:cNvPr id="72" name="Text 64"/>
          <p:cNvSpPr txBox="1"/>
          <p:nvPr/>
        </p:nvSpPr>
        <p:spPr>
          <a:xfrm>
            <a:off x="7015277" y="5767121"/>
            <a:ext cx="1114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RWA Density</a:t>
            </a:r>
            <a:endParaRPr lang="en-US" sz="1200" dirty="0"/>
          </a:p>
        </p:txBody>
      </p:sp>
      <p:sp>
        <p:nvSpPr>
          <p:cNvPr id="73" name="Text 65"/>
          <p:cNvSpPr txBox="1"/>
          <p:nvPr/>
        </p:nvSpPr>
        <p:spPr>
          <a:xfrm>
            <a:off x="8860536" y="5367528"/>
            <a:ext cx="409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500" dirty="0"/>
          </a:p>
        </p:txBody>
      </p:sp>
      <p:sp>
        <p:nvSpPr>
          <p:cNvPr id="74" name="Shape 66"/>
          <p:cNvSpPr/>
          <p:nvPr/>
        </p:nvSpPr>
        <p:spPr>
          <a:xfrm>
            <a:off x="9608515" y="4900270"/>
            <a:ext cx="1723644" cy="1162202"/>
          </a:xfrm>
          <a:prstGeom prst="roundRect">
            <a:avLst>
              <a:gd name="adj" fmla="val 2580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10077602" y="5005426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JPMorgan</a:t>
            </a:r>
            <a:endParaRPr lang="en-US" sz="1200" dirty="0"/>
          </a:p>
        </p:txBody>
      </p:sp>
      <p:sp>
        <p:nvSpPr>
          <p:cNvPr id="76" name="Shape 68"/>
          <p:cNvSpPr/>
          <p:nvPr/>
        </p:nvSpPr>
        <p:spPr>
          <a:xfrm>
            <a:off x="9694469" y="5253228"/>
            <a:ext cx="1552651" cy="4572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77" name="Shape 69"/>
          <p:cNvSpPr/>
          <p:nvPr/>
        </p:nvSpPr>
        <p:spPr>
          <a:xfrm>
            <a:off x="9694469" y="5436108"/>
            <a:ext cx="1552651" cy="276149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8" name="Text 70"/>
          <p:cNvSpPr txBox="1"/>
          <p:nvPr/>
        </p:nvSpPr>
        <p:spPr>
          <a:xfrm>
            <a:off x="10301630" y="53675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60%</a:t>
            </a:r>
            <a:endParaRPr lang="en-US" sz="1200" dirty="0"/>
          </a:p>
        </p:txBody>
      </p:sp>
      <p:sp>
        <p:nvSpPr>
          <p:cNvPr id="79" name="Text 71"/>
          <p:cNvSpPr txBox="1"/>
          <p:nvPr/>
        </p:nvSpPr>
        <p:spPr>
          <a:xfrm>
            <a:off x="9970618" y="5767121"/>
            <a:ext cx="1114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RWA Density</a:t>
            </a:r>
            <a:endParaRPr lang="en-US" sz="1200" dirty="0"/>
          </a:p>
        </p:txBody>
      </p:sp>
      <p:pic>
        <p:nvPicPr>
          <p:cNvPr id="8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7286854" y="6243523"/>
            <a:ext cx="114300" cy="152705"/>
          </a:xfrm>
          <a:prstGeom prst="rect">
            <a:avLst/>
          </a:prstGeom>
        </p:spPr>
      </p:pic>
      <p:sp>
        <p:nvSpPr>
          <p:cNvPr id="81" name="Text 72"/>
          <p:cNvSpPr txBox="1"/>
          <p:nvPr/>
        </p:nvSpPr>
        <p:spPr>
          <a:xfrm>
            <a:off x="7401154" y="6234379"/>
            <a:ext cx="3410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density banks (BNP) hit harder by floor</a:t>
            </a:r>
            <a:endParaRPr lang="en-US" sz="1200" dirty="0"/>
          </a:p>
        </p:txBody>
      </p:sp>
      <p:sp>
        <p:nvSpPr>
          <p:cNvPr id="82" name="Shape 73"/>
          <p:cNvSpPr/>
          <p:nvPr/>
        </p:nvSpPr>
        <p:spPr>
          <a:xfrm>
            <a:off x="1722730" y="5181905"/>
            <a:ext cx="381305" cy="381305"/>
          </a:xfrm>
          <a:prstGeom prst="ellipse">
            <a:avLst/>
          </a:prstGeom>
          <a:solidFill>
            <a:srgbClr val="374151"/>
          </a:solidFill>
          <a:ln/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1855318" y="5296205"/>
            <a:ext cx="114300" cy="152705"/>
          </a:xfrm>
          <a:prstGeom prst="rect">
            <a:avLst/>
          </a:prstGeom>
        </p:spPr>
      </p:pic>
      <p:sp>
        <p:nvSpPr>
          <p:cNvPr id="84" name="Text 74"/>
          <p:cNvSpPr txBox="1"/>
          <p:nvPr/>
        </p:nvSpPr>
        <p:spPr>
          <a:xfrm>
            <a:off x="1680667" y="5658307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1200" dirty="0"/>
          </a:p>
        </p:txBody>
      </p:sp>
      <p:sp>
        <p:nvSpPr>
          <p:cNvPr id="85" name="Shape 75"/>
          <p:cNvSpPr/>
          <p:nvPr/>
        </p:nvSpPr>
        <p:spPr>
          <a:xfrm>
            <a:off x="4176065" y="5181905"/>
            <a:ext cx="381305" cy="381305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8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80" b="-180"/>
          <a:stretch/>
        </p:blipFill>
        <p:spPr>
          <a:xfrm>
            <a:off x="4272077" y="5296205"/>
            <a:ext cx="190195" cy="152705"/>
          </a:xfrm>
          <a:prstGeom prst="rect">
            <a:avLst/>
          </a:prstGeom>
        </p:spPr>
      </p:pic>
      <p:sp>
        <p:nvSpPr>
          <p:cNvPr id="87" name="Text 76"/>
          <p:cNvSpPr txBox="1"/>
          <p:nvPr/>
        </p:nvSpPr>
        <p:spPr>
          <a:xfrm>
            <a:off x="4014216" y="5658307"/>
            <a:ext cx="829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1246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862158" y="6286500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317529" y="6476695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81305"/>
            <a:ext cx="8860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5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71500"/>
            <a:ext cx="4601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Executive Red Flag Search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3267151" y="1533449"/>
            <a:ext cx="9144" cy="5048402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5149" r="-5149" t="0" b="0"/>
          <a:stretch/>
        </p:blipFill>
        <p:spPr>
          <a:xfrm>
            <a:off x="286207" y="2848356"/>
            <a:ext cx="809244" cy="838505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48156" y="3152851"/>
            <a:ext cx="838505" cy="838505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542" b="-8542"/>
          <a:stretch/>
        </p:blipFill>
        <p:spPr>
          <a:xfrm>
            <a:off x="2238451" y="2848356"/>
            <a:ext cx="895198" cy="83850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4677156"/>
            <a:ext cx="2505456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5296205"/>
            <a:ext cx="2505456" cy="1285646"/>
          </a:xfrm>
          <a:prstGeom prst="roundRect">
            <a:avLst>
              <a:gd name="adj" fmla="val 4215"/>
            </a:avLst>
          </a:prstGeom>
          <a:solidFill>
            <a:srgbClr val="1E40AF">
              <a:alpha val="3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799625" y="1543507"/>
            <a:ext cx="1943100" cy="247802"/>
          </a:xfrm>
          <a:prstGeom prst="roundRect">
            <a:avLst>
              <a:gd name="adj" fmla="val 369004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1561795"/>
            <a:ext cx="14246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1895551"/>
            <a:ext cx="2514600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background checks often miss indirect connections between new appointees and past companies with legal trouble.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286207" y="3781044"/>
            <a:ext cx="58155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Board Bios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248156" y="4086454"/>
            <a:ext cx="6574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 History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2337206" y="3781044"/>
            <a:ext cx="8193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DB</a:t>
            </a:r>
            <a:endParaRPr lang="en-US" sz="12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6209" y="4791456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7318" y="4781398"/>
            <a:ext cx="18388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the "Risk Link"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19049" y="5458054"/>
            <a:ext cx="14959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USER QUERY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19049" y="5686654"/>
            <a:ext cx="2233879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"Do any board members appointed to Citi in the last 12 months have past directorships at companies currently under SEC investigation?"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3657600" y="1561795"/>
            <a:ext cx="23390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Multi-Hop Workflow</a:t>
            </a:r>
            <a:endParaRPr lang="en-US" sz="13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23983" y="1604772"/>
            <a:ext cx="114300" cy="1143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114178" y="1591056"/>
            <a:ext cx="1591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Due Diligence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657600" y="244784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819449" y="2609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3900830" y="2714854"/>
            <a:ext cx="219456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5121554" y="2628900"/>
            <a:ext cx="781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PEOPLE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3819449" y="3105302"/>
            <a:ext cx="20391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"Appointed to board in last 12 mos?"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3819449" y="3524098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3819449" y="3653028"/>
            <a:ext cx="105156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4000500" y="3619195"/>
            <a:ext cx="1624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Anderson, B. Baker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3819449" y="3819449"/>
            <a:ext cx="2076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Investor Relations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6038698" y="3310128"/>
            <a:ext cx="3314700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1" name="Shape 32"/>
          <p:cNvSpPr/>
          <p:nvPr/>
        </p:nvSpPr>
        <p:spPr>
          <a:xfrm>
            <a:off x="9448495" y="2447849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9610344" y="2609698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-1773" r="-1773" t="0" b="0"/>
          <a:stretch/>
        </p:blipFill>
        <p:spPr>
          <a:xfrm>
            <a:off x="9734702" y="2714854"/>
            <a:ext cx="133502" cy="17190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864901" y="2628900"/>
            <a:ext cx="8293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9610344" y="3105302"/>
            <a:ext cx="19815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"Past directorships for A &amp; B?"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9610344" y="3524098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610344" y="3653028"/>
            <a:ext cx="105156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9791395" y="3619195"/>
            <a:ext cx="16340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 Corp, Zeta Ltd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9610344" y="3819449"/>
            <a:ext cx="1914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Capital IQ / Bios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6001207" y="4276649"/>
            <a:ext cx="19202" cy="571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1" name="Shape 40"/>
          <p:cNvSpPr/>
          <p:nvPr/>
        </p:nvSpPr>
        <p:spPr>
          <a:xfrm>
            <a:off x="6001207" y="4848149"/>
            <a:ext cx="381305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2" name="Shape 41"/>
          <p:cNvSpPr/>
          <p:nvPr/>
        </p:nvSpPr>
        <p:spPr>
          <a:xfrm>
            <a:off x="4572000" y="4419295"/>
            <a:ext cx="2286000" cy="1742846"/>
          </a:xfrm>
          <a:prstGeom prst="roundRect">
            <a:avLst>
              <a:gd name="adj" fmla="val 229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4733849" y="458114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B1E3D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839005" y="4686300"/>
            <a:ext cx="171907" cy="171907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5555894" y="4600346"/>
            <a:ext cx="12573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LEGAL CHECK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4733849" y="5076749"/>
            <a:ext cx="20098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Sub-Q: "Are Omega or Zeta under SEC probe?"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4733849" y="5495544"/>
            <a:ext cx="1962302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733849" y="5624474"/>
            <a:ext cx="114300" cy="114300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4924044" y="5591556"/>
            <a:ext cx="1424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Omega: YES (2024)</a:t>
            </a:r>
            <a:endParaRPr lang="en-US" sz="1000" dirty="0"/>
          </a:p>
        </p:txBody>
      </p:sp>
      <p:sp>
        <p:nvSpPr>
          <p:cNvPr id="60" name="Text 47"/>
          <p:cNvSpPr txBox="1"/>
          <p:nvPr/>
        </p:nvSpPr>
        <p:spPr>
          <a:xfrm>
            <a:off x="4733849" y="5790895"/>
            <a:ext cx="1629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SEC EDGAR</a:t>
            </a:r>
            <a:endParaRPr lang="en-US" sz="1200" dirty="0"/>
          </a:p>
        </p:txBody>
      </p:sp>
      <p:sp>
        <p:nvSpPr>
          <p:cNvPr id="61" name="Shape 48"/>
          <p:cNvSpPr/>
          <p:nvPr/>
        </p:nvSpPr>
        <p:spPr>
          <a:xfrm>
            <a:off x="6953098" y="5281574"/>
            <a:ext cx="2210105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2" name="Shape 49"/>
          <p:cNvSpPr/>
          <p:nvPr/>
        </p:nvSpPr>
        <p:spPr>
          <a:xfrm>
            <a:off x="9258300" y="4419295"/>
            <a:ext cx="2476195" cy="1742846"/>
          </a:xfrm>
          <a:prstGeom prst="roundRect">
            <a:avLst>
              <a:gd name="adj" fmla="val 3440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3" name="Shape 50"/>
          <p:cNvSpPr/>
          <p:nvPr/>
        </p:nvSpPr>
        <p:spPr>
          <a:xfrm>
            <a:off x="9458554" y="46195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C2626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-43" b="-43"/>
          <a:stretch/>
        </p:blipFill>
        <p:spPr>
          <a:xfrm>
            <a:off x="9544507" y="4695444"/>
            <a:ext cx="133502" cy="152705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9877349" y="4686300"/>
            <a:ext cx="833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FLAG</a:t>
            </a:r>
            <a:endParaRPr lang="en-US" sz="1000" dirty="0"/>
          </a:p>
        </p:txBody>
      </p:sp>
      <p:sp>
        <p:nvSpPr>
          <p:cNvPr id="66" name="Text 52"/>
          <p:cNvSpPr txBox="1"/>
          <p:nvPr/>
        </p:nvSpPr>
        <p:spPr>
          <a:xfrm>
            <a:off x="9458554" y="5038344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Person:</a:t>
            </a:r>
            <a:endParaRPr lang="en-US" sz="900" dirty="0"/>
          </a:p>
        </p:txBody>
      </p:sp>
      <p:sp>
        <p:nvSpPr>
          <p:cNvPr id="67" name="Text 53"/>
          <p:cNvSpPr txBox="1"/>
          <p:nvPr/>
        </p:nvSpPr>
        <p:spPr>
          <a:xfrm>
            <a:off x="10838383" y="5038344"/>
            <a:ext cx="7909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A. Anderson</a:t>
            </a:r>
            <a:endParaRPr lang="en-US" sz="900" dirty="0"/>
          </a:p>
        </p:txBody>
      </p:sp>
      <p:sp>
        <p:nvSpPr>
          <p:cNvPr id="68" name="Text 54"/>
          <p:cNvSpPr txBox="1"/>
          <p:nvPr/>
        </p:nvSpPr>
        <p:spPr>
          <a:xfrm>
            <a:off x="9458554" y="5266944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Entity:</a:t>
            </a:r>
            <a:endParaRPr lang="en-US" sz="900" dirty="0"/>
          </a:p>
        </p:txBody>
      </p:sp>
      <p:sp>
        <p:nvSpPr>
          <p:cNvPr id="69" name="Text 55"/>
          <p:cNvSpPr txBox="1"/>
          <p:nvPr/>
        </p:nvSpPr>
        <p:spPr>
          <a:xfrm>
            <a:off x="10799978" y="5266944"/>
            <a:ext cx="8293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Omega Corp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9458554" y="5495544"/>
            <a:ext cx="409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Issue:</a:t>
            </a:r>
            <a:endParaRPr lang="en-US" sz="900" dirty="0"/>
          </a:p>
        </p:txBody>
      </p:sp>
      <p:sp>
        <p:nvSpPr>
          <p:cNvPr id="71" name="Text 57"/>
          <p:cNvSpPr txBox="1"/>
          <p:nvPr/>
        </p:nvSpPr>
        <p:spPr>
          <a:xfrm>
            <a:off x="10517429" y="5495544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Acct. Fraud Probe</a:t>
            </a:r>
            <a:endParaRPr lang="en-US" sz="900" dirty="0"/>
          </a:p>
        </p:txBody>
      </p:sp>
      <p:sp>
        <p:nvSpPr>
          <p:cNvPr id="72" name="Shape 58"/>
          <p:cNvSpPr/>
          <p:nvPr/>
        </p:nvSpPr>
        <p:spPr>
          <a:xfrm>
            <a:off x="9458554" y="5724144"/>
            <a:ext cx="2076602" cy="9144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73" name="Text 59"/>
          <p:cNvSpPr txBox="1"/>
          <p:nvPr/>
        </p:nvSpPr>
        <p:spPr>
          <a:xfrm>
            <a:off x="9622231" y="5810098"/>
            <a:ext cx="1838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RECOMMENDATION: REVIEW</a:t>
            </a:r>
            <a:endParaRPr lang="en-US" sz="900" dirty="0"/>
          </a:p>
        </p:txBody>
      </p:sp>
      <p:sp>
        <p:nvSpPr>
          <p:cNvPr id="74" name="Shape 60"/>
          <p:cNvSpPr/>
          <p:nvPr/>
        </p:nvSpPr>
        <p:spPr>
          <a:xfrm>
            <a:off x="3552444" y="2343607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5" name="Text 61"/>
          <p:cNvSpPr txBox="1"/>
          <p:nvPr/>
        </p:nvSpPr>
        <p:spPr>
          <a:xfrm>
            <a:off x="3660343" y="2376526"/>
            <a:ext cx="1572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76" name="Shape 62"/>
          <p:cNvSpPr/>
          <p:nvPr/>
        </p:nvSpPr>
        <p:spPr>
          <a:xfrm>
            <a:off x="9344254" y="2343607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7" name="Text 63"/>
          <p:cNvSpPr txBox="1"/>
          <p:nvPr/>
        </p:nvSpPr>
        <p:spPr>
          <a:xfrm>
            <a:off x="9437522" y="2376526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Shape 64"/>
          <p:cNvSpPr/>
          <p:nvPr/>
        </p:nvSpPr>
        <p:spPr>
          <a:xfrm>
            <a:off x="4466844" y="4315054"/>
            <a:ext cx="267005" cy="267005"/>
          </a:xfrm>
          <a:prstGeom prst="ellipse">
            <a:avLst/>
          </a:prstGeom>
          <a:solidFill>
            <a:srgbClr val="3B82F6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9" name="Text 65"/>
          <p:cNvSpPr txBox="1"/>
          <p:nvPr/>
        </p:nvSpPr>
        <p:spPr>
          <a:xfrm>
            <a:off x="4561027" y="4347972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29718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 6 - TEMPORAL CHECK (2 HOPS)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7039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 Reconstruction for Compliance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862158" y="609905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41634" y="809244"/>
            <a:ext cx="5961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18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1533449"/>
            <a:ext cx="9144" cy="5105095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09344"/>
            <a:ext cx="6553505" cy="828446"/>
          </a:xfrm>
          <a:prstGeom prst="roundRect">
            <a:avLst>
              <a:gd name="adj" fmla="val 10149"/>
            </a:avLst>
          </a:prstGeom>
          <a:solidFill>
            <a:srgbClr val="1E40A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09344"/>
            <a:ext cx="38405" cy="82844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64562"/>
            <a:ext cx="6553505" cy="666598"/>
          </a:xfrm>
          <a:prstGeom prst="roundRect">
            <a:avLst>
              <a:gd name="adj" fmla="val 1175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" y="278800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998" y="2826410"/>
            <a:ext cx="133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445459"/>
            <a:ext cx="6553505" cy="666598"/>
          </a:xfrm>
          <a:prstGeom prst="roundRect">
            <a:avLst>
              <a:gd name="adj" fmla="val 1175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" y="356981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1111" y="3607308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514746"/>
            <a:ext cx="6553505" cy="1047902"/>
          </a:xfrm>
          <a:prstGeom prst="roundRect">
            <a:avLst>
              <a:gd name="adj" fmla="val 6346"/>
            </a:avLst>
          </a:prstGeom>
          <a:solidFill>
            <a:srgbClr val="7F1D1D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5676595"/>
            <a:ext cx="152705" cy="152705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47395" y="1781251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QUERY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7395" y="2076602"/>
            <a:ext cx="5615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the CEO's stock sales occur before or after the announcement of the DOJ investigation?"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" y="2788006"/>
            <a:ext cx="1286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1: Event Anchor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" y="2998318"/>
            <a:ext cx="4010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date of "DOJ investigation announcement"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" y="3569818"/>
            <a:ext cx="16102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2: Transaction Check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23544" y="3779215"/>
            <a:ext cx="4077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dates of "CEO stock sales" from SEC Form 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47649" y="5676595"/>
            <a:ext cx="11338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19049" y="5934456"/>
            <a:ext cx="62490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Precise sequencing identifies potential insider trading flags critical for regulatory reporting and litigation defense.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627925" y="1533449"/>
            <a:ext cx="4114800" cy="5105095"/>
          </a:xfrm>
          <a:prstGeom prst="roundRect">
            <a:avLst>
              <a:gd name="adj" fmla="val 617"/>
            </a:avLst>
          </a:prstGeom>
          <a:solidFill>
            <a:srgbClr val="111827">
              <a:alpha val="3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66583" y="1772107"/>
            <a:ext cx="13057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RECONSTRUCTED SEQUENCE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828886" y="1772107"/>
            <a:ext cx="1676095" cy="476402"/>
          </a:xfrm>
          <a:prstGeom prst="roundRect">
            <a:avLst>
              <a:gd name="adj" fmla="val 15355"/>
            </a:avLst>
          </a:prstGeom>
          <a:solidFill>
            <a:srgbClr val="EF4444">
              <a:alpha val="97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rcRect l="-2571" r="-2571" t="0" b="0"/>
          <a:stretch/>
        </p:blipFill>
        <p:spPr>
          <a:xfrm>
            <a:off x="9952330" y="1871777"/>
            <a:ext cx="105156" cy="114300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9952330" y="1857146"/>
            <a:ext cx="8769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>
                    <a:alpha val="97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FLAG DETECTED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138160" y="4105656"/>
            <a:ext cx="3086100" cy="38405"/>
          </a:xfrm>
          <a:prstGeom prst="roundRect">
            <a:avLst>
              <a:gd name="adj" fmla="val 119047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138160" y="3866998"/>
            <a:ext cx="667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Nov 01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10675620" y="3866998"/>
            <a:ext cx="667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Nov 30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7866583" y="5848502"/>
            <a:ext cx="3638398" cy="552298"/>
          </a:xfrm>
          <a:prstGeom prst="roundRect">
            <a:avLst>
              <a:gd name="adj" fmla="val 165563"/>
            </a:avLst>
          </a:prstGeom>
          <a:solidFill>
            <a:srgbClr val="1E3A8A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8104327" y="5971946"/>
            <a:ext cx="6766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ANALYSIS RESULT:</a:t>
            </a:r>
            <a:endParaRPr lang="en-US" sz="900" dirty="0"/>
          </a:p>
        </p:txBody>
      </p:sp>
      <p:sp>
        <p:nvSpPr>
          <p:cNvPr id="40" name="Text 36"/>
          <p:cNvSpPr txBox="1"/>
          <p:nvPr/>
        </p:nvSpPr>
        <p:spPr>
          <a:xfrm>
            <a:off x="8965692" y="5943600"/>
            <a:ext cx="13862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preceded announcement by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0244023" y="6133795"/>
            <a:ext cx="7196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hours</a:t>
            </a:r>
            <a:endParaRPr lang="en-US" sz="1000" dirty="0"/>
          </a:p>
        </p:txBody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106302" y="6048756"/>
            <a:ext cx="152705" cy="152705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8955634" y="3724351"/>
            <a:ext cx="914400" cy="761695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9000439" y="3988613"/>
            <a:ext cx="819302" cy="237744"/>
          </a:xfrm>
          <a:prstGeom prst="roundRect">
            <a:avLst>
              <a:gd name="adj" fmla="val 184615"/>
            </a:avLst>
          </a:prstGeom>
          <a:solidFill>
            <a:srgbClr val="EF4444"/>
          </a:solidFill>
          <a:ln/>
          <a:effectLst>
            <a:outerShdw sx="100000" sy="100000" kx="0" ky="0" algn="bl" rotWithShape="0" blurRad="38100" dist="25400" dir="5400000">
              <a:srgbClr val="000000">
                <a:alpha val="30000"/>
              </a:srgbClr>
            </a:outerShdw>
          </a:effectLst>
        </p:spPr>
      </p:sp>
      <p:sp>
        <p:nvSpPr>
          <p:cNvPr id="45" name="Text 40"/>
          <p:cNvSpPr txBox="1"/>
          <p:nvPr/>
        </p:nvSpPr>
        <p:spPr>
          <a:xfrm>
            <a:off x="9095537" y="4036162"/>
            <a:ext cx="707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Day Delta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9040673" y="3819449"/>
            <a:ext cx="19202" cy="38130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47" name="Shape 42"/>
          <p:cNvSpPr/>
          <p:nvPr/>
        </p:nvSpPr>
        <p:spPr>
          <a:xfrm>
            <a:off x="8955634" y="4009644"/>
            <a:ext cx="190195" cy="190195"/>
          </a:xfrm>
          <a:prstGeom prst="ellipse">
            <a:avLst/>
          </a:prstGeom>
          <a:solidFill>
            <a:srgbClr val="0B1E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002829" y="2253082"/>
            <a:ext cx="1904695" cy="1571854"/>
          </a:xfrm>
          <a:prstGeom prst="roundRect">
            <a:avLst>
              <a:gd name="adj" fmla="val 2821"/>
            </a:avLst>
          </a:prstGeom>
          <a:solidFill>
            <a:srgbClr val="0B1E3D">
              <a:alpha val="9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60000"/>
              </a:srgbClr>
            </a:outerShdw>
          </a:effectLst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9650578" y="2376526"/>
            <a:ext cx="133502" cy="114300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8126273" y="3381451"/>
            <a:ext cx="1657807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8126273" y="3504895"/>
            <a:ext cx="114300" cy="152705"/>
          </a:xfrm>
          <a:prstGeom prst="rect">
            <a:avLst/>
          </a:prstGeom>
        </p:spPr>
      </p:pic>
      <p:sp>
        <p:nvSpPr>
          <p:cNvPr id="52" name="Text 45"/>
          <p:cNvSpPr txBox="1"/>
          <p:nvPr/>
        </p:nvSpPr>
        <p:spPr>
          <a:xfrm>
            <a:off x="8278978" y="3467405"/>
            <a:ext cx="1010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 Form 4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8126273" y="2395728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10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8126273" y="2671877"/>
            <a:ext cx="11676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CEO Stock Sale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8126273" y="2895905"/>
            <a:ext cx="15051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Sold 50k shares @ $142</a:t>
            </a:r>
            <a:endParaRPr lang="en-US" sz="1200" dirty="0"/>
          </a:p>
        </p:txBody>
      </p:sp>
      <p:sp>
        <p:nvSpPr>
          <p:cNvPr id="56" name="Shape 49"/>
          <p:cNvSpPr/>
          <p:nvPr/>
        </p:nvSpPr>
        <p:spPr>
          <a:xfrm>
            <a:off x="9948672" y="4009644"/>
            <a:ext cx="19202" cy="38130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7" name="Shape 50"/>
          <p:cNvSpPr/>
          <p:nvPr/>
        </p:nvSpPr>
        <p:spPr>
          <a:xfrm>
            <a:off x="9862718" y="4009644"/>
            <a:ext cx="190195" cy="190195"/>
          </a:xfrm>
          <a:prstGeom prst="ellipse">
            <a:avLst/>
          </a:prstGeom>
          <a:solidFill>
            <a:srgbClr val="0B1E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8910828" y="4390949"/>
            <a:ext cx="1904695" cy="1571854"/>
          </a:xfrm>
          <a:prstGeom prst="roundRect">
            <a:avLst>
              <a:gd name="adj" fmla="val 2821"/>
            </a:avLst>
          </a:prstGeom>
          <a:solidFill>
            <a:srgbClr val="0B1E3D">
              <a:alpha val="95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60000"/>
              </a:srgbClr>
            </a:outerShdw>
          </a:effectLst>
        </p:spPr>
      </p:sp>
      <p:pic>
        <p:nvPicPr>
          <p:cNvPr id="5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77779" y="4515307"/>
            <a:ext cx="114300" cy="114300"/>
          </a:xfrm>
          <a:prstGeom prst="rect">
            <a:avLst/>
          </a:prstGeom>
        </p:spPr>
      </p:pic>
      <p:sp>
        <p:nvSpPr>
          <p:cNvPr id="60" name="Shape 52"/>
          <p:cNvSpPr/>
          <p:nvPr/>
        </p:nvSpPr>
        <p:spPr>
          <a:xfrm>
            <a:off x="9034272" y="5519318"/>
            <a:ext cx="1657807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34272" y="5643677"/>
            <a:ext cx="152705" cy="152705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9224467" y="560527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 Newswire</a:t>
            </a:r>
            <a:endParaRPr lang="en-US" sz="1200" dirty="0"/>
          </a:p>
        </p:txBody>
      </p:sp>
      <p:sp>
        <p:nvSpPr>
          <p:cNvPr id="63" name="Text 54"/>
          <p:cNvSpPr txBox="1"/>
          <p:nvPr/>
        </p:nvSpPr>
        <p:spPr>
          <a:xfrm>
            <a:off x="9034272" y="4533595"/>
            <a:ext cx="6766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 12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034272" y="4809744"/>
            <a:ext cx="15005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Investigation Public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9034272" y="5033772"/>
            <a:ext cx="148590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DOJ announces accounting probe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762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67105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23698"/>
            <a:ext cx="2267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REASONING TYPOLOGY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52298"/>
            <a:ext cx="41577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Patterns of Multi-Hop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22078" y="533095"/>
            <a:ext cx="1629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315700" y="761695"/>
            <a:ext cx="5148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8251" y="1514246"/>
            <a:ext cx="457200" cy="457200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39700" dist="12700" dir="16200000">
              <a:srgbClr val="3b82f6">
                <a:alpha val="20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7979" y="1647749"/>
            <a:ext cx="237744" cy="19019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23998" y="1514246"/>
            <a:ext cx="1162202" cy="228600"/>
          </a:xfrm>
          <a:prstGeom prst="roundRect">
            <a:avLst>
              <a:gd name="adj" fmla="val 66667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90749" y="151424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8251" y="2190902"/>
            <a:ext cx="13002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Causal Chain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8251" y="2467051"/>
            <a:ext cx="2362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SUPPLY CHAIN CONTAGION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38251" y="2829154"/>
            <a:ext cx="3247949" cy="743407"/>
          </a:xfrm>
          <a:prstGeom prst="roundRect">
            <a:avLst>
              <a:gd name="adj" fmla="val 1261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38251" y="2829154"/>
            <a:ext cx="19202" cy="7434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52551" y="2943454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52551" y="3181198"/>
            <a:ext cx="2905963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Apple supplier is most vulnerable to the Taiwan drought?"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28446" y="4774082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9846" y="4996282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33602" y="4860036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Entity List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933602" y="5015484"/>
            <a:ext cx="16605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list of Apple suppliers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28446" y="5331866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9846" y="5554066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33602" y="5417820"/>
            <a:ext cx="14694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Location Mapping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933602" y="5573268"/>
            <a:ext cx="16504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factory locations for each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828446" y="5890565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9846" y="6111850"/>
            <a:ext cx="57607" cy="57607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33602" y="5975604"/>
            <a:ext cx="12408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Event Overlay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933602" y="6131052"/>
            <a:ext cx="19559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Cross-reference with drought zones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292194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C5A05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73245" y="1514246"/>
            <a:ext cx="457200" cy="457200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139700" dist="12700" dir="16200000">
              <a:srgbClr val="c5a059">
                <a:alpha val="20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82973" y="1647749"/>
            <a:ext cx="237744" cy="190195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529730" y="1514246"/>
            <a:ext cx="1190549" cy="228600"/>
          </a:xfrm>
          <a:prstGeom prst="roundRect">
            <a:avLst>
              <a:gd name="adj" fmla="val 66667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6596482" y="1514246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02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4473245" y="2190902"/>
            <a:ext cx="1271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Comparative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4473245" y="2467051"/>
            <a:ext cx="2200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REGULATORY ARBITRAGE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4473245" y="2829154"/>
            <a:ext cx="3247949" cy="599846"/>
          </a:xfrm>
          <a:prstGeom prst="roundRect">
            <a:avLst>
              <a:gd name="adj" fmla="val 193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473245" y="2829154"/>
            <a:ext cx="19202" cy="59984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4587545" y="2943454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4587545" y="3181198"/>
            <a:ext cx="30861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"Does the UK or Netherlands offer better IP tax treatment?"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4664354" y="4774082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435754" y="4996282"/>
            <a:ext cx="57607" cy="57607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47" name="Text 43"/>
          <p:cNvSpPr txBox="1"/>
          <p:nvPr/>
        </p:nvSpPr>
        <p:spPr>
          <a:xfrm>
            <a:off x="4768596" y="4860036"/>
            <a:ext cx="10314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Retrieve A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4768596" y="5015484"/>
            <a:ext cx="18416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UK Patent Box regime details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4664354" y="5331866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4435754" y="5554066"/>
            <a:ext cx="57607" cy="57607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4768596" y="5417820"/>
            <a:ext cx="10506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Retrieve B</a:t>
            </a:r>
            <a:endParaRPr lang="en-US" sz="800" dirty="0"/>
          </a:p>
        </p:txBody>
      </p:sp>
      <p:sp>
        <p:nvSpPr>
          <p:cNvPr id="52" name="Text 48"/>
          <p:cNvSpPr txBox="1"/>
          <p:nvPr/>
        </p:nvSpPr>
        <p:spPr>
          <a:xfrm>
            <a:off x="4768596" y="5573268"/>
            <a:ext cx="16312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NL Innovation Box details</a:t>
            </a:r>
            <a:endParaRPr lang="en-US" sz="800" dirty="0"/>
          </a:p>
        </p:txBody>
      </p:sp>
      <p:sp>
        <p:nvSpPr>
          <p:cNvPr id="53" name="Shape 49"/>
          <p:cNvSpPr/>
          <p:nvPr/>
        </p:nvSpPr>
        <p:spPr>
          <a:xfrm>
            <a:off x="4664354" y="5890565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435754" y="6111850"/>
            <a:ext cx="57607" cy="57607"/>
          </a:xfrm>
          <a:prstGeom prst="ellipse">
            <a:avLst/>
          </a:prstGeom>
          <a:solidFill>
            <a:srgbClr val="C5A059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4768596" y="5975604"/>
            <a:ext cx="10122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Synthesis</a:t>
            </a:r>
            <a:endParaRPr lang="en-US" sz="800" dirty="0"/>
          </a:p>
        </p:txBody>
      </p:sp>
      <p:sp>
        <p:nvSpPr>
          <p:cNvPr id="56" name="Text 52"/>
          <p:cNvSpPr txBox="1"/>
          <p:nvPr/>
        </p:nvSpPr>
        <p:spPr>
          <a:xfrm>
            <a:off x="4768596" y="6131052"/>
            <a:ext cx="18891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qualifying criteria &amp; rates</a:t>
            </a:r>
            <a:endParaRPr lang="en-US" sz="800" dirty="0"/>
          </a:p>
        </p:txBody>
      </p:sp>
      <p:sp>
        <p:nvSpPr>
          <p:cNvPr id="57" name="Shape 53"/>
          <p:cNvSpPr/>
          <p:nvPr/>
        </p:nvSpPr>
        <p:spPr>
          <a:xfrm>
            <a:off x="8128102" y="1304849"/>
            <a:ext cx="3610051" cy="5324551"/>
          </a:xfrm>
          <a:prstGeom prst="roundRect">
            <a:avLst>
              <a:gd name="adj" fmla="val 802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10B981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309153" y="1514246"/>
            <a:ext cx="457200" cy="457200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39700" dist="12700" dir="16200000">
              <a:srgbClr val="10b981">
                <a:alpha val="20000"/>
              </a:srgbClr>
            </a:outerShdw>
          </a:effectLst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42655" y="1647749"/>
            <a:ext cx="190195" cy="190195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10365638" y="1514246"/>
            <a:ext cx="1190549" cy="228600"/>
          </a:xfrm>
          <a:prstGeom prst="roundRect">
            <a:avLst>
              <a:gd name="adj" fmla="val 66667"/>
            </a:avLst>
          </a:prstGeom>
          <a:solidFill>
            <a:srgbClr val="064E3B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10432390" y="1514246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03</a:t>
            </a:r>
            <a:endParaRPr lang="en-US" sz="1200" dirty="0"/>
          </a:p>
        </p:txBody>
      </p:sp>
      <p:sp>
        <p:nvSpPr>
          <p:cNvPr id="62" name="Text 57"/>
          <p:cNvSpPr txBox="1"/>
          <p:nvPr/>
        </p:nvSpPr>
        <p:spPr>
          <a:xfrm>
            <a:off x="8309153" y="2190902"/>
            <a:ext cx="151973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Check</a:t>
            </a:r>
            <a:endParaRPr lang="en-US" sz="1300" dirty="0"/>
          </a:p>
        </p:txBody>
      </p:sp>
      <p:sp>
        <p:nvSpPr>
          <p:cNvPr id="63" name="Text 58"/>
          <p:cNvSpPr txBox="1"/>
          <p:nvPr/>
        </p:nvSpPr>
        <p:spPr>
          <a:xfrm>
            <a:off x="8309153" y="2467051"/>
            <a:ext cx="1981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SEQUENCE</a:t>
            </a:r>
            <a:endParaRPr lang="en-US" sz="1200" dirty="0"/>
          </a:p>
        </p:txBody>
      </p:sp>
      <p:sp>
        <p:nvSpPr>
          <p:cNvPr id="64" name="Shape 59"/>
          <p:cNvSpPr/>
          <p:nvPr/>
        </p:nvSpPr>
        <p:spPr>
          <a:xfrm>
            <a:off x="8309153" y="2829154"/>
            <a:ext cx="3247949" cy="599846"/>
          </a:xfrm>
          <a:prstGeom prst="roundRect">
            <a:avLst>
              <a:gd name="adj" fmla="val 1935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5" name="Shape 60"/>
          <p:cNvSpPr/>
          <p:nvPr/>
        </p:nvSpPr>
        <p:spPr>
          <a:xfrm>
            <a:off x="8309153" y="2829154"/>
            <a:ext cx="19202" cy="59984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6" name="Text 61"/>
          <p:cNvSpPr txBox="1"/>
          <p:nvPr/>
        </p:nvSpPr>
        <p:spPr>
          <a:xfrm>
            <a:off x="8423453" y="2943454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67" name="Text 62"/>
          <p:cNvSpPr txBox="1"/>
          <p:nvPr/>
        </p:nvSpPr>
        <p:spPr>
          <a:xfrm>
            <a:off x="8423453" y="3181198"/>
            <a:ext cx="3048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CEO sales precede the investigation announcement?"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8499348" y="4774082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8270748" y="4996282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0" name="Text 65"/>
          <p:cNvSpPr txBox="1"/>
          <p:nvPr/>
        </p:nvSpPr>
        <p:spPr>
          <a:xfrm>
            <a:off x="8604504" y="4860036"/>
            <a:ext cx="12033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Anchor Event</a:t>
            </a:r>
            <a:endParaRPr lang="en-US" sz="800" dirty="0"/>
          </a:p>
        </p:txBody>
      </p:sp>
      <p:sp>
        <p:nvSpPr>
          <p:cNvPr id="71" name="Text 66"/>
          <p:cNvSpPr txBox="1"/>
          <p:nvPr/>
        </p:nvSpPr>
        <p:spPr>
          <a:xfrm>
            <a:off x="8604504" y="5015484"/>
            <a:ext cx="17273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date of investigation news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8499348" y="5331866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8270748" y="5554066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8604504" y="5417820"/>
            <a:ext cx="11841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Target Event</a:t>
            </a:r>
            <a:endParaRPr lang="en-US" sz="800" dirty="0"/>
          </a:p>
        </p:txBody>
      </p:sp>
      <p:sp>
        <p:nvSpPr>
          <p:cNvPr id="75" name="Text 70"/>
          <p:cNvSpPr txBox="1"/>
          <p:nvPr/>
        </p:nvSpPr>
        <p:spPr>
          <a:xfrm>
            <a:off x="8604504" y="5573268"/>
            <a:ext cx="17364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dates of stock transactions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8499348" y="5890565"/>
            <a:ext cx="3057754" cy="466344"/>
          </a:xfrm>
          <a:prstGeom prst="roundRect">
            <a:avLst>
              <a:gd name="adj" fmla="val 2401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8270748" y="6111850"/>
            <a:ext cx="57607" cy="57607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8" name="Text 73"/>
          <p:cNvSpPr txBox="1"/>
          <p:nvPr/>
        </p:nvSpPr>
        <p:spPr>
          <a:xfrm>
            <a:off x="8604504" y="5975604"/>
            <a:ext cx="11365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Sequencing</a:t>
            </a:r>
            <a:endParaRPr lang="en-US" sz="800" dirty="0"/>
          </a:p>
        </p:txBody>
      </p:sp>
      <p:sp>
        <p:nvSpPr>
          <p:cNvPr id="79" name="Text 74"/>
          <p:cNvSpPr txBox="1"/>
          <p:nvPr/>
        </p:nvSpPr>
        <p:spPr>
          <a:xfrm>
            <a:off x="8604504" y="6131052"/>
            <a:ext cx="22027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timestamps (Delta calculation)</a:t>
            </a:r>
            <a:endParaRPr lang="en-US" sz="800" dirty="0"/>
          </a:p>
        </p:txBody>
      </p:sp>
      <p:pic>
        <p:nvPicPr>
          <p:cNvPr id="80" name="Image 3" descr="preencoded.png">    </p:cNvPr>
          <p:cNvPicPr>
            <a:picLocks noChangeAspect="1"/>
          </p:cNvPicPr>
          <p:nvPr/>
        </p:nvPicPr>
        <p:blipFill>
          <a:blip r:embed="rId4"/>
          <a:srcRect l="-603" r="-603" t="0" b="0"/>
          <a:stretch/>
        </p:blipFill>
        <p:spPr>
          <a:xfrm>
            <a:off x="409651" y="5136185"/>
            <a:ext cx="57607" cy="75895"/>
          </a:xfrm>
          <a:prstGeom prst="rect">
            <a:avLst/>
          </a:prstGeom>
        </p:spPr>
      </p:pic>
      <p:pic>
        <p:nvPicPr>
          <p:cNvPr id="81" name="Image 4" descr="preencoded.png">    </p:cNvPr>
          <p:cNvPicPr>
            <a:picLocks noChangeAspect="1"/>
          </p:cNvPicPr>
          <p:nvPr/>
        </p:nvPicPr>
        <p:blipFill>
          <a:blip r:embed="rId5"/>
          <a:srcRect l="-603" r="-603" t="0" b="0"/>
          <a:stretch/>
        </p:blipFill>
        <p:spPr>
          <a:xfrm>
            <a:off x="409651" y="5707685"/>
            <a:ext cx="57607" cy="75895"/>
          </a:xfrm>
          <a:prstGeom prst="rect">
            <a:avLst/>
          </a:prstGeom>
        </p:spPr>
      </p:pic>
      <p:pic>
        <p:nvPicPr>
          <p:cNvPr id="82" name="Image 5" descr="preencoded.png">    </p:cNvPr>
          <p:cNvPicPr>
            <a:picLocks noChangeAspect="1"/>
          </p:cNvPicPr>
          <p:nvPr/>
        </p:nvPicPr>
        <p:blipFill>
          <a:blip r:embed="rId6"/>
          <a:srcRect l="-603" r="-603" t="0" b="0"/>
          <a:stretch/>
        </p:blipFill>
        <p:spPr>
          <a:xfrm>
            <a:off x="4244645" y="5136185"/>
            <a:ext cx="57607" cy="75895"/>
          </a:xfrm>
          <a:prstGeom prst="rect">
            <a:avLst/>
          </a:prstGeom>
        </p:spPr>
      </p:pic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rcRect l="-603" r="-603" t="0" b="0"/>
          <a:stretch/>
        </p:blipFill>
        <p:spPr>
          <a:xfrm>
            <a:off x="4244645" y="5707685"/>
            <a:ext cx="57607" cy="75895"/>
          </a:xfrm>
          <a:prstGeom prst="rect">
            <a:avLst/>
          </a:prstGeom>
        </p:spPr>
      </p:pic>
      <p:pic>
        <p:nvPicPr>
          <p:cNvPr id="84" name="Image 7" descr="preencoded.png">    </p:cNvPr>
          <p:cNvPicPr>
            <a:picLocks noChangeAspect="1"/>
          </p:cNvPicPr>
          <p:nvPr/>
        </p:nvPicPr>
        <p:blipFill>
          <a:blip r:embed="rId8"/>
          <a:srcRect l="-603" r="-603" t="0" b="0"/>
          <a:stretch/>
        </p:blipFill>
        <p:spPr>
          <a:xfrm>
            <a:off x="8080553" y="5136185"/>
            <a:ext cx="57607" cy="75895"/>
          </a:xfrm>
          <a:prstGeom prst="rect">
            <a:avLst/>
          </a:prstGeom>
        </p:spPr>
      </p:pic>
      <p:pic>
        <p:nvPicPr>
          <p:cNvPr id="85" name="Image 8" descr="preencoded.png">    </p:cNvPr>
          <p:cNvPicPr>
            <a:picLocks noChangeAspect="1"/>
          </p:cNvPicPr>
          <p:nvPr/>
        </p:nvPicPr>
        <p:blipFill>
          <a:blip r:embed="rId9"/>
          <a:srcRect l="-603" r="-603" t="0" b="0"/>
          <a:stretch/>
        </p:blipFill>
        <p:spPr>
          <a:xfrm>
            <a:off x="8080553" y="5707685"/>
            <a:ext cx="57607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1146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055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4495" y="247802"/>
            <a:ext cx="2315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REASONING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4495" y="476402"/>
            <a:ext cx="42583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Patterns of Multi-Hop Queries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04495" y="819302"/>
            <a:ext cx="4743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Recognizing Query Types That Require Multi-Hop Reasoning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80522" y="685800"/>
            <a:ext cx="14292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289182" y="857707"/>
            <a:ext cx="715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28954"/>
            <a:ext cx="3838651" cy="5514746"/>
          </a:xfrm>
          <a:prstGeom prst="roundRect">
            <a:avLst>
              <a:gd name="adj" fmla="val 709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" y="1362456"/>
            <a:ext cx="304495" cy="304495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12700" dir="16200000">
              <a:srgbClr val="3b82f6">
                <a:alpha val="2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2512" r="-2512" t="0" b="0"/>
          <a:stretch/>
        </p:blipFill>
        <p:spPr>
          <a:xfrm>
            <a:off x="452628" y="1447495"/>
            <a:ext cx="105156" cy="13350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819095" y="1362456"/>
            <a:ext cx="1123798" cy="286207"/>
          </a:xfrm>
          <a:prstGeom prst="roundRect">
            <a:avLst>
              <a:gd name="adj" fmla="val 42599"/>
            </a:avLst>
          </a:prstGeom>
          <a:solidFill>
            <a:srgbClr val="1E3A8A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67558" y="1410005"/>
            <a:ext cx="11430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" y="1772107"/>
            <a:ext cx="12335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Query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" y="1990649"/>
            <a:ext cx="2267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COMPARISON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2044" y="2276856"/>
            <a:ext cx="3590849" cy="933602"/>
          </a:xfrm>
          <a:prstGeom prst="roundRect">
            <a:avLst>
              <a:gd name="adj" fmla="val 5997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352044" y="2276856"/>
            <a:ext cx="19202" cy="933602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48056" y="2352751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48056" y="2572207"/>
            <a:ext cx="34290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"Which report discusses the supply chain risk of Apple, the 2019 annual report or the 2020 annual report?"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52044" y="3439058"/>
            <a:ext cx="5431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1305" y="3314700"/>
            <a:ext cx="2478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890626" y="3439058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8972" y="3314700"/>
            <a:ext cx="61996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684678" y="3439058"/>
            <a:ext cx="12573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713025" y="3314700"/>
            <a:ext cx="3529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52044" y="3672230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1305" y="3467405"/>
            <a:ext cx="2862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90626" y="3672230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18972" y="3467405"/>
            <a:ext cx="1743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Apple's 2019 10-K discuss supply chain risk?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684678" y="3672230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713025" y="3467405"/>
            <a:ext cx="771754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Apple 10-K FY2019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52044" y="3906317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81305" y="3701491"/>
            <a:ext cx="3054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90626" y="3906317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18972" y="3701491"/>
            <a:ext cx="1762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Does Apple's 2020 10-K discuss supply chain risk?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2684678" y="3906317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713025" y="3701491"/>
            <a:ext cx="790956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Apple 10-K FY2020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98678" y="4187038"/>
            <a:ext cx="3590849" cy="743407"/>
          </a:xfrm>
          <a:prstGeom prst="roundRect">
            <a:avLst>
              <a:gd name="adj" fmla="val 946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56286" y="4263847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456286" y="4492447"/>
            <a:ext cx="35625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findings → Determine which report contains the discussion</a:t>
            </a:r>
            <a:endParaRPr lang="en-US" sz="1200" dirty="0"/>
          </a:p>
        </p:txBody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rcRect l="-1773" r="-1773" t="0" b="0"/>
          <a:stretch/>
        </p:blipFill>
        <p:spPr>
          <a:xfrm>
            <a:off x="2158898" y="4091940"/>
            <a:ext cx="66751" cy="85954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4177894" y="1228954"/>
            <a:ext cx="3838651" cy="5514746"/>
          </a:xfrm>
          <a:prstGeom prst="roundRect">
            <a:avLst>
              <a:gd name="adj" fmla="val 709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F59E0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302252" y="1362456"/>
            <a:ext cx="304495" cy="304495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12700" dir="16200000">
              <a:srgbClr val="f59e0b">
                <a:alpha val="20000"/>
              </a:srgbClr>
            </a:outerShdw>
          </a:effectLst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8206" y="1447495"/>
            <a:ext cx="133502" cy="133502"/>
          </a:xfrm>
          <a:prstGeom prst="rect">
            <a:avLst/>
          </a:prstGeom>
        </p:spPr>
      </p:pic>
      <p:sp>
        <p:nvSpPr>
          <p:cNvPr id="48" name="Shape 43"/>
          <p:cNvSpPr/>
          <p:nvPr/>
        </p:nvSpPr>
        <p:spPr>
          <a:xfrm>
            <a:off x="6739128" y="1362456"/>
            <a:ext cx="1152144" cy="286207"/>
          </a:xfrm>
          <a:prstGeom prst="roundRect">
            <a:avLst>
              <a:gd name="adj" fmla="val 42599"/>
            </a:avLst>
          </a:prstGeom>
          <a:solidFill>
            <a:srgbClr val="78350F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6786677" y="1410005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02</a:t>
            </a:r>
            <a:endParaRPr lang="en-US" sz="1200" dirty="0"/>
          </a:p>
        </p:txBody>
      </p:sp>
      <p:sp>
        <p:nvSpPr>
          <p:cNvPr id="50" name="Text 45"/>
          <p:cNvSpPr txBox="1"/>
          <p:nvPr/>
        </p:nvSpPr>
        <p:spPr>
          <a:xfrm>
            <a:off x="4302252" y="1772107"/>
            <a:ext cx="14145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Query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4302252" y="1990649"/>
            <a:ext cx="20674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CROSS-ENTITY METRICS</a:t>
            </a:r>
            <a:endParaRPr lang="en-US" sz="1200" dirty="0"/>
          </a:p>
        </p:txBody>
      </p:sp>
      <p:sp>
        <p:nvSpPr>
          <p:cNvPr id="52" name="Shape 47"/>
          <p:cNvSpPr/>
          <p:nvPr/>
        </p:nvSpPr>
        <p:spPr>
          <a:xfrm>
            <a:off x="4302252" y="2276856"/>
            <a:ext cx="3590849" cy="743407"/>
          </a:xfrm>
          <a:prstGeom prst="roundRect">
            <a:avLst>
              <a:gd name="adj" fmla="val 946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3" name="Shape 48"/>
          <p:cNvSpPr/>
          <p:nvPr/>
        </p:nvSpPr>
        <p:spPr>
          <a:xfrm>
            <a:off x="4302252" y="2276856"/>
            <a:ext cx="19202" cy="7434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4397350" y="2352751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55" name="Text 50"/>
          <p:cNvSpPr txBox="1"/>
          <p:nvPr/>
        </p:nvSpPr>
        <p:spPr>
          <a:xfrm>
            <a:off x="4397350" y="2572207"/>
            <a:ext cx="336316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Netflix or Google report higher revenue for the year 2023?"</a:t>
            </a:r>
            <a:endParaRPr lang="en-US" sz="1200" dirty="0"/>
          </a:p>
        </p:txBody>
      </p:sp>
      <p:sp>
        <p:nvSpPr>
          <p:cNvPr id="56" name="Shape 51"/>
          <p:cNvSpPr/>
          <p:nvPr/>
        </p:nvSpPr>
        <p:spPr>
          <a:xfrm>
            <a:off x="4302252" y="3247949"/>
            <a:ext cx="5431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4330598" y="3124505"/>
            <a:ext cx="2478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</a:t>
            </a:r>
            <a:endParaRPr lang="en-US" sz="800" dirty="0"/>
          </a:p>
        </p:txBody>
      </p:sp>
      <p:sp>
        <p:nvSpPr>
          <p:cNvPr id="58" name="Shape 53"/>
          <p:cNvSpPr/>
          <p:nvPr/>
        </p:nvSpPr>
        <p:spPr>
          <a:xfrm>
            <a:off x="4839919" y="3247949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4869180" y="3124505"/>
            <a:ext cx="61996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60" name="Shape 55"/>
          <p:cNvSpPr/>
          <p:nvPr/>
        </p:nvSpPr>
        <p:spPr>
          <a:xfrm>
            <a:off x="6633972" y="3247949"/>
            <a:ext cx="12573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6662318" y="3124505"/>
            <a:ext cx="3529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302252" y="3396082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4330598" y="3276295"/>
            <a:ext cx="2862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</a:t>
            </a:r>
            <a:endParaRPr lang="en-US" sz="800" dirty="0"/>
          </a:p>
        </p:txBody>
      </p:sp>
      <p:sp>
        <p:nvSpPr>
          <p:cNvPr id="64" name="Shape 59"/>
          <p:cNvSpPr/>
          <p:nvPr/>
        </p:nvSpPr>
        <p:spPr>
          <a:xfrm>
            <a:off x="4839919" y="3396082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4869180" y="3276295"/>
            <a:ext cx="176296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was Netflix's total revenue for FY2023?</a:t>
            </a:r>
            <a:endParaRPr lang="en-US" sz="800" dirty="0"/>
          </a:p>
        </p:txBody>
      </p:sp>
      <p:sp>
        <p:nvSpPr>
          <p:cNvPr id="66" name="Shape 61"/>
          <p:cNvSpPr/>
          <p:nvPr/>
        </p:nvSpPr>
        <p:spPr>
          <a:xfrm>
            <a:off x="6633972" y="3396082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6662318" y="3276295"/>
            <a:ext cx="8001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Netflix 10-K FY2023</a:t>
            </a:r>
            <a:endParaRPr lang="en-US" sz="800" dirty="0"/>
          </a:p>
        </p:txBody>
      </p:sp>
      <p:sp>
        <p:nvSpPr>
          <p:cNvPr id="68" name="Shape 63"/>
          <p:cNvSpPr/>
          <p:nvPr/>
        </p:nvSpPr>
        <p:spPr>
          <a:xfrm>
            <a:off x="4302252" y="3631997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4330598" y="3427171"/>
            <a:ext cx="3054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4839919" y="3631997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1" name="Text 66"/>
          <p:cNvSpPr txBox="1"/>
          <p:nvPr/>
        </p:nvSpPr>
        <p:spPr>
          <a:xfrm>
            <a:off x="4869180" y="3427171"/>
            <a:ext cx="1534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was Alphabet's total revenue for FY2023?</a:t>
            </a:r>
            <a:endParaRPr lang="en-US" sz="800" dirty="0"/>
          </a:p>
        </p:txBody>
      </p:sp>
      <p:sp>
        <p:nvSpPr>
          <p:cNvPr id="72" name="Shape 67"/>
          <p:cNvSpPr/>
          <p:nvPr/>
        </p:nvSpPr>
        <p:spPr>
          <a:xfrm>
            <a:off x="6633972" y="3631997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6662318" y="3427171"/>
            <a:ext cx="91440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Alphabet 10-K FY2023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4320540" y="4206240"/>
            <a:ext cx="3590849" cy="743407"/>
          </a:xfrm>
          <a:prstGeom prst="roundRect">
            <a:avLst>
              <a:gd name="adj" fmla="val 946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75" name="Text 70"/>
          <p:cNvSpPr txBox="1"/>
          <p:nvPr/>
        </p:nvSpPr>
        <p:spPr>
          <a:xfrm>
            <a:off x="4378147" y="4282135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76" name="Text 71"/>
          <p:cNvSpPr txBox="1"/>
          <p:nvPr/>
        </p:nvSpPr>
        <p:spPr>
          <a:xfrm>
            <a:off x="4378147" y="4510735"/>
            <a:ext cx="31053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revenue figures → Determine which is higher</a:t>
            </a:r>
            <a:endParaRPr lang="en-US" sz="1200" dirty="0"/>
          </a:p>
        </p:txBody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rcRect l="-1773" r="-1773" t="0" b="0"/>
          <a:stretch/>
        </p:blipFill>
        <p:spPr>
          <a:xfrm>
            <a:off x="6081674" y="4110228"/>
            <a:ext cx="66751" cy="85954"/>
          </a:xfrm>
          <a:prstGeom prst="rect">
            <a:avLst/>
          </a:prstGeom>
        </p:spPr>
      </p:pic>
      <p:sp>
        <p:nvSpPr>
          <p:cNvPr id="78" name="Shape 72"/>
          <p:cNvSpPr/>
          <p:nvPr/>
        </p:nvSpPr>
        <p:spPr>
          <a:xfrm>
            <a:off x="8128102" y="1228954"/>
            <a:ext cx="3838651" cy="5514746"/>
          </a:xfrm>
          <a:prstGeom prst="roundRect">
            <a:avLst>
              <a:gd name="adj" fmla="val 709"/>
            </a:avLst>
          </a:prstGeom>
          <a:solidFill>
            <a:srgbClr val="FFFFFF">
              <a:alpha val="3000"/>
            </a:srgbClr>
          </a:solidFill>
          <a:ln w="50800">
            <a:solidFill>
              <a:srgbClr val="EC4899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8251546" y="1362456"/>
            <a:ext cx="304495" cy="304495"/>
          </a:xfrm>
          <a:prstGeom prst="ellipse">
            <a:avLst/>
          </a:prstGeom>
          <a:solidFill>
            <a:srgbClr val="0B1E3D">
              <a:alpha val="80000"/>
            </a:srgbClr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12700" dir="16200000">
              <a:srgbClr val="ec4899">
                <a:alpha val="20000"/>
              </a:srgbClr>
            </a:outerShdw>
          </a:effectLst>
        </p:spPr>
      </p:sp>
      <p:pic>
        <p:nvPicPr>
          <p:cNvPr id="8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347558" y="1447495"/>
            <a:ext cx="114300" cy="133502"/>
          </a:xfrm>
          <a:prstGeom prst="rect">
            <a:avLst/>
          </a:prstGeom>
        </p:spPr>
      </p:pic>
      <p:sp>
        <p:nvSpPr>
          <p:cNvPr id="81" name="Shape 74"/>
          <p:cNvSpPr/>
          <p:nvPr/>
        </p:nvSpPr>
        <p:spPr>
          <a:xfrm>
            <a:off x="10689336" y="1362456"/>
            <a:ext cx="1152144" cy="286207"/>
          </a:xfrm>
          <a:prstGeom prst="roundRect">
            <a:avLst>
              <a:gd name="adj" fmla="val 42599"/>
            </a:avLst>
          </a:prstGeom>
          <a:solidFill>
            <a:srgbClr val="831843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10736885" y="1410005"/>
            <a:ext cx="11722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03</a:t>
            </a:r>
            <a:endParaRPr lang="en-US" sz="1200" dirty="0"/>
          </a:p>
        </p:txBody>
      </p:sp>
      <p:sp>
        <p:nvSpPr>
          <p:cNvPr id="83" name="Text 76"/>
          <p:cNvSpPr txBox="1"/>
          <p:nvPr/>
        </p:nvSpPr>
        <p:spPr>
          <a:xfrm>
            <a:off x="8251546" y="1772107"/>
            <a:ext cx="12243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Query</a:t>
            </a:r>
            <a:endParaRPr lang="en-US" sz="1000" dirty="0"/>
          </a:p>
        </p:txBody>
      </p:sp>
      <p:sp>
        <p:nvSpPr>
          <p:cNvPr id="84" name="Text 77"/>
          <p:cNvSpPr txBox="1"/>
          <p:nvPr/>
        </p:nvSpPr>
        <p:spPr>
          <a:xfrm>
            <a:off x="8251546" y="1990649"/>
            <a:ext cx="2457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72B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RECONSTRUCTION</a:t>
            </a:r>
            <a:endParaRPr lang="en-US" sz="1200" dirty="0"/>
          </a:p>
        </p:txBody>
      </p:sp>
      <p:sp>
        <p:nvSpPr>
          <p:cNvPr id="85" name="Shape 78"/>
          <p:cNvSpPr/>
          <p:nvPr/>
        </p:nvSpPr>
        <p:spPr>
          <a:xfrm>
            <a:off x="8251546" y="2276856"/>
            <a:ext cx="3590849" cy="743407"/>
          </a:xfrm>
          <a:prstGeom prst="roundRect">
            <a:avLst>
              <a:gd name="adj" fmla="val 946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6" name="Shape 79"/>
          <p:cNvSpPr/>
          <p:nvPr/>
        </p:nvSpPr>
        <p:spPr>
          <a:xfrm>
            <a:off x="8251546" y="2276856"/>
            <a:ext cx="19202" cy="743407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7" name="Text 80"/>
          <p:cNvSpPr txBox="1"/>
          <p:nvPr/>
        </p:nvSpPr>
        <p:spPr>
          <a:xfrm>
            <a:off x="8347558" y="2352751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88" name="Text 81"/>
          <p:cNvSpPr txBox="1"/>
          <p:nvPr/>
        </p:nvSpPr>
        <p:spPr>
          <a:xfrm>
            <a:off x="8347558" y="2572207"/>
            <a:ext cx="33055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"Did Apple introduce the AirTag before or after the launch of the 5th generation iPad Pro?"</a:t>
            </a:r>
            <a:endParaRPr lang="en-US" sz="1200" dirty="0"/>
          </a:p>
        </p:txBody>
      </p:sp>
      <p:sp>
        <p:nvSpPr>
          <p:cNvPr id="89" name="Shape 82"/>
          <p:cNvSpPr/>
          <p:nvPr/>
        </p:nvSpPr>
        <p:spPr>
          <a:xfrm>
            <a:off x="8251546" y="3247949"/>
            <a:ext cx="5431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0" name="Text 83"/>
          <p:cNvSpPr txBox="1"/>
          <p:nvPr/>
        </p:nvSpPr>
        <p:spPr>
          <a:xfrm>
            <a:off x="8280806" y="3124505"/>
            <a:ext cx="24780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</a:t>
            </a:r>
            <a:endParaRPr lang="en-US" sz="800" dirty="0"/>
          </a:p>
        </p:txBody>
      </p:sp>
      <p:sp>
        <p:nvSpPr>
          <p:cNvPr id="91" name="Shape 84"/>
          <p:cNvSpPr/>
          <p:nvPr/>
        </p:nvSpPr>
        <p:spPr>
          <a:xfrm>
            <a:off x="8790127" y="3247949"/>
            <a:ext cx="18004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2" name="Text 85"/>
          <p:cNvSpPr txBox="1"/>
          <p:nvPr/>
        </p:nvSpPr>
        <p:spPr>
          <a:xfrm>
            <a:off x="8818474" y="3124505"/>
            <a:ext cx="61996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Sub-Question</a:t>
            </a:r>
            <a:endParaRPr lang="en-US" sz="800" dirty="0"/>
          </a:p>
        </p:txBody>
      </p:sp>
      <p:sp>
        <p:nvSpPr>
          <p:cNvPr id="93" name="Shape 86"/>
          <p:cNvSpPr/>
          <p:nvPr/>
        </p:nvSpPr>
        <p:spPr>
          <a:xfrm>
            <a:off x="10584180" y="3247949"/>
            <a:ext cx="12573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4" name="Text 87"/>
          <p:cNvSpPr txBox="1"/>
          <p:nvPr/>
        </p:nvSpPr>
        <p:spPr>
          <a:xfrm>
            <a:off x="10612526" y="3124505"/>
            <a:ext cx="352958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800" dirty="0"/>
          </a:p>
        </p:txBody>
      </p:sp>
      <p:sp>
        <p:nvSpPr>
          <p:cNvPr id="95" name="Shape 88"/>
          <p:cNvSpPr/>
          <p:nvPr/>
        </p:nvSpPr>
        <p:spPr>
          <a:xfrm>
            <a:off x="8251546" y="3396082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6" name="Text 89"/>
          <p:cNvSpPr txBox="1"/>
          <p:nvPr/>
        </p:nvSpPr>
        <p:spPr>
          <a:xfrm>
            <a:off x="8280806" y="3276295"/>
            <a:ext cx="286207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1</a:t>
            </a:r>
            <a:endParaRPr lang="en-US" sz="800" dirty="0"/>
          </a:p>
        </p:txBody>
      </p:sp>
      <p:sp>
        <p:nvSpPr>
          <p:cNvPr id="97" name="Shape 90"/>
          <p:cNvSpPr/>
          <p:nvPr/>
        </p:nvSpPr>
        <p:spPr>
          <a:xfrm>
            <a:off x="8790127" y="3396082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8" name="Text 91"/>
          <p:cNvSpPr txBox="1"/>
          <p:nvPr/>
        </p:nvSpPr>
        <p:spPr>
          <a:xfrm>
            <a:off x="8818474" y="3276295"/>
            <a:ext cx="1438351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did Apple launch the AirTag?</a:t>
            </a:r>
            <a:endParaRPr lang="en-US" sz="800" dirty="0"/>
          </a:p>
        </p:txBody>
      </p:sp>
      <p:sp>
        <p:nvSpPr>
          <p:cNvPr id="99" name="Shape 92"/>
          <p:cNvSpPr/>
          <p:nvPr/>
        </p:nvSpPr>
        <p:spPr>
          <a:xfrm>
            <a:off x="10584180" y="3396082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0" name="Text 93"/>
          <p:cNvSpPr txBox="1"/>
          <p:nvPr/>
        </p:nvSpPr>
        <p:spPr>
          <a:xfrm>
            <a:off x="10612526" y="3276295"/>
            <a:ext cx="78181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 releases, 8-K</a:t>
            </a:r>
            <a:endParaRPr lang="en-US" sz="800" dirty="0"/>
          </a:p>
        </p:txBody>
      </p:sp>
      <p:sp>
        <p:nvSpPr>
          <p:cNvPr id="101" name="Shape 94"/>
          <p:cNvSpPr/>
          <p:nvPr/>
        </p:nvSpPr>
        <p:spPr>
          <a:xfrm>
            <a:off x="8251546" y="3546958"/>
            <a:ext cx="5431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2" name="Text 95"/>
          <p:cNvSpPr txBox="1"/>
          <p:nvPr/>
        </p:nvSpPr>
        <p:spPr>
          <a:xfrm>
            <a:off x="8280806" y="3427171"/>
            <a:ext cx="3054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2</a:t>
            </a:r>
            <a:endParaRPr lang="en-US" sz="800" dirty="0"/>
          </a:p>
        </p:txBody>
      </p:sp>
      <p:sp>
        <p:nvSpPr>
          <p:cNvPr id="103" name="Shape 96"/>
          <p:cNvSpPr/>
          <p:nvPr/>
        </p:nvSpPr>
        <p:spPr>
          <a:xfrm>
            <a:off x="8790127" y="3546958"/>
            <a:ext cx="18004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4" name="Text 97"/>
          <p:cNvSpPr txBox="1"/>
          <p:nvPr/>
        </p:nvSpPr>
        <p:spPr>
          <a:xfrm>
            <a:off x="8818474" y="3427171"/>
            <a:ext cx="167701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did Apple launch iPad Pro 5th gen?</a:t>
            </a:r>
            <a:endParaRPr lang="en-US" sz="800" dirty="0"/>
          </a:p>
        </p:txBody>
      </p:sp>
      <p:sp>
        <p:nvSpPr>
          <p:cNvPr id="105" name="Shape 98"/>
          <p:cNvSpPr/>
          <p:nvPr/>
        </p:nvSpPr>
        <p:spPr>
          <a:xfrm>
            <a:off x="10584180" y="3546958"/>
            <a:ext cx="1257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6" name="Text 99"/>
          <p:cNvSpPr txBox="1"/>
          <p:nvPr/>
        </p:nvSpPr>
        <p:spPr>
          <a:xfrm>
            <a:off x="10612526" y="3427171"/>
            <a:ext cx="781812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 releases, 8-K</a:t>
            </a:r>
            <a:endParaRPr lang="en-US" sz="800" dirty="0"/>
          </a:p>
        </p:txBody>
      </p:sp>
      <p:sp>
        <p:nvSpPr>
          <p:cNvPr id="107" name="Shape 100"/>
          <p:cNvSpPr/>
          <p:nvPr/>
        </p:nvSpPr>
        <p:spPr>
          <a:xfrm>
            <a:off x="8270748" y="4159606"/>
            <a:ext cx="3590849" cy="743407"/>
          </a:xfrm>
          <a:prstGeom prst="roundRect">
            <a:avLst>
              <a:gd name="adj" fmla="val 946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8" name="Text 101"/>
          <p:cNvSpPr txBox="1"/>
          <p:nvPr/>
        </p:nvSpPr>
        <p:spPr>
          <a:xfrm>
            <a:off x="8327441" y="4235501"/>
            <a:ext cx="1000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109" name="Text 102"/>
          <p:cNvSpPr txBox="1"/>
          <p:nvPr/>
        </p:nvSpPr>
        <p:spPr>
          <a:xfrm>
            <a:off x="8327441" y="4464101"/>
            <a:ext cx="30769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dates → Determine temporal sequence: "AirTag launched [Date A]..."</a:t>
            </a:r>
            <a:endParaRPr lang="en-US" sz="1200" dirty="0"/>
          </a:p>
        </p:txBody>
      </p:sp>
      <p:pic>
        <p:nvPicPr>
          <p:cNvPr id="110" name="Image 5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10030968" y="4064508"/>
            <a:ext cx="66751" cy="85954"/>
          </a:xfrm>
          <a:prstGeom prst="rect">
            <a:avLst/>
          </a:prstGeom>
        </p:spPr>
      </p:pic>
      <p:sp>
        <p:nvSpPr>
          <p:cNvPr id="111" name="Shape 103"/>
          <p:cNvSpPr/>
          <p:nvPr/>
        </p:nvSpPr>
        <p:spPr>
          <a:xfrm>
            <a:off x="0" y="6353251"/>
            <a:ext cx="12191695" cy="504749"/>
          </a:xfrm>
          <a:prstGeom prst="rect">
            <a:avLst/>
          </a:prstGeom>
          <a:solidFill>
            <a:srgbClr val="1E3A8A">
              <a:alpha val="95000"/>
            </a:srgbClr>
          </a:solidFill>
          <a:ln/>
        </p:spPr>
      </p:sp>
      <p:sp>
        <p:nvSpPr>
          <p:cNvPr id="112" name="Shape 104"/>
          <p:cNvSpPr/>
          <p:nvPr/>
        </p:nvSpPr>
        <p:spPr>
          <a:xfrm>
            <a:off x="0" y="6353251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pic>
        <p:nvPicPr>
          <p:cNvPr id="113" name="Image 6" descr="preencoded.png">    </p:cNvPr>
          <p:cNvPicPr>
            <a:picLocks noChangeAspect="1"/>
          </p:cNvPicPr>
          <p:nvPr/>
        </p:nvPicPr>
        <p:blipFill>
          <a:blip r:embed="rId7"/>
          <a:srcRect l="-133" r="-133" t="0" b="0"/>
          <a:stretch/>
        </p:blipFill>
        <p:spPr>
          <a:xfrm>
            <a:off x="228600" y="6553505"/>
            <a:ext cx="85954" cy="114300"/>
          </a:xfrm>
          <a:prstGeom prst="rect">
            <a:avLst/>
          </a:prstGeom>
        </p:spPr>
      </p:pic>
      <p:sp>
        <p:nvSpPr>
          <p:cNvPr id="114" name="Text 105"/>
          <p:cNvSpPr txBox="1"/>
          <p:nvPr/>
        </p:nvSpPr>
        <p:spPr>
          <a:xfrm>
            <a:off x="390449" y="6420002"/>
            <a:ext cx="82680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Takeaway: All three patterns require 2 retrievals + 1 synthesis step. Single-hop RAG cannot answer these because the final answer requires connecting information across multiple sources.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62158" y="6362395"/>
            <a:ext cx="9628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320272" y="6553505"/>
            <a:ext cx="5056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04495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TAXONOMY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6402"/>
            <a:ext cx="57012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Additional Multi-Hop Query Categories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1114654"/>
            <a:ext cx="11277295" cy="30449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114654"/>
            <a:ext cx="38405" cy="30449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200607"/>
            <a:ext cx="133502" cy="13350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1514246"/>
            <a:ext cx="11277295" cy="4886554"/>
          </a:xfrm>
          <a:prstGeom prst="roundRect">
            <a:avLst>
              <a:gd name="adj" fmla="val 43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974" y="1524305"/>
            <a:ext cx="11248949" cy="304495"/>
          </a:xfrm>
          <a:prstGeom prst="rect">
            <a:avLst/>
          </a:prstGeom>
          <a:solidFill>
            <a:srgbClr val="0B1E3D">
              <a:alpha val="9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0974" y="1809598"/>
            <a:ext cx="571500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3330" y="1809598"/>
            <a:ext cx="2029054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8" name="Shape 15"/>
          <p:cNvSpPr/>
          <p:nvPr/>
        </p:nvSpPr>
        <p:spPr>
          <a:xfrm>
            <a:off x="3066898" y="1809598"/>
            <a:ext cx="3600907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Shape 16"/>
          <p:cNvSpPr/>
          <p:nvPr/>
        </p:nvSpPr>
        <p:spPr>
          <a:xfrm>
            <a:off x="6665062" y="1809598"/>
            <a:ext cx="5067605" cy="19202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0" name="Shape 17"/>
          <p:cNvSpPr/>
          <p:nvPr/>
        </p:nvSpPr>
        <p:spPr>
          <a:xfrm>
            <a:off x="480974" y="1828800"/>
            <a:ext cx="11248949" cy="295351"/>
          </a:xfrm>
          <a:prstGeom prst="rect">
            <a:avLst/>
          </a:prstGeom>
          <a:solidFill>
            <a:srgbClr val="C5A059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80974" y="1828800"/>
            <a:ext cx="28346" cy="295351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2" name="Shape 19"/>
          <p:cNvSpPr/>
          <p:nvPr/>
        </p:nvSpPr>
        <p:spPr>
          <a:xfrm>
            <a:off x="480974" y="2115007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43330" y="2115007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066898" y="2115007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665062" y="2115007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817766" y="18763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817766" y="18763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80974" y="2119579"/>
            <a:ext cx="11248949" cy="286207"/>
          </a:xfrm>
          <a:prstGeom prst="rect">
            <a:avLst/>
          </a:prstGeom>
          <a:solidFill>
            <a:srgbClr val="C5A059">
              <a:alpha val="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480974" y="2119579"/>
            <a:ext cx="28346" cy="286207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0" name="Shape 27"/>
          <p:cNvSpPr/>
          <p:nvPr/>
        </p:nvSpPr>
        <p:spPr>
          <a:xfrm>
            <a:off x="480974" y="23966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043330" y="23966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66898" y="23966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665062" y="23966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817766" y="21625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6817766" y="21625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0974" y="2404872"/>
            <a:ext cx="11248949" cy="286207"/>
          </a:xfrm>
          <a:prstGeom prst="rect">
            <a:avLst/>
          </a:prstGeom>
          <a:solidFill>
            <a:srgbClr val="C5A059">
              <a:alpha val="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80974" y="2404872"/>
            <a:ext cx="28346" cy="286207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8" name="Shape 35"/>
          <p:cNvSpPr/>
          <p:nvPr/>
        </p:nvSpPr>
        <p:spPr>
          <a:xfrm>
            <a:off x="480974" y="2681935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1043330" y="2681935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3066898" y="2681935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665062" y="2681935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817766" y="24478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817766" y="24478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80974" y="29681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43330" y="29681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3066898" y="29681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65062" y="29681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17766" y="27340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817766" y="27340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480974" y="2976372"/>
            <a:ext cx="11248949" cy="28620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80974" y="3253435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043330" y="3253435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066898" y="3253435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665062" y="3253435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817766" y="30193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817766" y="30193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480974" y="35396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043330" y="35396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066898" y="35396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6665062" y="35396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817766" y="33055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6817766" y="33055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480974" y="3547872"/>
            <a:ext cx="11248949" cy="28620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480974" y="3824935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1043330" y="3824935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066898" y="3824935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665062" y="3824935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6817766" y="35908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6817766" y="35908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0" name="Shape 67"/>
          <p:cNvSpPr/>
          <p:nvPr/>
        </p:nvSpPr>
        <p:spPr>
          <a:xfrm>
            <a:off x="480974" y="41111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043330" y="41111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066898" y="41111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6665062" y="41111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6817766" y="38770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6817766" y="38770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6" name="Shape 73"/>
          <p:cNvSpPr/>
          <p:nvPr/>
        </p:nvSpPr>
        <p:spPr>
          <a:xfrm>
            <a:off x="480974" y="4119372"/>
            <a:ext cx="11248949" cy="28620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480974" y="4396435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1043330" y="4396435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066898" y="4396435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6665062" y="4396435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6817766" y="41623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2" name="Shape 79"/>
          <p:cNvSpPr/>
          <p:nvPr/>
        </p:nvSpPr>
        <p:spPr>
          <a:xfrm>
            <a:off x="6817766" y="41623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3" name="Shape 80"/>
          <p:cNvSpPr/>
          <p:nvPr/>
        </p:nvSpPr>
        <p:spPr>
          <a:xfrm>
            <a:off x="480974" y="46826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1043330" y="46826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5" name="Shape 82"/>
          <p:cNvSpPr/>
          <p:nvPr/>
        </p:nvSpPr>
        <p:spPr>
          <a:xfrm>
            <a:off x="3066898" y="46826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6" name="Shape 83"/>
          <p:cNvSpPr/>
          <p:nvPr/>
        </p:nvSpPr>
        <p:spPr>
          <a:xfrm>
            <a:off x="6665062" y="46826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6817766" y="44485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6817766" y="44485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9" name="Shape 86"/>
          <p:cNvSpPr/>
          <p:nvPr/>
        </p:nvSpPr>
        <p:spPr>
          <a:xfrm>
            <a:off x="480974" y="4690872"/>
            <a:ext cx="11248949" cy="28620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0" name="Shape 87"/>
          <p:cNvSpPr/>
          <p:nvPr/>
        </p:nvSpPr>
        <p:spPr>
          <a:xfrm>
            <a:off x="480974" y="4967935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1" name="Shape 88"/>
          <p:cNvSpPr/>
          <p:nvPr/>
        </p:nvSpPr>
        <p:spPr>
          <a:xfrm>
            <a:off x="1043330" y="4967935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2" name="Shape 89"/>
          <p:cNvSpPr/>
          <p:nvPr/>
        </p:nvSpPr>
        <p:spPr>
          <a:xfrm>
            <a:off x="3066898" y="4967935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3" name="Shape 90"/>
          <p:cNvSpPr/>
          <p:nvPr/>
        </p:nvSpPr>
        <p:spPr>
          <a:xfrm>
            <a:off x="6665062" y="4967935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4" name="Shape 91"/>
          <p:cNvSpPr/>
          <p:nvPr/>
        </p:nvSpPr>
        <p:spPr>
          <a:xfrm>
            <a:off x="6817766" y="4733849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5" name="Shape 92"/>
          <p:cNvSpPr/>
          <p:nvPr/>
        </p:nvSpPr>
        <p:spPr>
          <a:xfrm>
            <a:off x="6817766" y="4733849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96" name="Shape 93"/>
          <p:cNvSpPr/>
          <p:nvPr/>
        </p:nvSpPr>
        <p:spPr>
          <a:xfrm>
            <a:off x="480974" y="5254142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7" name="Shape 94"/>
          <p:cNvSpPr/>
          <p:nvPr/>
        </p:nvSpPr>
        <p:spPr>
          <a:xfrm>
            <a:off x="1043330" y="5254142"/>
            <a:ext cx="2029054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8" name="Shape 95"/>
          <p:cNvSpPr/>
          <p:nvPr/>
        </p:nvSpPr>
        <p:spPr>
          <a:xfrm>
            <a:off x="3066898" y="5254142"/>
            <a:ext cx="36009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9" name="Shape 96"/>
          <p:cNvSpPr/>
          <p:nvPr/>
        </p:nvSpPr>
        <p:spPr>
          <a:xfrm>
            <a:off x="6665062" y="5254142"/>
            <a:ext cx="50676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6817766" y="5020056"/>
            <a:ext cx="4762195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6817766" y="5020056"/>
            <a:ext cx="19202" cy="20025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2" name="Shape 99"/>
          <p:cNvSpPr/>
          <p:nvPr/>
        </p:nvSpPr>
        <p:spPr>
          <a:xfrm>
            <a:off x="533095" y="6534302"/>
            <a:ext cx="114300" cy="114300"/>
          </a:xfrm>
          <a:prstGeom prst="roundRect">
            <a:avLst>
              <a:gd name="adj" fmla="val 133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2171700" y="6534302"/>
            <a:ext cx="114300" cy="114300"/>
          </a:xfrm>
          <a:prstGeom prst="roundRect">
            <a:avLst>
              <a:gd name="adj" fmla="val 133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943807" y="6534302"/>
            <a:ext cx="114300" cy="114300"/>
          </a:xfrm>
          <a:prstGeom prst="roundRect">
            <a:avLst>
              <a:gd name="adj" fmla="val 13333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895198" y="1190549"/>
            <a:ext cx="80110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Beyond the core patterns of Temporal, Comparison, and Inference, financial analysis requires a broader range of multi-hop reasoning types.</a:t>
            </a:r>
            <a:endParaRPr lang="en-US" sz="900" dirty="0"/>
          </a:p>
        </p:txBody>
      </p:sp>
      <p:sp>
        <p:nvSpPr>
          <p:cNvPr id="106" name="Text 103"/>
          <p:cNvSpPr txBox="1"/>
          <p:nvPr/>
        </p:nvSpPr>
        <p:spPr>
          <a:xfrm>
            <a:off x="633679" y="1609344"/>
            <a:ext cx="152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07" name="Text 104"/>
          <p:cNvSpPr txBox="1"/>
          <p:nvPr/>
        </p:nvSpPr>
        <p:spPr>
          <a:xfrm>
            <a:off x="1195121" y="1609344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 TYPE</a:t>
            </a:r>
            <a:endParaRPr lang="en-US" sz="800" dirty="0"/>
          </a:p>
        </p:txBody>
      </p:sp>
      <p:sp>
        <p:nvSpPr>
          <p:cNvPr id="108" name="Text 105"/>
          <p:cNvSpPr txBox="1"/>
          <p:nvPr/>
        </p:nvSpPr>
        <p:spPr>
          <a:xfrm>
            <a:off x="3219602" y="1609344"/>
            <a:ext cx="8193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6817766" y="1609344"/>
            <a:ext cx="12198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EXAMPLE</a:t>
            </a:r>
            <a:endParaRPr lang="en-US" sz="800" dirty="0"/>
          </a:p>
        </p:txBody>
      </p:sp>
      <p:sp>
        <p:nvSpPr>
          <p:cNvPr id="110" name="Text 107"/>
          <p:cNvSpPr txBox="1"/>
          <p:nvPr/>
        </p:nvSpPr>
        <p:spPr>
          <a:xfrm>
            <a:off x="619049" y="1914754"/>
            <a:ext cx="1143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 txBox="1"/>
          <p:nvPr/>
        </p:nvSpPr>
        <p:spPr>
          <a:xfrm>
            <a:off x="1195121" y="1914754"/>
            <a:ext cx="5340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</a:t>
            </a:r>
            <a:endParaRPr lang="en-US" sz="800" dirty="0"/>
          </a:p>
        </p:txBody>
      </p:sp>
      <p:sp>
        <p:nvSpPr>
          <p:cNvPr id="112" name="Text 109"/>
          <p:cNvSpPr txBox="1"/>
          <p:nvPr/>
        </p:nvSpPr>
        <p:spPr>
          <a:xfrm>
            <a:off x="3219602" y="1914754"/>
            <a:ext cx="19815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Compares timing or sequence of events</a:t>
            </a:r>
            <a:endParaRPr lang="en-US" sz="800" dirty="0"/>
          </a:p>
        </p:txBody>
      </p:sp>
      <p:sp>
        <p:nvSpPr>
          <p:cNvPr id="113" name="Text 110"/>
          <p:cNvSpPr txBox="1"/>
          <p:nvPr/>
        </p:nvSpPr>
        <p:spPr>
          <a:xfrm>
            <a:off x="6912864" y="1914754"/>
            <a:ext cx="16486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X happen before or after Y?"</a:t>
            </a:r>
            <a:endParaRPr lang="en-US" sz="800" dirty="0"/>
          </a:p>
        </p:txBody>
      </p:sp>
      <p:sp>
        <p:nvSpPr>
          <p:cNvPr id="114" name="Text 111"/>
          <p:cNvSpPr txBox="1"/>
          <p:nvPr/>
        </p:nvSpPr>
        <p:spPr>
          <a:xfrm>
            <a:off x="619049" y="2200046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15" name="Text 112"/>
          <p:cNvSpPr txBox="1"/>
          <p:nvPr/>
        </p:nvSpPr>
        <p:spPr>
          <a:xfrm>
            <a:off x="1195121" y="2200046"/>
            <a:ext cx="6574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116" name="Text 113"/>
          <p:cNvSpPr txBox="1"/>
          <p:nvPr/>
        </p:nvSpPr>
        <p:spPr>
          <a:xfrm>
            <a:off x="3219602" y="2200046"/>
            <a:ext cx="16578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Compares metrics across entities</a:t>
            </a:r>
            <a:endParaRPr lang="en-US" sz="800" dirty="0"/>
          </a:p>
        </p:txBody>
      </p:sp>
      <p:sp>
        <p:nvSpPr>
          <p:cNvPr id="117" name="Text 114"/>
          <p:cNvSpPr txBox="1"/>
          <p:nvPr/>
        </p:nvSpPr>
        <p:spPr>
          <a:xfrm>
            <a:off x="6912864" y="2200046"/>
            <a:ext cx="19339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company has higher revenue?"</a:t>
            </a:r>
            <a:endParaRPr lang="en-US" sz="800" dirty="0"/>
          </a:p>
        </p:txBody>
      </p:sp>
      <p:sp>
        <p:nvSpPr>
          <p:cNvPr id="118" name="Text 115"/>
          <p:cNvSpPr txBox="1"/>
          <p:nvPr/>
        </p:nvSpPr>
        <p:spPr>
          <a:xfrm>
            <a:off x="619049" y="2486254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19" name="Text 116"/>
          <p:cNvSpPr txBox="1"/>
          <p:nvPr/>
        </p:nvSpPr>
        <p:spPr>
          <a:xfrm>
            <a:off x="1195121" y="2486254"/>
            <a:ext cx="5340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</a:t>
            </a:r>
            <a:endParaRPr lang="en-US" sz="800" dirty="0"/>
          </a:p>
        </p:txBody>
      </p:sp>
      <p:sp>
        <p:nvSpPr>
          <p:cNvPr id="120" name="Text 117"/>
          <p:cNvSpPr txBox="1"/>
          <p:nvPr/>
        </p:nvSpPr>
        <p:spPr>
          <a:xfrm>
            <a:off x="3219602" y="2486254"/>
            <a:ext cx="21433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Draws conclusions from document analysis</a:t>
            </a:r>
            <a:endParaRPr lang="en-US" sz="800" dirty="0"/>
          </a:p>
        </p:txBody>
      </p:sp>
      <p:sp>
        <p:nvSpPr>
          <p:cNvPr id="121" name="Text 118"/>
          <p:cNvSpPr txBox="1"/>
          <p:nvPr/>
        </p:nvSpPr>
        <p:spPr>
          <a:xfrm>
            <a:off x="6912864" y="2486254"/>
            <a:ext cx="16669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report discusses topic X?"</a:t>
            </a:r>
            <a:endParaRPr lang="en-US" sz="800" dirty="0"/>
          </a:p>
        </p:txBody>
      </p:sp>
      <p:sp>
        <p:nvSpPr>
          <p:cNvPr id="122" name="Text 119"/>
          <p:cNvSpPr txBox="1"/>
          <p:nvPr/>
        </p:nvSpPr>
        <p:spPr>
          <a:xfrm>
            <a:off x="633679" y="2771546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23" name="Text 120"/>
          <p:cNvSpPr txBox="1"/>
          <p:nvPr/>
        </p:nvSpPr>
        <p:spPr>
          <a:xfrm>
            <a:off x="1195121" y="2771546"/>
            <a:ext cx="4005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</a:t>
            </a:r>
            <a:endParaRPr lang="en-US" sz="800" dirty="0"/>
          </a:p>
        </p:txBody>
      </p:sp>
      <p:sp>
        <p:nvSpPr>
          <p:cNvPr id="124" name="Text 121"/>
          <p:cNvSpPr txBox="1"/>
          <p:nvPr/>
        </p:nvSpPr>
        <p:spPr>
          <a:xfrm>
            <a:off x="3219602" y="2771546"/>
            <a:ext cx="21534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Finds entity in Doc A, uses it to query Doc B</a:t>
            </a:r>
            <a:endParaRPr lang="en-US" sz="800" dirty="0"/>
          </a:p>
        </p:txBody>
      </p:sp>
      <p:sp>
        <p:nvSpPr>
          <p:cNvPr id="125" name="Text 122"/>
          <p:cNvSpPr txBox="1"/>
          <p:nvPr/>
        </p:nvSpPr>
        <p:spPr>
          <a:xfrm>
            <a:off x="6912864" y="2771546"/>
            <a:ext cx="42291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"Who is the CEO of the company that acquired Slack, and what is their compensation?"</a:t>
            </a:r>
            <a:endParaRPr lang="en-US" sz="800" dirty="0"/>
          </a:p>
        </p:txBody>
      </p:sp>
      <p:sp>
        <p:nvSpPr>
          <p:cNvPr id="126" name="Text 123"/>
          <p:cNvSpPr txBox="1"/>
          <p:nvPr/>
        </p:nvSpPr>
        <p:spPr>
          <a:xfrm>
            <a:off x="633679" y="3057754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127" name="Text 124"/>
          <p:cNvSpPr txBox="1"/>
          <p:nvPr/>
        </p:nvSpPr>
        <p:spPr>
          <a:xfrm>
            <a:off x="1195121" y="3057754"/>
            <a:ext cx="7717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Compositional</a:t>
            </a:r>
            <a:endParaRPr lang="en-US" sz="800" dirty="0"/>
          </a:p>
        </p:txBody>
      </p:sp>
      <p:sp>
        <p:nvSpPr>
          <p:cNvPr id="128" name="Text 125"/>
          <p:cNvSpPr txBox="1"/>
          <p:nvPr/>
        </p:nvSpPr>
        <p:spPr>
          <a:xfrm>
            <a:off x="3219602" y="3057754"/>
            <a:ext cx="23436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multiple facts to compute an answer</a:t>
            </a:r>
            <a:endParaRPr lang="en-US" sz="800" dirty="0"/>
          </a:p>
        </p:txBody>
      </p:sp>
      <p:sp>
        <p:nvSpPr>
          <p:cNvPr id="129" name="Text 126"/>
          <p:cNvSpPr txBox="1"/>
          <p:nvPr/>
        </p:nvSpPr>
        <p:spPr>
          <a:xfrm>
            <a:off x="6912864" y="3057754"/>
            <a:ext cx="30861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debt-to-equity ratio of the largest bank by assets?"</a:t>
            </a:r>
            <a:endParaRPr lang="en-US" sz="800" dirty="0"/>
          </a:p>
        </p:txBody>
      </p:sp>
      <p:sp>
        <p:nvSpPr>
          <p:cNvPr id="130" name="Text 127"/>
          <p:cNvSpPr txBox="1"/>
          <p:nvPr/>
        </p:nvSpPr>
        <p:spPr>
          <a:xfrm>
            <a:off x="633679" y="3343046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00" dirty="0"/>
          </a:p>
        </p:txBody>
      </p:sp>
      <p:sp>
        <p:nvSpPr>
          <p:cNvPr id="131" name="Text 128"/>
          <p:cNvSpPr txBox="1"/>
          <p:nvPr/>
        </p:nvSpPr>
        <p:spPr>
          <a:xfrm>
            <a:off x="1195121" y="3343046"/>
            <a:ext cx="8193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Causal / Impact</a:t>
            </a:r>
            <a:endParaRPr lang="en-US" sz="800" dirty="0"/>
          </a:p>
        </p:txBody>
      </p:sp>
      <p:sp>
        <p:nvSpPr>
          <p:cNvPr id="132" name="Text 129"/>
          <p:cNvSpPr txBox="1"/>
          <p:nvPr/>
        </p:nvSpPr>
        <p:spPr>
          <a:xfrm>
            <a:off x="3219602" y="3343046"/>
            <a:ext cx="16294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Traces cause-effect relationships</a:t>
            </a:r>
            <a:endParaRPr lang="en-US" sz="800" dirty="0"/>
          </a:p>
        </p:txBody>
      </p:sp>
      <p:sp>
        <p:nvSpPr>
          <p:cNvPr id="133" name="Text 130"/>
          <p:cNvSpPr txBox="1"/>
          <p:nvPr/>
        </p:nvSpPr>
        <p:spPr>
          <a:xfrm>
            <a:off x="6912864" y="3343046"/>
            <a:ext cx="25338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did the Fed rate hike impact JPMorgan's NII?"</a:t>
            </a:r>
            <a:endParaRPr lang="en-US" sz="800" dirty="0"/>
          </a:p>
        </p:txBody>
      </p:sp>
      <p:sp>
        <p:nvSpPr>
          <p:cNvPr id="134" name="Text 131"/>
          <p:cNvSpPr txBox="1"/>
          <p:nvPr/>
        </p:nvSpPr>
        <p:spPr>
          <a:xfrm>
            <a:off x="633679" y="3629254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00" dirty="0"/>
          </a:p>
        </p:txBody>
      </p:sp>
      <p:sp>
        <p:nvSpPr>
          <p:cNvPr id="135" name="Text 132"/>
          <p:cNvSpPr txBox="1"/>
          <p:nvPr/>
        </p:nvSpPr>
        <p:spPr>
          <a:xfrm>
            <a:off x="1195121" y="3629254"/>
            <a:ext cx="6858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Aggregation</a:t>
            </a:r>
            <a:endParaRPr lang="en-US" sz="800" dirty="0"/>
          </a:p>
        </p:txBody>
      </p:sp>
      <p:sp>
        <p:nvSpPr>
          <p:cNvPr id="136" name="Text 133"/>
          <p:cNvSpPr txBox="1"/>
          <p:nvPr/>
        </p:nvSpPr>
        <p:spPr>
          <a:xfrm>
            <a:off x="3219602" y="3629254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Collects &amp; aggregates data across sources</a:t>
            </a:r>
            <a:endParaRPr lang="en-US" sz="800" dirty="0"/>
          </a:p>
        </p:txBody>
      </p:sp>
      <p:sp>
        <p:nvSpPr>
          <p:cNvPr id="137" name="Text 134"/>
          <p:cNvSpPr txBox="1"/>
          <p:nvPr/>
        </p:nvSpPr>
        <p:spPr>
          <a:xfrm>
            <a:off x="6912864" y="3629254"/>
            <a:ext cx="30385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average DSCR across all 2024 office CMBS deals?"</a:t>
            </a:r>
            <a:endParaRPr lang="en-US" sz="800" dirty="0"/>
          </a:p>
        </p:txBody>
      </p:sp>
      <p:sp>
        <p:nvSpPr>
          <p:cNvPr id="138" name="Text 135"/>
          <p:cNvSpPr txBox="1"/>
          <p:nvPr/>
        </p:nvSpPr>
        <p:spPr>
          <a:xfrm>
            <a:off x="633679" y="3914546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800" dirty="0"/>
          </a:p>
        </p:txBody>
      </p:sp>
      <p:sp>
        <p:nvSpPr>
          <p:cNvPr id="139" name="Text 136"/>
          <p:cNvSpPr txBox="1"/>
          <p:nvPr/>
        </p:nvSpPr>
        <p:spPr>
          <a:xfrm>
            <a:off x="1195121" y="3914546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/ Traversal</a:t>
            </a:r>
            <a:endParaRPr lang="en-US" sz="800" dirty="0"/>
          </a:p>
        </p:txBody>
      </p:sp>
      <p:sp>
        <p:nvSpPr>
          <p:cNvPr id="140" name="Text 137"/>
          <p:cNvSpPr txBox="1"/>
          <p:nvPr/>
        </p:nvSpPr>
        <p:spPr>
          <a:xfrm>
            <a:off x="3219602" y="3914546"/>
            <a:ext cx="22009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Navigates ownership or corporate structures</a:t>
            </a:r>
            <a:endParaRPr lang="en-US" sz="800" dirty="0"/>
          </a:p>
        </p:txBody>
      </p:sp>
      <p:sp>
        <p:nvSpPr>
          <p:cNvPr id="141" name="Text 138"/>
          <p:cNvSpPr txBox="1"/>
          <p:nvPr/>
        </p:nvSpPr>
        <p:spPr>
          <a:xfrm>
            <a:off x="6912864" y="3914546"/>
            <a:ext cx="3629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"List all subsidiaries of Berkshire Hathaway exposed to flood insurance risk"</a:t>
            </a:r>
            <a:endParaRPr lang="en-US" sz="800" dirty="0"/>
          </a:p>
        </p:txBody>
      </p:sp>
      <p:sp>
        <p:nvSpPr>
          <p:cNvPr id="142" name="Text 139"/>
          <p:cNvSpPr txBox="1"/>
          <p:nvPr/>
        </p:nvSpPr>
        <p:spPr>
          <a:xfrm>
            <a:off x="633679" y="4200754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800" dirty="0"/>
          </a:p>
        </p:txBody>
      </p:sp>
      <p:sp>
        <p:nvSpPr>
          <p:cNvPr id="143" name="Text 140"/>
          <p:cNvSpPr txBox="1"/>
          <p:nvPr/>
        </p:nvSpPr>
        <p:spPr>
          <a:xfrm>
            <a:off x="1195121" y="4200754"/>
            <a:ext cx="7818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/ Negative</a:t>
            </a:r>
            <a:endParaRPr lang="en-US" sz="800" dirty="0"/>
          </a:p>
        </p:txBody>
      </p:sp>
      <p:sp>
        <p:nvSpPr>
          <p:cNvPr id="144" name="Text 141"/>
          <p:cNvSpPr txBox="1"/>
          <p:nvPr/>
        </p:nvSpPr>
        <p:spPr>
          <a:xfrm>
            <a:off x="3219602" y="4200754"/>
            <a:ext cx="16486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Confirms absence of information</a:t>
            </a:r>
            <a:endParaRPr lang="en-US" sz="800" dirty="0"/>
          </a:p>
        </p:txBody>
      </p:sp>
      <p:sp>
        <p:nvSpPr>
          <p:cNvPr id="145" name="Text 142"/>
          <p:cNvSpPr txBox="1"/>
          <p:nvPr/>
        </p:nvSpPr>
        <p:spPr>
          <a:xfrm>
            <a:off x="6912864" y="4200754"/>
            <a:ext cx="27249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Tesla disclose any cybersecurity incidents in 2024?"</a:t>
            </a:r>
            <a:endParaRPr lang="en-US" sz="800" dirty="0"/>
          </a:p>
        </p:txBody>
      </p:sp>
      <p:sp>
        <p:nvSpPr>
          <p:cNvPr id="146" name="Text 143"/>
          <p:cNvSpPr txBox="1"/>
          <p:nvPr/>
        </p:nvSpPr>
        <p:spPr>
          <a:xfrm>
            <a:off x="633679" y="4486046"/>
            <a:ext cx="1810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00" dirty="0"/>
          </a:p>
        </p:txBody>
      </p:sp>
      <p:sp>
        <p:nvSpPr>
          <p:cNvPr id="147" name="Text 144"/>
          <p:cNvSpPr txBox="1"/>
          <p:nvPr/>
        </p:nvSpPr>
        <p:spPr>
          <a:xfrm>
            <a:off x="1195121" y="4486046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 / Filter</a:t>
            </a:r>
            <a:endParaRPr lang="en-US" sz="800" dirty="0"/>
          </a:p>
        </p:txBody>
      </p:sp>
      <p:sp>
        <p:nvSpPr>
          <p:cNvPr id="148" name="Text 145"/>
          <p:cNvSpPr txBox="1"/>
          <p:nvPr/>
        </p:nvSpPr>
        <p:spPr>
          <a:xfrm>
            <a:off x="3219602" y="4486046"/>
            <a:ext cx="22101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multiple filtering criteria sequentially</a:t>
            </a:r>
            <a:endParaRPr lang="en-US" sz="800" dirty="0"/>
          </a:p>
        </p:txBody>
      </p:sp>
      <p:sp>
        <p:nvSpPr>
          <p:cNvPr id="149" name="Text 146"/>
          <p:cNvSpPr txBox="1"/>
          <p:nvPr/>
        </p:nvSpPr>
        <p:spPr>
          <a:xfrm>
            <a:off x="6912864" y="4486046"/>
            <a:ext cx="4286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"Find CLOs with reinvestment periods ending in 2025 that have CCC buckets above 7.5%"</a:t>
            </a:r>
            <a:endParaRPr lang="en-US" sz="800" dirty="0"/>
          </a:p>
        </p:txBody>
      </p:sp>
      <p:sp>
        <p:nvSpPr>
          <p:cNvPr id="150" name="Text 147"/>
          <p:cNvSpPr txBox="1"/>
          <p:nvPr/>
        </p:nvSpPr>
        <p:spPr>
          <a:xfrm>
            <a:off x="633679" y="4772254"/>
            <a:ext cx="152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00" dirty="0"/>
          </a:p>
        </p:txBody>
      </p:sp>
      <p:sp>
        <p:nvSpPr>
          <p:cNvPr id="151" name="Text 148"/>
          <p:cNvSpPr txBox="1"/>
          <p:nvPr/>
        </p:nvSpPr>
        <p:spPr>
          <a:xfrm>
            <a:off x="1195121" y="4772254"/>
            <a:ext cx="79095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Counterfactual</a:t>
            </a:r>
            <a:endParaRPr lang="en-US" sz="800" dirty="0"/>
          </a:p>
        </p:txBody>
      </p:sp>
      <p:sp>
        <p:nvSpPr>
          <p:cNvPr id="152" name="Text 149"/>
          <p:cNvSpPr txBox="1"/>
          <p:nvPr/>
        </p:nvSpPr>
        <p:spPr>
          <a:xfrm>
            <a:off x="3219602" y="4772254"/>
            <a:ext cx="20674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Explores hypothetical scenarios vs actuals</a:t>
            </a:r>
            <a:endParaRPr lang="en-US" sz="800" dirty="0"/>
          </a:p>
        </p:txBody>
      </p:sp>
      <p:sp>
        <p:nvSpPr>
          <p:cNvPr id="153" name="Text 150"/>
          <p:cNvSpPr txBox="1"/>
          <p:nvPr/>
        </p:nvSpPr>
        <p:spPr>
          <a:xfrm>
            <a:off x="6912864" y="4772254"/>
            <a:ext cx="2743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would Apple's margin be if COGS increased 10%?"</a:t>
            </a:r>
            <a:endParaRPr lang="en-US" sz="800" dirty="0"/>
          </a:p>
        </p:txBody>
      </p:sp>
      <p:sp>
        <p:nvSpPr>
          <p:cNvPr id="154" name="Text 151"/>
          <p:cNvSpPr txBox="1"/>
          <p:nvPr/>
        </p:nvSpPr>
        <p:spPr>
          <a:xfrm>
            <a:off x="633679" y="5057546"/>
            <a:ext cx="1719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00" dirty="0"/>
          </a:p>
        </p:txBody>
      </p:sp>
      <p:sp>
        <p:nvSpPr>
          <p:cNvPr id="155" name="Text 152"/>
          <p:cNvSpPr txBox="1"/>
          <p:nvPr/>
        </p:nvSpPr>
        <p:spPr>
          <a:xfrm>
            <a:off x="1195121" y="5057546"/>
            <a:ext cx="12390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/ Fact-Check</a:t>
            </a:r>
            <a:endParaRPr lang="en-US" sz="800" dirty="0"/>
          </a:p>
        </p:txBody>
      </p:sp>
      <p:sp>
        <p:nvSpPr>
          <p:cNvPr id="156" name="Text 153"/>
          <p:cNvSpPr txBox="1"/>
          <p:nvPr/>
        </p:nvSpPr>
        <p:spPr>
          <a:xfrm>
            <a:off x="3219602" y="5057546"/>
            <a:ext cx="18388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Cross-validates claims across sources</a:t>
            </a:r>
            <a:endParaRPr lang="en-US" sz="800" dirty="0"/>
          </a:p>
        </p:txBody>
      </p:sp>
      <p:sp>
        <p:nvSpPr>
          <p:cNvPr id="157" name="Text 154"/>
          <p:cNvSpPr txBox="1"/>
          <p:nvPr/>
        </p:nvSpPr>
        <p:spPr>
          <a:xfrm>
            <a:off x="6912864" y="5057546"/>
            <a:ext cx="36768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the CEO's statement on the earnings call match the 10-Q disclosure?"</a:t>
            </a:r>
            <a:endParaRPr lang="en-US" sz="800" dirty="0"/>
          </a:p>
        </p:txBody>
      </p:sp>
      <p:sp>
        <p:nvSpPr>
          <p:cNvPr id="158" name="Text 155"/>
          <p:cNvSpPr txBox="1"/>
          <p:nvPr/>
        </p:nvSpPr>
        <p:spPr>
          <a:xfrm>
            <a:off x="724205" y="6495898"/>
            <a:ext cx="14200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PATTERNS</a:t>
            </a:r>
            <a:endParaRPr lang="en-US" sz="1200" dirty="0"/>
          </a:p>
        </p:txBody>
      </p:sp>
      <p:sp>
        <p:nvSpPr>
          <p:cNvPr id="159" name="Text 156"/>
          <p:cNvSpPr txBox="1"/>
          <p:nvPr/>
        </p:nvSpPr>
        <p:spPr>
          <a:xfrm>
            <a:off x="2361895" y="6495898"/>
            <a:ext cx="15526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LOGIC</a:t>
            </a:r>
            <a:endParaRPr lang="en-US" sz="1200" dirty="0"/>
          </a:p>
        </p:txBody>
      </p:sp>
      <p:sp>
        <p:nvSpPr>
          <p:cNvPr id="160" name="Text 157"/>
          <p:cNvSpPr txBox="1"/>
          <p:nvPr/>
        </p:nvSpPr>
        <p:spPr>
          <a:xfrm>
            <a:off x="4134002" y="6495898"/>
            <a:ext cx="1848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 TRAVERSAL</a:t>
            </a:r>
            <a:endParaRPr lang="en-US" sz="1200" dirty="0"/>
          </a:p>
        </p:txBody>
      </p:sp>
      <p:sp>
        <p:nvSpPr>
          <p:cNvPr id="161" name="Text 158"/>
          <p:cNvSpPr txBox="1"/>
          <p:nvPr/>
        </p:nvSpPr>
        <p:spPr>
          <a:xfrm>
            <a:off x="6122822" y="6495898"/>
            <a:ext cx="5658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Multi-hop RAG Literature Review &amp; Financial Application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235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04495"/>
            <a:ext cx="30202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FOUNDATIONAL MULTI-HOP QUERY TYPES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6402"/>
            <a:ext cx="31199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Basic Query Patterns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076249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1086307"/>
            <a:ext cx="11259007" cy="267005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" y="1344168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80644" y="1128370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9049" y="1166774"/>
            <a:ext cx="95098" cy="9509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66344" y="1567282"/>
            <a:ext cx="571500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" y="1776679"/>
            <a:ext cx="571500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1029614" y="1567282"/>
            <a:ext cx="620054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29614" y="1776679"/>
            <a:ext cx="6200546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7221931" y="1567282"/>
            <a:ext cx="3610051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221931" y="1776679"/>
            <a:ext cx="3610051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10824667" y="1567282"/>
            <a:ext cx="90525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0824667" y="1776679"/>
            <a:ext cx="905256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" y="2082089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29614" y="2082089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124712" y="1843430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124712" y="1843430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7221931" y="2082089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824667" y="2082089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66344" y="2362810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29614" y="2362810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124712" y="2128723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124712" y="2128723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221931" y="2362810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0824667" y="2362810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124712" y="2414930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124712" y="2414930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" y="2952598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6344" y="2962656"/>
            <a:ext cx="11259007" cy="267005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66344" y="3220517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80644" y="3004718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604418" y="3043123"/>
            <a:ext cx="123444" cy="95098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466344" y="3443630"/>
            <a:ext cx="571500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66344" y="3653028"/>
            <a:ext cx="571500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Shape 39"/>
          <p:cNvSpPr/>
          <p:nvPr/>
        </p:nvSpPr>
        <p:spPr>
          <a:xfrm>
            <a:off x="1029614" y="3443630"/>
            <a:ext cx="620054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1029614" y="3653028"/>
            <a:ext cx="6200546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41"/>
          <p:cNvSpPr/>
          <p:nvPr/>
        </p:nvSpPr>
        <p:spPr>
          <a:xfrm>
            <a:off x="7221931" y="3443630"/>
            <a:ext cx="3610051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7221931" y="3653028"/>
            <a:ext cx="3610051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3"/>
          <p:cNvSpPr/>
          <p:nvPr/>
        </p:nvSpPr>
        <p:spPr>
          <a:xfrm>
            <a:off x="10824667" y="3443630"/>
            <a:ext cx="90525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10824667" y="3653028"/>
            <a:ext cx="905256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Shape 45"/>
          <p:cNvSpPr/>
          <p:nvPr/>
        </p:nvSpPr>
        <p:spPr>
          <a:xfrm>
            <a:off x="466344" y="395843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1029614" y="395843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1124712" y="3719779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1124712" y="3719779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7221931" y="3958438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10824667" y="3958438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466344" y="423915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1029614" y="423915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1124712" y="4005072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1124712" y="4005072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7221931" y="4239158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10824667" y="4239158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1124712" y="4291279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1124712" y="4291279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457200" y="4828946"/>
            <a:ext cx="11277295" cy="1800454"/>
          </a:xfrm>
          <a:prstGeom prst="roundRect">
            <a:avLst>
              <a:gd name="adj" fmla="val 21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66344" y="4839005"/>
            <a:ext cx="11259007" cy="267005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466344" y="5096866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580644" y="4881982"/>
            <a:ext cx="171907" cy="171907"/>
          </a:xfrm>
          <a:prstGeom prst="roundRect">
            <a:avLst>
              <a:gd name="adj" fmla="val 118203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9" y="4919472"/>
            <a:ext cx="95098" cy="95098"/>
          </a:xfrm>
          <a:prstGeom prst="rect">
            <a:avLst/>
          </a:prstGeom>
        </p:spPr>
      </p:pic>
      <p:sp>
        <p:nvSpPr>
          <p:cNvPr id="68" name="Shape 63"/>
          <p:cNvSpPr/>
          <p:nvPr/>
        </p:nvSpPr>
        <p:spPr>
          <a:xfrm>
            <a:off x="466344" y="5319979"/>
            <a:ext cx="571500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9" name="Shape 64"/>
          <p:cNvSpPr/>
          <p:nvPr/>
        </p:nvSpPr>
        <p:spPr>
          <a:xfrm>
            <a:off x="466344" y="5529377"/>
            <a:ext cx="571500" cy="192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0" name="Shape 65"/>
          <p:cNvSpPr/>
          <p:nvPr/>
        </p:nvSpPr>
        <p:spPr>
          <a:xfrm>
            <a:off x="1029614" y="5319979"/>
            <a:ext cx="620054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1" name="Shape 66"/>
          <p:cNvSpPr/>
          <p:nvPr/>
        </p:nvSpPr>
        <p:spPr>
          <a:xfrm>
            <a:off x="1029614" y="5529377"/>
            <a:ext cx="6200546" cy="192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Shape 67"/>
          <p:cNvSpPr/>
          <p:nvPr/>
        </p:nvSpPr>
        <p:spPr>
          <a:xfrm>
            <a:off x="7221931" y="5319979"/>
            <a:ext cx="3610051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3" name="Shape 68"/>
          <p:cNvSpPr/>
          <p:nvPr/>
        </p:nvSpPr>
        <p:spPr>
          <a:xfrm>
            <a:off x="7221931" y="5529377"/>
            <a:ext cx="3610051" cy="192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4" name="Shape 69"/>
          <p:cNvSpPr/>
          <p:nvPr/>
        </p:nvSpPr>
        <p:spPr>
          <a:xfrm>
            <a:off x="10824667" y="5319979"/>
            <a:ext cx="905256" cy="2286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5" name="Shape 70"/>
          <p:cNvSpPr/>
          <p:nvPr/>
        </p:nvSpPr>
        <p:spPr>
          <a:xfrm>
            <a:off x="10824667" y="5529377"/>
            <a:ext cx="905256" cy="1920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Shape 71"/>
          <p:cNvSpPr/>
          <p:nvPr/>
        </p:nvSpPr>
        <p:spPr>
          <a:xfrm>
            <a:off x="466344" y="5834786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7" name="Shape 72"/>
          <p:cNvSpPr/>
          <p:nvPr/>
        </p:nvSpPr>
        <p:spPr>
          <a:xfrm>
            <a:off x="1029614" y="5834786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8" name="Shape 73"/>
          <p:cNvSpPr/>
          <p:nvPr/>
        </p:nvSpPr>
        <p:spPr>
          <a:xfrm>
            <a:off x="1124712" y="5596128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9" name="Shape 74"/>
          <p:cNvSpPr/>
          <p:nvPr/>
        </p:nvSpPr>
        <p:spPr>
          <a:xfrm>
            <a:off x="1124712" y="5596128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0" name="Shape 75"/>
          <p:cNvSpPr/>
          <p:nvPr/>
        </p:nvSpPr>
        <p:spPr>
          <a:xfrm>
            <a:off x="7221931" y="5834786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1" name="Shape 76"/>
          <p:cNvSpPr/>
          <p:nvPr/>
        </p:nvSpPr>
        <p:spPr>
          <a:xfrm>
            <a:off x="10824667" y="5834786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466344" y="6115507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3" name="Shape 78"/>
          <p:cNvSpPr/>
          <p:nvPr/>
        </p:nvSpPr>
        <p:spPr>
          <a:xfrm>
            <a:off x="1029614" y="6115507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4" name="Shape 79"/>
          <p:cNvSpPr/>
          <p:nvPr/>
        </p:nvSpPr>
        <p:spPr>
          <a:xfrm>
            <a:off x="1124712" y="5881421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5" name="Shape 80"/>
          <p:cNvSpPr/>
          <p:nvPr/>
        </p:nvSpPr>
        <p:spPr>
          <a:xfrm>
            <a:off x="1124712" y="5881421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6" name="Shape 81"/>
          <p:cNvSpPr/>
          <p:nvPr/>
        </p:nvSpPr>
        <p:spPr>
          <a:xfrm>
            <a:off x="7221931" y="6115507"/>
            <a:ext cx="36100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7" name="Shape 82"/>
          <p:cNvSpPr/>
          <p:nvPr/>
        </p:nvSpPr>
        <p:spPr>
          <a:xfrm>
            <a:off x="10824667" y="6115507"/>
            <a:ext cx="9052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8" name="Shape 83"/>
          <p:cNvSpPr/>
          <p:nvPr/>
        </p:nvSpPr>
        <p:spPr>
          <a:xfrm>
            <a:off x="1124712" y="6167628"/>
            <a:ext cx="6010351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9" name="Shape 84"/>
          <p:cNvSpPr/>
          <p:nvPr/>
        </p:nvSpPr>
        <p:spPr>
          <a:xfrm>
            <a:off x="1124712" y="6167628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0" name="Text 85"/>
          <p:cNvSpPr txBox="1"/>
          <p:nvPr/>
        </p:nvSpPr>
        <p:spPr>
          <a:xfrm>
            <a:off x="828446" y="1138428"/>
            <a:ext cx="2695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QUERIES (SEQUENCE/TIMING)</a:t>
            </a:r>
            <a:endParaRPr lang="en-US" sz="900" dirty="0"/>
          </a:p>
        </p:txBody>
      </p:sp>
      <p:sp>
        <p:nvSpPr>
          <p:cNvPr id="91" name="Text 86"/>
          <p:cNvSpPr txBox="1"/>
          <p:nvPr/>
        </p:nvSpPr>
        <p:spPr>
          <a:xfrm>
            <a:off x="562356" y="1621231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92" name="Text 87"/>
          <p:cNvSpPr txBox="1"/>
          <p:nvPr/>
        </p:nvSpPr>
        <p:spPr>
          <a:xfrm>
            <a:off x="1124712" y="1621231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93" name="Text 88"/>
          <p:cNvSpPr txBox="1"/>
          <p:nvPr/>
        </p:nvSpPr>
        <p:spPr>
          <a:xfrm>
            <a:off x="7317029" y="1621231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94" name="Text 89"/>
          <p:cNvSpPr txBox="1"/>
          <p:nvPr/>
        </p:nvSpPr>
        <p:spPr>
          <a:xfrm>
            <a:off x="10919765" y="1621231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95" name="Text 90"/>
          <p:cNvSpPr txBox="1"/>
          <p:nvPr/>
        </p:nvSpPr>
        <p:spPr>
          <a:xfrm>
            <a:off x="729691" y="1880921"/>
            <a:ext cx="1143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96" name="Text 91"/>
          <p:cNvSpPr txBox="1"/>
          <p:nvPr/>
        </p:nvSpPr>
        <p:spPr>
          <a:xfrm>
            <a:off x="1219810" y="1880921"/>
            <a:ext cx="4381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Apple introduce the AirTag before or after the launch of the 5th generation iPad Pro?"</a:t>
            </a:r>
            <a:endParaRPr lang="en-US" sz="800" dirty="0"/>
          </a:p>
        </p:txBody>
      </p:sp>
      <p:sp>
        <p:nvSpPr>
          <p:cNvPr id="97" name="Text 92"/>
          <p:cNvSpPr txBox="1"/>
          <p:nvPr/>
        </p:nvSpPr>
        <p:spPr>
          <a:xfrm>
            <a:off x="7317029" y="1880921"/>
            <a:ext cx="13057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Press Releases 8-K Filings</a:t>
            </a:r>
            <a:endParaRPr lang="en-US" sz="800" dirty="0"/>
          </a:p>
        </p:txBody>
      </p:sp>
      <p:sp>
        <p:nvSpPr>
          <p:cNvPr id="98" name="Text 93"/>
          <p:cNvSpPr txBox="1"/>
          <p:nvPr/>
        </p:nvSpPr>
        <p:spPr>
          <a:xfrm>
            <a:off x="11248034" y="1880921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99" name="Text 94"/>
          <p:cNvSpPr txBox="1"/>
          <p:nvPr/>
        </p:nvSpPr>
        <p:spPr>
          <a:xfrm>
            <a:off x="719633" y="2167128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00" name="Text 95"/>
          <p:cNvSpPr txBox="1"/>
          <p:nvPr/>
        </p:nvSpPr>
        <p:spPr>
          <a:xfrm>
            <a:off x="1219810" y="2167128"/>
            <a:ext cx="50776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"Was the Citrix leveraged loan amendment filed before or after Moody's downgraded the facility to Caa1?"</a:t>
            </a:r>
            <a:endParaRPr lang="en-US" sz="800" dirty="0"/>
          </a:p>
        </p:txBody>
      </p:sp>
      <p:sp>
        <p:nvSpPr>
          <p:cNvPr id="101" name="Text 96"/>
          <p:cNvSpPr txBox="1"/>
          <p:nvPr/>
        </p:nvSpPr>
        <p:spPr>
          <a:xfrm>
            <a:off x="7317029" y="2167128"/>
            <a:ext cx="16386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Credit Agreement Rating Report</a:t>
            </a:r>
            <a:endParaRPr lang="en-US" sz="800" dirty="0"/>
          </a:p>
        </p:txBody>
      </p:sp>
      <p:sp>
        <p:nvSpPr>
          <p:cNvPr id="102" name="Text 97"/>
          <p:cNvSpPr txBox="1"/>
          <p:nvPr/>
        </p:nvSpPr>
        <p:spPr>
          <a:xfrm>
            <a:off x="11248034" y="2167128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03" name="Text 98"/>
          <p:cNvSpPr txBox="1"/>
          <p:nvPr/>
        </p:nvSpPr>
        <p:spPr>
          <a:xfrm>
            <a:off x="719633" y="2452421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4" name="Text 99"/>
          <p:cNvSpPr txBox="1"/>
          <p:nvPr/>
        </p:nvSpPr>
        <p:spPr>
          <a:xfrm>
            <a:off x="1219810" y="2452421"/>
            <a:ext cx="50008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SVB Financial disclose liquidity concerns in their 10-K before or after the stock price dropped 60%?"</a:t>
            </a:r>
            <a:endParaRPr lang="en-US" sz="800" dirty="0"/>
          </a:p>
        </p:txBody>
      </p:sp>
      <p:sp>
        <p:nvSpPr>
          <p:cNvPr id="105" name="Text 100"/>
          <p:cNvSpPr txBox="1"/>
          <p:nvPr/>
        </p:nvSpPr>
        <p:spPr>
          <a:xfrm>
            <a:off x="7317029" y="2452421"/>
            <a:ext cx="11914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 Market Data</a:t>
            </a:r>
            <a:endParaRPr lang="en-US" sz="800" dirty="0"/>
          </a:p>
        </p:txBody>
      </p:sp>
      <p:sp>
        <p:nvSpPr>
          <p:cNvPr id="106" name="Text 101"/>
          <p:cNvSpPr txBox="1"/>
          <p:nvPr/>
        </p:nvSpPr>
        <p:spPr>
          <a:xfrm>
            <a:off x="11248034" y="2452421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07" name="Text 102"/>
          <p:cNvSpPr txBox="1"/>
          <p:nvPr/>
        </p:nvSpPr>
        <p:spPr>
          <a:xfrm>
            <a:off x="828446" y="3014777"/>
            <a:ext cx="3162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 QUERIES (CROSS-ENTITY METRICS)</a:t>
            </a:r>
            <a:endParaRPr lang="en-US" sz="900" dirty="0"/>
          </a:p>
        </p:txBody>
      </p:sp>
      <p:sp>
        <p:nvSpPr>
          <p:cNvPr id="108" name="Text 103"/>
          <p:cNvSpPr txBox="1"/>
          <p:nvPr/>
        </p:nvSpPr>
        <p:spPr>
          <a:xfrm>
            <a:off x="562356" y="3498494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09" name="Text 104"/>
          <p:cNvSpPr txBox="1"/>
          <p:nvPr/>
        </p:nvSpPr>
        <p:spPr>
          <a:xfrm>
            <a:off x="1124712" y="3498494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10" name="Text 105"/>
          <p:cNvSpPr txBox="1"/>
          <p:nvPr/>
        </p:nvSpPr>
        <p:spPr>
          <a:xfrm>
            <a:off x="7317029" y="3498494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11" name="Text 106"/>
          <p:cNvSpPr txBox="1"/>
          <p:nvPr/>
        </p:nvSpPr>
        <p:spPr>
          <a:xfrm>
            <a:off x="10919765" y="3498494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12" name="Text 107"/>
          <p:cNvSpPr txBox="1"/>
          <p:nvPr/>
        </p:nvSpPr>
        <p:spPr>
          <a:xfrm>
            <a:off x="715061" y="3757270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13" name="Text 108"/>
          <p:cNvSpPr txBox="1"/>
          <p:nvPr/>
        </p:nvSpPr>
        <p:spPr>
          <a:xfrm>
            <a:off x="1219810" y="3757270"/>
            <a:ext cx="31629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Netflix or Google report higher revenue for fiscal year 2023?"</a:t>
            </a:r>
            <a:endParaRPr lang="en-US" sz="800" dirty="0"/>
          </a:p>
        </p:txBody>
      </p:sp>
      <p:sp>
        <p:nvSpPr>
          <p:cNvPr id="114" name="Text 109"/>
          <p:cNvSpPr txBox="1"/>
          <p:nvPr/>
        </p:nvSpPr>
        <p:spPr>
          <a:xfrm>
            <a:off x="7317029" y="3757270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 (2)</a:t>
            </a:r>
            <a:endParaRPr lang="en-US" sz="800" dirty="0"/>
          </a:p>
        </p:txBody>
      </p:sp>
      <p:sp>
        <p:nvSpPr>
          <p:cNvPr id="115" name="Text 110"/>
          <p:cNvSpPr txBox="1"/>
          <p:nvPr/>
        </p:nvSpPr>
        <p:spPr>
          <a:xfrm>
            <a:off x="11248034" y="3757270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16" name="Text 111"/>
          <p:cNvSpPr txBox="1"/>
          <p:nvPr/>
        </p:nvSpPr>
        <p:spPr>
          <a:xfrm>
            <a:off x="719633" y="4043477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117" name="Text 112"/>
          <p:cNvSpPr txBox="1"/>
          <p:nvPr/>
        </p:nvSpPr>
        <p:spPr>
          <a:xfrm>
            <a:off x="1219810" y="4043477"/>
            <a:ext cx="45912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CLO manager had a higher AAA tranche subordination level in 2024: Carlyle or Apollo?"</a:t>
            </a:r>
            <a:endParaRPr lang="en-US" sz="800" dirty="0"/>
          </a:p>
        </p:txBody>
      </p:sp>
      <p:sp>
        <p:nvSpPr>
          <p:cNvPr id="118" name="Text 113"/>
          <p:cNvSpPr txBox="1"/>
          <p:nvPr/>
        </p:nvSpPr>
        <p:spPr>
          <a:xfrm>
            <a:off x="7317029" y="4043477"/>
            <a:ext cx="1600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Indentures Presale Reports</a:t>
            </a:r>
            <a:endParaRPr lang="en-US" sz="800" dirty="0"/>
          </a:p>
        </p:txBody>
      </p:sp>
      <p:sp>
        <p:nvSpPr>
          <p:cNvPr id="119" name="Text 114"/>
          <p:cNvSpPr txBox="1"/>
          <p:nvPr/>
        </p:nvSpPr>
        <p:spPr>
          <a:xfrm>
            <a:off x="11248034" y="4043477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5"/>
          <p:cNvSpPr txBox="1"/>
          <p:nvPr/>
        </p:nvSpPr>
        <p:spPr>
          <a:xfrm>
            <a:off x="717804" y="4328770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800" dirty="0"/>
          </a:p>
        </p:txBody>
      </p:sp>
      <p:sp>
        <p:nvSpPr>
          <p:cNvPr id="121" name="Text 116"/>
          <p:cNvSpPr txBox="1"/>
          <p:nvPr/>
        </p:nvSpPr>
        <p:spPr>
          <a:xfrm>
            <a:off x="1219810" y="4328770"/>
            <a:ext cx="51151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"Compare the debt service coverage ratio for the largest loan in BMARK 2024-V6 versus GSMS 2024-GC60"</a:t>
            </a:r>
            <a:endParaRPr lang="en-US" sz="800" dirty="0"/>
          </a:p>
        </p:txBody>
      </p:sp>
      <p:sp>
        <p:nvSpPr>
          <p:cNvPr id="122" name="Text 117"/>
          <p:cNvSpPr txBox="1"/>
          <p:nvPr/>
        </p:nvSpPr>
        <p:spPr>
          <a:xfrm>
            <a:off x="7317029" y="4328770"/>
            <a:ext cx="10671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Prospectus (2)</a:t>
            </a:r>
            <a:endParaRPr lang="en-US" sz="800" dirty="0"/>
          </a:p>
        </p:txBody>
      </p:sp>
      <p:sp>
        <p:nvSpPr>
          <p:cNvPr id="123" name="Text 118"/>
          <p:cNvSpPr txBox="1"/>
          <p:nvPr/>
        </p:nvSpPr>
        <p:spPr>
          <a:xfrm>
            <a:off x="11248034" y="4328770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24" name="Text 119"/>
          <p:cNvSpPr txBox="1"/>
          <p:nvPr/>
        </p:nvSpPr>
        <p:spPr>
          <a:xfrm>
            <a:off x="828446" y="4891126"/>
            <a:ext cx="35341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 QUERIES (DOCUMENT CONTENT ANALYSIS)</a:t>
            </a:r>
            <a:endParaRPr lang="en-US" sz="900" dirty="0"/>
          </a:p>
        </p:txBody>
      </p:sp>
      <p:sp>
        <p:nvSpPr>
          <p:cNvPr id="125" name="Text 120"/>
          <p:cNvSpPr txBox="1"/>
          <p:nvPr/>
        </p:nvSpPr>
        <p:spPr>
          <a:xfrm>
            <a:off x="562356" y="5374843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26" name="Text 121"/>
          <p:cNvSpPr txBox="1"/>
          <p:nvPr/>
        </p:nvSpPr>
        <p:spPr>
          <a:xfrm>
            <a:off x="1124712" y="5374843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27" name="Text 122"/>
          <p:cNvSpPr txBox="1"/>
          <p:nvPr/>
        </p:nvSpPr>
        <p:spPr>
          <a:xfrm>
            <a:off x="7317029" y="5374843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28" name="Text 123"/>
          <p:cNvSpPr txBox="1"/>
          <p:nvPr/>
        </p:nvSpPr>
        <p:spPr>
          <a:xfrm>
            <a:off x="10919765" y="5374843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29" name="Text 124"/>
          <p:cNvSpPr txBox="1"/>
          <p:nvPr/>
        </p:nvSpPr>
        <p:spPr>
          <a:xfrm>
            <a:off x="718718" y="5633618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800" dirty="0"/>
          </a:p>
        </p:txBody>
      </p:sp>
      <p:sp>
        <p:nvSpPr>
          <p:cNvPr id="130" name="Text 125"/>
          <p:cNvSpPr txBox="1"/>
          <p:nvPr/>
        </p:nvSpPr>
        <p:spPr>
          <a:xfrm>
            <a:off x="1219810" y="5633618"/>
            <a:ext cx="51060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report discusses the supply chain risk of Apple, the 2019 annual report or the 2020 annual report?"</a:t>
            </a:r>
            <a:endParaRPr lang="en-US" sz="800" dirty="0"/>
          </a:p>
        </p:txBody>
      </p:sp>
      <p:sp>
        <p:nvSpPr>
          <p:cNvPr id="131" name="Text 126"/>
          <p:cNvSpPr txBox="1"/>
          <p:nvPr/>
        </p:nvSpPr>
        <p:spPr>
          <a:xfrm>
            <a:off x="7317029" y="5633618"/>
            <a:ext cx="762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 (2)</a:t>
            </a:r>
            <a:endParaRPr lang="en-US" sz="800" dirty="0"/>
          </a:p>
        </p:txBody>
      </p:sp>
      <p:sp>
        <p:nvSpPr>
          <p:cNvPr id="132" name="Text 127"/>
          <p:cNvSpPr txBox="1"/>
          <p:nvPr/>
        </p:nvSpPr>
        <p:spPr>
          <a:xfrm>
            <a:off x="11248034" y="5633618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33" name="Text 128"/>
          <p:cNvSpPr txBox="1"/>
          <p:nvPr/>
        </p:nvSpPr>
        <p:spPr>
          <a:xfrm>
            <a:off x="716890" y="5919826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800" dirty="0"/>
          </a:p>
        </p:txBody>
      </p:sp>
      <p:sp>
        <p:nvSpPr>
          <p:cNvPr id="134" name="Text 129"/>
          <p:cNvSpPr txBox="1"/>
          <p:nvPr/>
        </p:nvSpPr>
        <p:spPr>
          <a:xfrm>
            <a:off x="1219810" y="5919826"/>
            <a:ext cx="51627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Fitch or KBRA provide more detailed loss severity assumptions in their CMBS presale methodology?"</a:t>
            </a:r>
            <a:endParaRPr lang="en-US" sz="800" dirty="0"/>
          </a:p>
        </p:txBody>
      </p:sp>
      <p:sp>
        <p:nvSpPr>
          <p:cNvPr id="135" name="Text 130"/>
          <p:cNvSpPr txBox="1"/>
          <p:nvPr/>
        </p:nvSpPr>
        <p:spPr>
          <a:xfrm>
            <a:off x="7317029" y="5919826"/>
            <a:ext cx="1143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 Methodologies</a:t>
            </a:r>
            <a:endParaRPr lang="en-US" sz="800" dirty="0"/>
          </a:p>
        </p:txBody>
      </p:sp>
      <p:sp>
        <p:nvSpPr>
          <p:cNvPr id="136" name="Text 131"/>
          <p:cNvSpPr txBox="1"/>
          <p:nvPr/>
        </p:nvSpPr>
        <p:spPr>
          <a:xfrm>
            <a:off x="11248034" y="5919826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37" name="Text 132"/>
          <p:cNvSpPr txBox="1"/>
          <p:nvPr/>
        </p:nvSpPr>
        <p:spPr>
          <a:xfrm>
            <a:off x="717804" y="6205118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1219810" y="6205118"/>
            <a:ext cx="558241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quarter's 10-Q first disclosed the material impact of chip shortages on Ford's production: Q1, Q2, or Q3 2021?"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7317029" y="6205118"/>
            <a:ext cx="7717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10-Q Filings (3)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11248034" y="6205118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10755173" y="636239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42" name="Text 137"/>
          <p:cNvSpPr txBox="1"/>
          <p:nvPr/>
        </p:nvSpPr>
        <p:spPr>
          <a:xfrm>
            <a:off x="11223346" y="6562649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2953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INTERMEDIATE MULTI-HOP QUERY TYPES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Entity &amp; Calculation Patterns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755173" y="60990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24260" y="809244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80744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390802"/>
            <a:ext cx="11259007" cy="390449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1772107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049" y="1466698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80" b="-80"/>
          <a:stretch/>
        </p:blipFill>
        <p:spPr>
          <a:xfrm>
            <a:off x="662026" y="1524305"/>
            <a:ext cx="142646" cy="1143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66344" y="1781251"/>
            <a:ext cx="571500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" y="2066544"/>
            <a:ext cx="571500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9614" y="1781251"/>
            <a:ext cx="620054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29614" y="2066544"/>
            <a:ext cx="620054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Shape 17"/>
          <p:cNvSpPr/>
          <p:nvPr/>
        </p:nvSpPr>
        <p:spPr>
          <a:xfrm>
            <a:off x="7221931" y="1781251"/>
            <a:ext cx="3381451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221931" y="2066544"/>
            <a:ext cx="3381451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19"/>
          <p:cNvSpPr/>
          <p:nvPr/>
        </p:nvSpPr>
        <p:spPr>
          <a:xfrm>
            <a:off x="10599725" y="1781251"/>
            <a:ext cx="113385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599725" y="2066544"/>
            <a:ext cx="113385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Shape 21"/>
          <p:cNvSpPr/>
          <p:nvPr/>
        </p:nvSpPr>
        <p:spPr>
          <a:xfrm>
            <a:off x="466344" y="2514600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29614" y="2514600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43914" y="2171700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43914" y="2171700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221931" y="2514600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599725" y="2514600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" y="295259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029614" y="295259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143914" y="2605126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143914" y="2605126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221931" y="2952598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599725" y="2952598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143914" y="3038551"/>
            <a:ext cx="5971946" cy="428854"/>
          </a:xfrm>
          <a:prstGeom prst="roundRect">
            <a:avLst>
              <a:gd name="adj" fmla="val 18953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43914" y="3038551"/>
            <a:ext cx="19202" cy="4288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3130906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6344" y="3140050"/>
            <a:ext cx="11259007" cy="390449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66344" y="3521354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19049" y="3215945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690372" y="3273552"/>
            <a:ext cx="85954" cy="1143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466344" y="3530498"/>
            <a:ext cx="571500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466344" y="3815791"/>
            <a:ext cx="571500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5" name="Shape 41"/>
          <p:cNvSpPr/>
          <p:nvPr/>
        </p:nvSpPr>
        <p:spPr>
          <a:xfrm>
            <a:off x="1029614" y="3530498"/>
            <a:ext cx="620054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1029614" y="3815791"/>
            <a:ext cx="6200546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7" name="Shape 43"/>
          <p:cNvSpPr/>
          <p:nvPr/>
        </p:nvSpPr>
        <p:spPr>
          <a:xfrm>
            <a:off x="7221931" y="3530498"/>
            <a:ext cx="3381451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7221931" y="3815791"/>
            <a:ext cx="3381451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9" name="Shape 45"/>
          <p:cNvSpPr/>
          <p:nvPr/>
        </p:nvSpPr>
        <p:spPr>
          <a:xfrm>
            <a:off x="10599725" y="3530498"/>
            <a:ext cx="113385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10599725" y="3815791"/>
            <a:ext cx="1133856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51" name="Shape 47"/>
          <p:cNvSpPr/>
          <p:nvPr/>
        </p:nvSpPr>
        <p:spPr>
          <a:xfrm>
            <a:off x="466344" y="4263847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1029614" y="4263847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1143914" y="3920947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1143914" y="3920947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7221931" y="4263847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10599725" y="4263847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466344" y="4702759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1029614" y="4702759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1143914" y="4354373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1143914" y="4354373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7221931" y="4702759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10599725" y="4702759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1143914" y="4787798"/>
            <a:ext cx="5971946" cy="428854"/>
          </a:xfrm>
          <a:prstGeom prst="roundRect">
            <a:avLst>
              <a:gd name="adj" fmla="val 18953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1143914" y="4787798"/>
            <a:ext cx="19202" cy="4288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457200" y="4880153"/>
            <a:ext cx="11277295" cy="1600200"/>
          </a:xfrm>
          <a:prstGeom prst="roundRect">
            <a:avLst>
              <a:gd name="adj" fmla="val 408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66344" y="4889297"/>
            <a:ext cx="11259007" cy="390449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67" name="Shape 63"/>
          <p:cNvSpPr/>
          <p:nvPr/>
        </p:nvSpPr>
        <p:spPr>
          <a:xfrm>
            <a:off x="466344" y="5270602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8" name="Shape 64"/>
          <p:cNvSpPr/>
          <p:nvPr/>
        </p:nvSpPr>
        <p:spPr>
          <a:xfrm>
            <a:off x="619049" y="4966106"/>
            <a:ext cx="228600" cy="228600"/>
          </a:xfrm>
          <a:prstGeom prst="roundRect">
            <a:avLst>
              <a:gd name="adj" fmla="val 100000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666598" y="5022799"/>
            <a:ext cx="133502" cy="114300"/>
          </a:xfrm>
          <a:prstGeom prst="rect">
            <a:avLst/>
          </a:prstGeom>
        </p:spPr>
      </p:pic>
      <p:sp>
        <p:nvSpPr>
          <p:cNvPr id="70" name="Shape 65"/>
          <p:cNvSpPr/>
          <p:nvPr/>
        </p:nvSpPr>
        <p:spPr>
          <a:xfrm>
            <a:off x="466344" y="5279746"/>
            <a:ext cx="571500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1" name="Shape 66"/>
          <p:cNvSpPr/>
          <p:nvPr/>
        </p:nvSpPr>
        <p:spPr>
          <a:xfrm>
            <a:off x="466344" y="5565038"/>
            <a:ext cx="571500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2" name="Shape 67"/>
          <p:cNvSpPr/>
          <p:nvPr/>
        </p:nvSpPr>
        <p:spPr>
          <a:xfrm>
            <a:off x="1029614" y="5279746"/>
            <a:ext cx="620054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3" name="Shape 68"/>
          <p:cNvSpPr/>
          <p:nvPr/>
        </p:nvSpPr>
        <p:spPr>
          <a:xfrm>
            <a:off x="1029614" y="5565038"/>
            <a:ext cx="6200546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4" name="Shape 69"/>
          <p:cNvSpPr/>
          <p:nvPr/>
        </p:nvSpPr>
        <p:spPr>
          <a:xfrm>
            <a:off x="7221931" y="5279746"/>
            <a:ext cx="3381451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5" name="Shape 70"/>
          <p:cNvSpPr/>
          <p:nvPr/>
        </p:nvSpPr>
        <p:spPr>
          <a:xfrm>
            <a:off x="7221931" y="5565038"/>
            <a:ext cx="3381451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6" name="Shape 71"/>
          <p:cNvSpPr/>
          <p:nvPr/>
        </p:nvSpPr>
        <p:spPr>
          <a:xfrm>
            <a:off x="10599725" y="5279746"/>
            <a:ext cx="1133856" cy="3044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7" name="Shape 72"/>
          <p:cNvSpPr/>
          <p:nvPr/>
        </p:nvSpPr>
        <p:spPr>
          <a:xfrm>
            <a:off x="10599725" y="5565038"/>
            <a:ext cx="1133856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8" name="Shape 73"/>
          <p:cNvSpPr/>
          <p:nvPr/>
        </p:nvSpPr>
        <p:spPr>
          <a:xfrm>
            <a:off x="466344" y="6014009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9" name="Shape 74"/>
          <p:cNvSpPr/>
          <p:nvPr/>
        </p:nvSpPr>
        <p:spPr>
          <a:xfrm>
            <a:off x="1029614" y="6014009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0" name="Shape 75"/>
          <p:cNvSpPr/>
          <p:nvPr/>
        </p:nvSpPr>
        <p:spPr>
          <a:xfrm>
            <a:off x="1143914" y="5670194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1" name="Shape 76"/>
          <p:cNvSpPr/>
          <p:nvPr/>
        </p:nvSpPr>
        <p:spPr>
          <a:xfrm>
            <a:off x="1143914" y="5670194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7221931" y="6014009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3" name="Shape 78"/>
          <p:cNvSpPr/>
          <p:nvPr/>
        </p:nvSpPr>
        <p:spPr>
          <a:xfrm>
            <a:off x="10599725" y="6014009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4" name="Shape 79"/>
          <p:cNvSpPr/>
          <p:nvPr/>
        </p:nvSpPr>
        <p:spPr>
          <a:xfrm>
            <a:off x="466344" y="6452006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5" name="Shape 80"/>
          <p:cNvSpPr/>
          <p:nvPr/>
        </p:nvSpPr>
        <p:spPr>
          <a:xfrm>
            <a:off x="1029614" y="6452006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6" name="Shape 81"/>
          <p:cNvSpPr/>
          <p:nvPr/>
        </p:nvSpPr>
        <p:spPr>
          <a:xfrm>
            <a:off x="1143914" y="6103620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7" name="Shape 82"/>
          <p:cNvSpPr/>
          <p:nvPr/>
        </p:nvSpPr>
        <p:spPr>
          <a:xfrm>
            <a:off x="1143914" y="6103620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8" name="Shape 83"/>
          <p:cNvSpPr/>
          <p:nvPr/>
        </p:nvSpPr>
        <p:spPr>
          <a:xfrm>
            <a:off x="7221931" y="6452006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9" name="Shape 84"/>
          <p:cNvSpPr/>
          <p:nvPr/>
        </p:nvSpPr>
        <p:spPr>
          <a:xfrm>
            <a:off x="10599725" y="6452006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0" name="Shape 85"/>
          <p:cNvSpPr/>
          <p:nvPr/>
        </p:nvSpPr>
        <p:spPr>
          <a:xfrm>
            <a:off x="1143914" y="6537046"/>
            <a:ext cx="5971946" cy="276149"/>
          </a:xfrm>
          <a:prstGeom prst="roundRect">
            <a:avLst>
              <a:gd name="adj" fmla="val 4567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1" name="Shape 86"/>
          <p:cNvSpPr/>
          <p:nvPr/>
        </p:nvSpPr>
        <p:spPr>
          <a:xfrm>
            <a:off x="1143914" y="6537046"/>
            <a:ext cx="19202" cy="27614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2" name="Text 87"/>
          <p:cNvSpPr txBox="1"/>
          <p:nvPr/>
        </p:nvSpPr>
        <p:spPr>
          <a:xfrm>
            <a:off x="961949" y="1495044"/>
            <a:ext cx="2796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QUERIES (ENTITY CHAINING)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580644" y="1867205"/>
            <a:ext cx="152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94" name="Text 89"/>
          <p:cNvSpPr txBox="1"/>
          <p:nvPr/>
        </p:nvSpPr>
        <p:spPr>
          <a:xfrm>
            <a:off x="1143914" y="1867205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95" name="Text 90"/>
          <p:cNvSpPr txBox="1"/>
          <p:nvPr/>
        </p:nvSpPr>
        <p:spPr>
          <a:xfrm>
            <a:off x="7336231" y="1867205"/>
            <a:ext cx="10863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96" name="Text 91"/>
          <p:cNvSpPr txBox="1"/>
          <p:nvPr/>
        </p:nvSpPr>
        <p:spPr>
          <a:xfrm>
            <a:off x="10714025" y="1867205"/>
            <a:ext cx="3913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97" name="Text 92"/>
          <p:cNvSpPr txBox="1"/>
          <p:nvPr/>
        </p:nvSpPr>
        <p:spPr>
          <a:xfrm>
            <a:off x="692201" y="2180844"/>
            <a:ext cx="192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00" dirty="0"/>
          </a:p>
        </p:txBody>
      </p:sp>
      <p:sp>
        <p:nvSpPr>
          <p:cNvPr id="98" name="Text 93"/>
          <p:cNvSpPr txBox="1"/>
          <p:nvPr/>
        </p:nvSpPr>
        <p:spPr>
          <a:xfrm>
            <a:off x="1258214" y="2238451"/>
            <a:ext cx="54607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credit rating of the parent company of the utility that filed Chapter 11 in Texas last month?"</a:t>
            </a:r>
            <a:endParaRPr lang="en-US" sz="800" dirty="0"/>
          </a:p>
        </p:txBody>
      </p:sp>
      <p:sp>
        <p:nvSpPr>
          <p:cNvPr id="99" name="Text 94"/>
          <p:cNvSpPr txBox="1"/>
          <p:nvPr/>
        </p:nvSpPr>
        <p:spPr>
          <a:xfrm>
            <a:off x="7336231" y="2180844"/>
            <a:ext cx="2478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News/8-K Corporate Hierarchy Rating Reports</a:t>
            </a:r>
            <a:endParaRPr lang="en-US" sz="800" dirty="0"/>
          </a:p>
        </p:txBody>
      </p:sp>
      <p:sp>
        <p:nvSpPr>
          <p:cNvPr id="100" name="Text 95"/>
          <p:cNvSpPr txBox="1"/>
          <p:nvPr/>
        </p:nvSpPr>
        <p:spPr>
          <a:xfrm>
            <a:off x="11132820" y="2180844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1" name="Text 96"/>
          <p:cNvSpPr txBox="1"/>
          <p:nvPr/>
        </p:nvSpPr>
        <p:spPr>
          <a:xfrm>
            <a:off x="706831" y="2614270"/>
            <a:ext cx="1645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00" dirty="0"/>
          </a:p>
        </p:txBody>
      </p:sp>
      <p:sp>
        <p:nvSpPr>
          <p:cNvPr id="102" name="Text 97"/>
          <p:cNvSpPr txBox="1"/>
          <p:nvPr/>
        </p:nvSpPr>
        <p:spPr>
          <a:xfrm>
            <a:off x="1258214" y="2671877"/>
            <a:ext cx="54415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"Who is the CFO of the company that acquired Slack, and what was their total compensation in 2023?"</a:t>
            </a:r>
            <a:endParaRPr lang="en-US" sz="800" dirty="0"/>
          </a:p>
        </p:txBody>
      </p:sp>
      <p:sp>
        <p:nvSpPr>
          <p:cNvPr id="103" name="Text 98"/>
          <p:cNvSpPr txBox="1"/>
          <p:nvPr/>
        </p:nvSpPr>
        <p:spPr>
          <a:xfrm>
            <a:off x="7336231" y="2614270"/>
            <a:ext cx="21360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M&amp;A Filings Proxy Statement (DEF 14A)</a:t>
            </a:r>
            <a:endParaRPr lang="en-US" sz="800" dirty="0"/>
          </a:p>
        </p:txBody>
      </p:sp>
      <p:sp>
        <p:nvSpPr>
          <p:cNvPr id="104" name="Text 99"/>
          <p:cNvSpPr txBox="1"/>
          <p:nvPr/>
        </p:nvSpPr>
        <p:spPr>
          <a:xfrm>
            <a:off x="11132820" y="2614270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5" name="Text 100"/>
          <p:cNvSpPr txBox="1"/>
          <p:nvPr/>
        </p:nvSpPr>
        <p:spPr>
          <a:xfrm>
            <a:off x="696773" y="3047695"/>
            <a:ext cx="183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800" dirty="0"/>
          </a:p>
        </p:txBody>
      </p:sp>
      <p:sp>
        <p:nvSpPr>
          <p:cNvPr id="106" name="Text 101"/>
          <p:cNvSpPr txBox="1"/>
          <p:nvPr/>
        </p:nvSpPr>
        <p:spPr>
          <a:xfrm>
            <a:off x="1258214" y="3105302"/>
            <a:ext cx="56135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leverage ratio covenant in the credit agreement of the largest borrower in the Palmer Square CLO 2024-1?"</a:t>
            </a:r>
            <a:endParaRPr lang="en-US" sz="800" dirty="0"/>
          </a:p>
        </p:txBody>
      </p:sp>
      <p:sp>
        <p:nvSpPr>
          <p:cNvPr id="107" name="Text 102"/>
          <p:cNvSpPr txBox="1"/>
          <p:nvPr/>
        </p:nvSpPr>
        <p:spPr>
          <a:xfrm>
            <a:off x="7336231" y="3047695"/>
            <a:ext cx="183154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Indenture Credit Agreement</a:t>
            </a:r>
            <a:endParaRPr lang="en-US" sz="800" dirty="0"/>
          </a:p>
        </p:txBody>
      </p:sp>
      <p:sp>
        <p:nvSpPr>
          <p:cNvPr id="108" name="Text 103"/>
          <p:cNvSpPr txBox="1"/>
          <p:nvPr/>
        </p:nvSpPr>
        <p:spPr>
          <a:xfrm>
            <a:off x="11132820" y="3047695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9" name="Text 104"/>
          <p:cNvSpPr txBox="1"/>
          <p:nvPr/>
        </p:nvSpPr>
        <p:spPr>
          <a:xfrm>
            <a:off x="961949" y="3245206"/>
            <a:ext cx="41294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COMPOSITIONAL QUERIES (MULTI-FACT CALCULATION)</a:t>
            </a:r>
            <a:endParaRPr lang="en-US" sz="1000" dirty="0"/>
          </a:p>
        </p:txBody>
      </p:sp>
      <p:sp>
        <p:nvSpPr>
          <p:cNvPr id="110" name="Text 105"/>
          <p:cNvSpPr txBox="1"/>
          <p:nvPr/>
        </p:nvSpPr>
        <p:spPr>
          <a:xfrm>
            <a:off x="580644" y="3616452"/>
            <a:ext cx="152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11" name="Text 106"/>
          <p:cNvSpPr txBox="1"/>
          <p:nvPr/>
        </p:nvSpPr>
        <p:spPr>
          <a:xfrm>
            <a:off x="1143914" y="3616452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12" name="Text 107"/>
          <p:cNvSpPr txBox="1"/>
          <p:nvPr/>
        </p:nvSpPr>
        <p:spPr>
          <a:xfrm>
            <a:off x="7336231" y="3616452"/>
            <a:ext cx="10863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13" name="Text 108"/>
          <p:cNvSpPr txBox="1"/>
          <p:nvPr/>
        </p:nvSpPr>
        <p:spPr>
          <a:xfrm>
            <a:off x="10714025" y="3616452"/>
            <a:ext cx="3913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14" name="Text 109"/>
          <p:cNvSpPr txBox="1"/>
          <p:nvPr/>
        </p:nvSpPr>
        <p:spPr>
          <a:xfrm>
            <a:off x="696773" y="3931006"/>
            <a:ext cx="183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800" dirty="0"/>
          </a:p>
        </p:txBody>
      </p:sp>
      <p:sp>
        <p:nvSpPr>
          <p:cNvPr id="115" name="Text 110"/>
          <p:cNvSpPr txBox="1"/>
          <p:nvPr/>
        </p:nvSpPr>
        <p:spPr>
          <a:xfrm>
            <a:off x="1258214" y="3987698"/>
            <a:ext cx="50035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EV/EBITDA multiple of the largest SaaS acquisition in North America in Q3 2024?"</a:t>
            </a:r>
            <a:endParaRPr lang="en-US" sz="800" dirty="0"/>
          </a:p>
        </p:txBody>
      </p:sp>
      <p:sp>
        <p:nvSpPr>
          <p:cNvPr id="116" name="Text 111"/>
          <p:cNvSpPr txBox="1"/>
          <p:nvPr/>
        </p:nvSpPr>
        <p:spPr>
          <a:xfrm>
            <a:off x="7336231" y="3931006"/>
            <a:ext cx="20793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M&amp;A Announcements 10-K/8-K Filings</a:t>
            </a:r>
            <a:endParaRPr lang="en-US" sz="800" dirty="0"/>
          </a:p>
        </p:txBody>
      </p:sp>
      <p:sp>
        <p:nvSpPr>
          <p:cNvPr id="117" name="Text 112"/>
          <p:cNvSpPr txBox="1"/>
          <p:nvPr/>
        </p:nvSpPr>
        <p:spPr>
          <a:xfrm>
            <a:off x="11132820" y="3931006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18" name="Text 113"/>
          <p:cNvSpPr txBox="1"/>
          <p:nvPr/>
        </p:nvSpPr>
        <p:spPr>
          <a:xfrm>
            <a:off x="691286" y="4364431"/>
            <a:ext cx="192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800" dirty="0"/>
          </a:p>
        </p:txBody>
      </p:sp>
      <p:sp>
        <p:nvSpPr>
          <p:cNvPr id="119" name="Text 114"/>
          <p:cNvSpPr txBox="1"/>
          <p:nvPr/>
        </p:nvSpPr>
        <p:spPr>
          <a:xfrm>
            <a:off x="1258214" y="4421124"/>
            <a:ext cx="55083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"Calculate the weighted average coupon of the top 5 loans by notional in the CIFC CLO 2024-II portfolio"</a:t>
            </a:r>
            <a:endParaRPr lang="en-US" sz="800" dirty="0"/>
          </a:p>
        </p:txBody>
      </p:sp>
      <p:sp>
        <p:nvSpPr>
          <p:cNvPr id="120" name="Text 115"/>
          <p:cNvSpPr txBox="1"/>
          <p:nvPr/>
        </p:nvSpPr>
        <p:spPr>
          <a:xfrm>
            <a:off x="7336231" y="4364431"/>
            <a:ext cx="18790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Indenture Loan Prospectuses</a:t>
            </a:r>
            <a:endParaRPr lang="en-US" sz="800" dirty="0"/>
          </a:p>
        </p:txBody>
      </p:sp>
      <p:sp>
        <p:nvSpPr>
          <p:cNvPr id="121" name="Text 116"/>
          <p:cNvSpPr txBox="1"/>
          <p:nvPr/>
        </p:nvSpPr>
        <p:spPr>
          <a:xfrm>
            <a:off x="11132820" y="4364431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22" name="Text 117"/>
          <p:cNvSpPr txBox="1"/>
          <p:nvPr/>
        </p:nvSpPr>
        <p:spPr>
          <a:xfrm>
            <a:off x="696773" y="4797857"/>
            <a:ext cx="183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800" dirty="0"/>
          </a:p>
        </p:txBody>
      </p:sp>
      <p:sp>
        <p:nvSpPr>
          <p:cNvPr id="123" name="Text 118"/>
          <p:cNvSpPr txBox="1"/>
          <p:nvPr/>
        </p:nvSpPr>
        <p:spPr>
          <a:xfrm>
            <a:off x="1258214" y="4854550"/>
            <a:ext cx="5708599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implied cap rate for the office property securing the largest loan in JPMCC 2024-CBM based on NOI and appraised value?"</a:t>
            </a:r>
            <a:endParaRPr lang="en-US" sz="800" dirty="0"/>
          </a:p>
        </p:txBody>
      </p:sp>
      <p:sp>
        <p:nvSpPr>
          <p:cNvPr id="124" name="Text 119"/>
          <p:cNvSpPr txBox="1"/>
          <p:nvPr/>
        </p:nvSpPr>
        <p:spPr>
          <a:xfrm>
            <a:off x="7336231" y="4797857"/>
            <a:ext cx="20793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Prospectus Appraisal Summary</a:t>
            </a:r>
            <a:endParaRPr lang="en-US" sz="800" dirty="0"/>
          </a:p>
        </p:txBody>
      </p:sp>
      <p:sp>
        <p:nvSpPr>
          <p:cNvPr id="125" name="Text 120"/>
          <p:cNvSpPr txBox="1"/>
          <p:nvPr/>
        </p:nvSpPr>
        <p:spPr>
          <a:xfrm>
            <a:off x="11132820" y="4797857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26" name="Text 121"/>
          <p:cNvSpPr txBox="1"/>
          <p:nvPr/>
        </p:nvSpPr>
        <p:spPr>
          <a:xfrm>
            <a:off x="961949" y="4994453"/>
            <a:ext cx="40626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CAUSAL / IMPACT QUERIES (CAUSE-EFFECT ANALYSIS)</a:t>
            </a:r>
            <a:endParaRPr lang="en-US" sz="1000" dirty="0"/>
          </a:p>
        </p:txBody>
      </p:sp>
      <p:sp>
        <p:nvSpPr>
          <p:cNvPr id="127" name="Text 122"/>
          <p:cNvSpPr txBox="1"/>
          <p:nvPr/>
        </p:nvSpPr>
        <p:spPr>
          <a:xfrm>
            <a:off x="580644" y="5365699"/>
            <a:ext cx="152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28" name="Text 123"/>
          <p:cNvSpPr txBox="1"/>
          <p:nvPr/>
        </p:nvSpPr>
        <p:spPr>
          <a:xfrm>
            <a:off x="1143914" y="5365699"/>
            <a:ext cx="457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29" name="Text 124"/>
          <p:cNvSpPr txBox="1"/>
          <p:nvPr/>
        </p:nvSpPr>
        <p:spPr>
          <a:xfrm>
            <a:off x="7336231" y="5365699"/>
            <a:ext cx="10863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30" name="Text 125"/>
          <p:cNvSpPr txBox="1"/>
          <p:nvPr/>
        </p:nvSpPr>
        <p:spPr>
          <a:xfrm>
            <a:off x="10714025" y="5365699"/>
            <a:ext cx="3913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31" name="Text 126"/>
          <p:cNvSpPr txBox="1"/>
          <p:nvPr/>
        </p:nvSpPr>
        <p:spPr>
          <a:xfrm>
            <a:off x="694030" y="5680253"/>
            <a:ext cx="192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800" dirty="0"/>
          </a:p>
        </p:txBody>
      </p:sp>
      <p:sp>
        <p:nvSpPr>
          <p:cNvPr id="132" name="Text 127"/>
          <p:cNvSpPr txBox="1"/>
          <p:nvPr/>
        </p:nvSpPr>
        <p:spPr>
          <a:xfrm>
            <a:off x="1258214" y="5736946"/>
            <a:ext cx="56509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did the Boeing 737 MAX grounding impact Spirit AeroSystems' revenue concentration with Boeing?"</a:t>
            </a:r>
            <a:endParaRPr lang="en-US" sz="800" dirty="0"/>
          </a:p>
        </p:txBody>
      </p:sp>
      <p:sp>
        <p:nvSpPr>
          <p:cNvPr id="133" name="Text 128"/>
          <p:cNvSpPr txBox="1"/>
          <p:nvPr/>
        </p:nvSpPr>
        <p:spPr>
          <a:xfrm>
            <a:off x="7336231" y="5680253"/>
            <a:ext cx="2298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 (pre/post) Earnings Transcripts</a:t>
            </a:r>
            <a:endParaRPr lang="en-US" sz="800" dirty="0"/>
          </a:p>
        </p:txBody>
      </p:sp>
      <p:sp>
        <p:nvSpPr>
          <p:cNvPr id="134" name="Text 129"/>
          <p:cNvSpPr txBox="1"/>
          <p:nvPr/>
        </p:nvSpPr>
        <p:spPr>
          <a:xfrm>
            <a:off x="11132820" y="5680253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35" name="Text 130"/>
          <p:cNvSpPr txBox="1"/>
          <p:nvPr/>
        </p:nvSpPr>
        <p:spPr>
          <a:xfrm>
            <a:off x="694944" y="6113678"/>
            <a:ext cx="192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800" dirty="0"/>
          </a:p>
        </p:txBody>
      </p:sp>
      <p:sp>
        <p:nvSpPr>
          <p:cNvPr id="136" name="Text 131"/>
          <p:cNvSpPr txBox="1"/>
          <p:nvPr/>
        </p:nvSpPr>
        <p:spPr>
          <a:xfrm>
            <a:off x="1258214" y="6170371"/>
            <a:ext cx="51846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was the impact on Goldman Sachs' net interest income following the 2023 Fed rate hikes?"</a:t>
            </a:r>
            <a:endParaRPr lang="en-US" sz="800" dirty="0"/>
          </a:p>
        </p:txBody>
      </p:sp>
      <p:sp>
        <p:nvSpPr>
          <p:cNvPr id="137" name="Text 132"/>
          <p:cNvSpPr txBox="1"/>
          <p:nvPr/>
        </p:nvSpPr>
        <p:spPr>
          <a:xfrm>
            <a:off x="7336231" y="6113678"/>
            <a:ext cx="2812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10-K/10-Q Earnings Transcripts Fed Announcements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11132820" y="6113678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693115" y="6547104"/>
            <a:ext cx="1929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1258214" y="6603797"/>
            <a:ext cx="55650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did the new EU AI Act affect Microsoft's risk factor disclosures between 2023 and 2024 10-K filings?"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7336231" y="6547104"/>
            <a:ext cx="21652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Filings (2 years) EU Regulation Text</a:t>
            </a:r>
            <a:endParaRPr lang="en-US" sz="800" dirty="0"/>
          </a:p>
        </p:txBody>
      </p:sp>
      <p:sp>
        <p:nvSpPr>
          <p:cNvPr id="142" name="Text 137"/>
          <p:cNvSpPr txBox="1"/>
          <p:nvPr/>
        </p:nvSpPr>
        <p:spPr>
          <a:xfrm>
            <a:off x="11132820" y="6547104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961949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52805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04495"/>
            <a:ext cx="3258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MULTI-DOCUMENT &amp; FILTERING QUERY TYPES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6402"/>
            <a:ext cx="41202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Advanced Retrieval Patterns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755173" y="457200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14202" y="657454"/>
            <a:ext cx="6245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114654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123798"/>
            <a:ext cx="11259007" cy="333756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1448410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049" y="1181405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" y="1457554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" y="1695298"/>
            <a:ext cx="571500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614" y="1457554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29614" y="1695298"/>
            <a:ext cx="620054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221931" y="1457554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1931" y="1695298"/>
            <a:ext cx="3381451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99725" y="1457554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599725" y="1695298"/>
            <a:ext cx="113385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" y="2034540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29614" y="2034540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914" y="1776679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143914" y="1776679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221931" y="2034540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599725" y="2034540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6344" y="2352751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29614" y="2352751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3914" y="2100377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43914" y="2100377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221931" y="2352751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599725" y="2352751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3914" y="2424074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43914" y="2424074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2978201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" y="2987345"/>
            <a:ext cx="11259007" cy="333756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344" y="3311957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19049" y="3044952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750" b="-1750"/>
          <a:stretch/>
        </p:blipFill>
        <p:spPr>
          <a:xfrm>
            <a:off x="666598" y="3097073"/>
            <a:ext cx="114300" cy="105156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466344" y="3321101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466344" y="3558845"/>
            <a:ext cx="571500" cy="1920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Shape 41"/>
          <p:cNvSpPr/>
          <p:nvPr/>
        </p:nvSpPr>
        <p:spPr>
          <a:xfrm>
            <a:off x="1029614" y="3321101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029614" y="3558845"/>
            <a:ext cx="6200546" cy="1920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3"/>
          <p:cNvSpPr/>
          <p:nvPr/>
        </p:nvSpPr>
        <p:spPr>
          <a:xfrm>
            <a:off x="7221931" y="3321101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221931" y="3558845"/>
            <a:ext cx="3381451" cy="1920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8" name="Shape 45"/>
          <p:cNvSpPr/>
          <p:nvPr/>
        </p:nvSpPr>
        <p:spPr>
          <a:xfrm>
            <a:off x="10599725" y="3321101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10599725" y="3558845"/>
            <a:ext cx="1133856" cy="1920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0" name="Shape 47"/>
          <p:cNvSpPr/>
          <p:nvPr/>
        </p:nvSpPr>
        <p:spPr>
          <a:xfrm>
            <a:off x="466344" y="3898087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1029614" y="3898087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143914" y="3640226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1143914" y="3640226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21931" y="3898087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10599725" y="3898087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466344" y="421629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1029614" y="421629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1143914" y="3963924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143914" y="3963924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221931" y="4216298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10599725" y="4216298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1143914" y="4287622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1143914" y="4287622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457200" y="4841748"/>
            <a:ext cx="11277295" cy="1752905"/>
          </a:xfrm>
          <a:prstGeom prst="roundRect">
            <a:avLst>
              <a:gd name="adj" fmla="val 3402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66344" y="4851806"/>
            <a:ext cx="11259007" cy="333756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466344" y="5176418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19049" y="4908499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170" y="4960620"/>
            <a:ext cx="105156" cy="105156"/>
          </a:xfrm>
          <a:prstGeom prst="rect">
            <a:avLst/>
          </a:prstGeom>
        </p:spPr>
      </p:pic>
      <p:sp>
        <p:nvSpPr>
          <p:cNvPr id="69" name="Shape 65"/>
          <p:cNvSpPr/>
          <p:nvPr/>
        </p:nvSpPr>
        <p:spPr>
          <a:xfrm>
            <a:off x="466344" y="5184648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0" name="Shape 66"/>
          <p:cNvSpPr/>
          <p:nvPr/>
        </p:nvSpPr>
        <p:spPr>
          <a:xfrm>
            <a:off x="466344" y="5422392"/>
            <a:ext cx="571500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1" name="Shape 67"/>
          <p:cNvSpPr/>
          <p:nvPr/>
        </p:nvSpPr>
        <p:spPr>
          <a:xfrm>
            <a:off x="1029614" y="5184648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2" name="Shape 68"/>
          <p:cNvSpPr/>
          <p:nvPr/>
        </p:nvSpPr>
        <p:spPr>
          <a:xfrm>
            <a:off x="1029614" y="5422392"/>
            <a:ext cx="6200546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3" name="Shape 69"/>
          <p:cNvSpPr/>
          <p:nvPr/>
        </p:nvSpPr>
        <p:spPr>
          <a:xfrm>
            <a:off x="7221931" y="5184648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4" name="Shape 70"/>
          <p:cNvSpPr/>
          <p:nvPr/>
        </p:nvSpPr>
        <p:spPr>
          <a:xfrm>
            <a:off x="7221931" y="5422392"/>
            <a:ext cx="3381451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5" name="Shape 71"/>
          <p:cNvSpPr/>
          <p:nvPr/>
        </p:nvSpPr>
        <p:spPr>
          <a:xfrm>
            <a:off x="10599725" y="5184648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6" name="Shape 72"/>
          <p:cNvSpPr/>
          <p:nvPr/>
        </p:nvSpPr>
        <p:spPr>
          <a:xfrm>
            <a:off x="10599725" y="5422392"/>
            <a:ext cx="1133856" cy="19202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7" name="Shape 73"/>
          <p:cNvSpPr/>
          <p:nvPr/>
        </p:nvSpPr>
        <p:spPr>
          <a:xfrm>
            <a:off x="466344" y="5761634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8" name="Shape 74"/>
          <p:cNvSpPr/>
          <p:nvPr/>
        </p:nvSpPr>
        <p:spPr>
          <a:xfrm>
            <a:off x="1029614" y="5761634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9" name="Shape 75"/>
          <p:cNvSpPr/>
          <p:nvPr/>
        </p:nvSpPr>
        <p:spPr>
          <a:xfrm>
            <a:off x="1143914" y="5503774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0" name="Shape 76"/>
          <p:cNvSpPr/>
          <p:nvPr/>
        </p:nvSpPr>
        <p:spPr>
          <a:xfrm>
            <a:off x="1143914" y="5503774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1" name="Shape 77"/>
          <p:cNvSpPr/>
          <p:nvPr/>
        </p:nvSpPr>
        <p:spPr>
          <a:xfrm>
            <a:off x="7221931" y="5761634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2" name="Shape 78"/>
          <p:cNvSpPr/>
          <p:nvPr/>
        </p:nvSpPr>
        <p:spPr>
          <a:xfrm>
            <a:off x="10599725" y="5761634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3" name="Shape 79"/>
          <p:cNvSpPr/>
          <p:nvPr/>
        </p:nvSpPr>
        <p:spPr>
          <a:xfrm>
            <a:off x="466344" y="6080760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4" name="Shape 80"/>
          <p:cNvSpPr/>
          <p:nvPr/>
        </p:nvSpPr>
        <p:spPr>
          <a:xfrm>
            <a:off x="1029614" y="6080760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5" name="Shape 81"/>
          <p:cNvSpPr/>
          <p:nvPr/>
        </p:nvSpPr>
        <p:spPr>
          <a:xfrm>
            <a:off x="1143914" y="5827471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6" name="Shape 82"/>
          <p:cNvSpPr/>
          <p:nvPr/>
        </p:nvSpPr>
        <p:spPr>
          <a:xfrm>
            <a:off x="1143914" y="5827471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7" name="Shape 83"/>
          <p:cNvSpPr/>
          <p:nvPr/>
        </p:nvSpPr>
        <p:spPr>
          <a:xfrm>
            <a:off x="7221931" y="6080760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8" name="Shape 84"/>
          <p:cNvSpPr/>
          <p:nvPr/>
        </p:nvSpPr>
        <p:spPr>
          <a:xfrm>
            <a:off x="10599725" y="6080760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9" name="Shape 85"/>
          <p:cNvSpPr/>
          <p:nvPr/>
        </p:nvSpPr>
        <p:spPr>
          <a:xfrm>
            <a:off x="1143914" y="6152083"/>
            <a:ext cx="5971946" cy="200254"/>
          </a:xfrm>
          <a:prstGeom prst="roundRect">
            <a:avLst>
              <a:gd name="adj" fmla="val 86975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0" name="Shape 86"/>
          <p:cNvSpPr/>
          <p:nvPr/>
        </p:nvSpPr>
        <p:spPr>
          <a:xfrm>
            <a:off x="1143914" y="6152083"/>
            <a:ext cx="19202" cy="2002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1" name="Text 87"/>
          <p:cNvSpPr txBox="1"/>
          <p:nvPr/>
        </p:nvSpPr>
        <p:spPr>
          <a:xfrm>
            <a:off x="942746" y="1209751"/>
            <a:ext cx="4010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AGGREGATION QUERIES (MULTI-DOCUMENT SUMMARIZATION)</a:t>
            </a:r>
            <a:endParaRPr lang="en-US" sz="900" dirty="0"/>
          </a:p>
        </p:txBody>
      </p:sp>
      <p:sp>
        <p:nvSpPr>
          <p:cNvPr id="92" name="Text 88"/>
          <p:cNvSpPr txBox="1"/>
          <p:nvPr/>
        </p:nvSpPr>
        <p:spPr>
          <a:xfrm>
            <a:off x="580644" y="1524305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93" name="Text 89"/>
          <p:cNvSpPr txBox="1"/>
          <p:nvPr/>
        </p:nvSpPr>
        <p:spPr>
          <a:xfrm>
            <a:off x="1143914" y="1524305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94" name="Text 90"/>
          <p:cNvSpPr txBox="1"/>
          <p:nvPr/>
        </p:nvSpPr>
        <p:spPr>
          <a:xfrm>
            <a:off x="7336231" y="1524305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95" name="Text 91"/>
          <p:cNvSpPr txBox="1"/>
          <p:nvPr/>
        </p:nvSpPr>
        <p:spPr>
          <a:xfrm>
            <a:off x="10714025" y="1524305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96" name="Text 92"/>
          <p:cNvSpPr txBox="1"/>
          <p:nvPr/>
        </p:nvSpPr>
        <p:spPr>
          <a:xfrm>
            <a:off x="698602" y="1814170"/>
            <a:ext cx="1810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800" dirty="0"/>
          </a:p>
        </p:txBody>
      </p:sp>
      <p:sp>
        <p:nvSpPr>
          <p:cNvPr id="97" name="Text 93"/>
          <p:cNvSpPr txBox="1"/>
          <p:nvPr/>
        </p:nvSpPr>
        <p:spPr>
          <a:xfrm>
            <a:off x="1239012" y="1814170"/>
            <a:ext cx="49633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average DSCR across all office CMBS deals issued in 2024 with loan balances over $100M?"</a:t>
            </a:r>
            <a:endParaRPr lang="en-US" sz="800" dirty="0"/>
          </a:p>
        </p:txBody>
      </p:sp>
      <p:sp>
        <p:nvSpPr>
          <p:cNvPr id="98" name="Text 94"/>
          <p:cNvSpPr txBox="1"/>
          <p:nvPr/>
        </p:nvSpPr>
        <p:spPr>
          <a:xfrm>
            <a:off x="7336231" y="1814170"/>
            <a:ext cx="16002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Prospectus Supplements</a:t>
            </a:r>
            <a:endParaRPr lang="en-US" sz="800" dirty="0"/>
          </a:p>
        </p:txBody>
      </p:sp>
      <p:sp>
        <p:nvSpPr>
          <p:cNvPr id="99" name="Text 95"/>
          <p:cNvSpPr txBox="1"/>
          <p:nvPr/>
        </p:nvSpPr>
        <p:spPr>
          <a:xfrm>
            <a:off x="11130991" y="1814170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00" name="Text 96"/>
          <p:cNvSpPr txBox="1"/>
          <p:nvPr/>
        </p:nvSpPr>
        <p:spPr>
          <a:xfrm>
            <a:off x="687629" y="2138782"/>
            <a:ext cx="200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800" dirty="0"/>
          </a:p>
        </p:txBody>
      </p:sp>
      <p:sp>
        <p:nvSpPr>
          <p:cNvPr id="101" name="Text 97"/>
          <p:cNvSpPr txBox="1"/>
          <p:nvPr/>
        </p:nvSpPr>
        <p:spPr>
          <a:xfrm>
            <a:off x="1239012" y="2138782"/>
            <a:ext cx="51819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"Calculate the median spread at issuance for all B-rated leveraged loans in the healthcare sector in H1 2024"</a:t>
            </a:r>
            <a:endParaRPr lang="en-US" sz="800" dirty="0"/>
          </a:p>
        </p:txBody>
      </p:sp>
      <p:sp>
        <p:nvSpPr>
          <p:cNvPr id="102" name="Text 98"/>
          <p:cNvSpPr txBox="1"/>
          <p:nvPr/>
        </p:nvSpPr>
        <p:spPr>
          <a:xfrm>
            <a:off x="7336231" y="2138782"/>
            <a:ext cx="14575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Loan Prospectuses LCD Data</a:t>
            </a:r>
            <a:endParaRPr lang="en-US" sz="800" dirty="0"/>
          </a:p>
        </p:txBody>
      </p:sp>
      <p:sp>
        <p:nvSpPr>
          <p:cNvPr id="103" name="Text 99"/>
          <p:cNvSpPr txBox="1"/>
          <p:nvPr/>
        </p:nvSpPr>
        <p:spPr>
          <a:xfrm>
            <a:off x="11135563" y="2138782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4" name="Text 100"/>
          <p:cNvSpPr txBox="1"/>
          <p:nvPr/>
        </p:nvSpPr>
        <p:spPr>
          <a:xfrm>
            <a:off x="701345" y="2462479"/>
            <a:ext cx="1719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800" dirty="0"/>
          </a:p>
        </p:txBody>
      </p:sp>
      <p:sp>
        <p:nvSpPr>
          <p:cNvPr id="105" name="Text 101"/>
          <p:cNvSpPr txBox="1"/>
          <p:nvPr/>
        </p:nvSpPr>
        <p:spPr>
          <a:xfrm>
            <a:off x="1239012" y="2462479"/>
            <a:ext cx="48774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is the total exposure to CCC-rated assets across all Blackstone-managed CLOs issued in 2023?"</a:t>
            </a:r>
            <a:endParaRPr lang="en-US" sz="800" dirty="0"/>
          </a:p>
        </p:txBody>
      </p:sp>
      <p:sp>
        <p:nvSpPr>
          <p:cNvPr id="106" name="Text 102"/>
          <p:cNvSpPr txBox="1"/>
          <p:nvPr/>
        </p:nvSpPr>
        <p:spPr>
          <a:xfrm>
            <a:off x="7336231" y="2462479"/>
            <a:ext cx="10671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Trustee Reports</a:t>
            </a:r>
            <a:endParaRPr lang="en-US" sz="800" dirty="0"/>
          </a:p>
        </p:txBody>
      </p:sp>
      <p:sp>
        <p:nvSpPr>
          <p:cNvPr id="107" name="Text 103"/>
          <p:cNvSpPr txBox="1"/>
          <p:nvPr/>
        </p:nvSpPr>
        <p:spPr>
          <a:xfrm>
            <a:off x="11135563" y="2462479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8" name="Text 104"/>
          <p:cNvSpPr txBox="1"/>
          <p:nvPr/>
        </p:nvSpPr>
        <p:spPr>
          <a:xfrm>
            <a:off x="942746" y="3073298"/>
            <a:ext cx="41815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EEAD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HIERARCHICAL / TRAVERSAL QUERIES (STRUCTURE NAVIGATION)</a:t>
            </a:r>
            <a:endParaRPr lang="en-US" sz="900" dirty="0"/>
          </a:p>
        </p:txBody>
      </p:sp>
      <p:sp>
        <p:nvSpPr>
          <p:cNvPr id="109" name="Text 105"/>
          <p:cNvSpPr txBox="1"/>
          <p:nvPr/>
        </p:nvSpPr>
        <p:spPr>
          <a:xfrm>
            <a:off x="580644" y="3387852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10" name="Text 106"/>
          <p:cNvSpPr txBox="1"/>
          <p:nvPr/>
        </p:nvSpPr>
        <p:spPr>
          <a:xfrm>
            <a:off x="1143914" y="3387852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11" name="Text 107"/>
          <p:cNvSpPr txBox="1"/>
          <p:nvPr/>
        </p:nvSpPr>
        <p:spPr>
          <a:xfrm>
            <a:off x="7336231" y="3387852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12" name="Text 108"/>
          <p:cNvSpPr txBox="1"/>
          <p:nvPr/>
        </p:nvSpPr>
        <p:spPr>
          <a:xfrm>
            <a:off x="10714025" y="3387852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13" name="Text 109"/>
          <p:cNvSpPr txBox="1"/>
          <p:nvPr/>
        </p:nvSpPr>
        <p:spPr>
          <a:xfrm>
            <a:off x="692201" y="3678631"/>
            <a:ext cx="191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800" dirty="0"/>
          </a:p>
        </p:txBody>
      </p:sp>
      <p:sp>
        <p:nvSpPr>
          <p:cNvPr id="114" name="Text 110"/>
          <p:cNvSpPr txBox="1"/>
          <p:nvPr/>
        </p:nvSpPr>
        <p:spPr>
          <a:xfrm>
            <a:off x="1239012" y="3678631"/>
            <a:ext cx="44869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"List all subsidiaries of Berkshire Hathaway with exposure to California wildfire insurance risk"</a:t>
            </a:r>
            <a:endParaRPr lang="en-US" sz="800" dirty="0"/>
          </a:p>
        </p:txBody>
      </p:sp>
      <p:sp>
        <p:nvSpPr>
          <p:cNvPr id="115" name="Text 111"/>
          <p:cNvSpPr txBox="1"/>
          <p:nvPr/>
        </p:nvSpPr>
        <p:spPr>
          <a:xfrm>
            <a:off x="7336231" y="3678631"/>
            <a:ext cx="24387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Exhibit 21 Subsidiary Filings Insurance Filings</a:t>
            </a:r>
            <a:endParaRPr lang="en-US" sz="800" dirty="0"/>
          </a:p>
        </p:txBody>
      </p:sp>
      <p:sp>
        <p:nvSpPr>
          <p:cNvPr id="116" name="Text 112"/>
          <p:cNvSpPr txBox="1"/>
          <p:nvPr/>
        </p:nvSpPr>
        <p:spPr>
          <a:xfrm>
            <a:off x="11135563" y="3678631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17" name="Text 113"/>
          <p:cNvSpPr txBox="1"/>
          <p:nvPr/>
        </p:nvSpPr>
        <p:spPr>
          <a:xfrm>
            <a:off x="692201" y="4002329"/>
            <a:ext cx="191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800" dirty="0"/>
          </a:p>
        </p:txBody>
      </p:sp>
      <p:sp>
        <p:nvSpPr>
          <p:cNvPr id="118" name="Text 114"/>
          <p:cNvSpPr txBox="1"/>
          <p:nvPr/>
        </p:nvSpPr>
        <p:spPr>
          <a:xfrm>
            <a:off x="1239012" y="4002329"/>
            <a:ext cx="55156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portfolio companies of KKR have borrowings in the leveraged loan market that are currently on watchlist?"</a:t>
            </a:r>
            <a:endParaRPr lang="en-US" sz="800" dirty="0"/>
          </a:p>
        </p:txBody>
      </p:sp>
      <p:sp>
        <p:nvSpPr>
          <p:cNvPr id="119" name="Text 115"/>
          <p:cNvSpPr txBox="1"/>
          <p:nvPr/>
        </p:nvSpPr>
        <p:spPr>
          <a:xfrm>
            <a:off x="7336231" y="4002329"/>
            <a:ext cx="25813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 Holdings Credit Agreements Rating Watchlists</a:t>
            </a:r>
            <a:endParaRPr lang="en-US" sz="800" dirty="0"/>
          </a:p>
        </p:txBody>
      </p:sp>
      <p:sp>
        <p:nvSpPr>
          <p:cNvPr id="120" name="Text 116"/>
          <p:cNvSpPr txBox="1"/>
          <p:nvPr/>
        </p:nvSpPr>
        <p:spPr>
          <a:xfrm>
            <a:off x="11130991" y="4002329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21" name="Text 117"/>
          <p:cNvSpPr txBox="1"/>
          <p:nvPr/>
        </p:nvSpPr>
        <p:spPr>
          <a:xfrm>
            <a:off x="687629" y="4326026"/>
            <a:ext cx="200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800" dirty="0"/>
          </a:p>
        </p:txBody>
      </p:sp>
      <p:sp>
        <p:nvSpPr>
          <p:cNvPr id="122" name="Text 118"/>
          <p:cNvSpPr txBox="1"/>
          <p:nvPr/>
        </p:nvSpPr>
        <p:spPr>
          <a:xfrm>
            <a:off x="1239012" y="4326026"/>
            <a:ext cx="46104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"Trace the ownership chain from Investor X to any sanctioned entity through fund investments"</a:t>
            </a:r>
            <a:endParaRPr lang="en-US" sz="800" dirty="0"/>
          </a:p>
        </p:txBody>
      </p:sp>
      <p:sp>
        <p:nvSpPr>
          <p:cNvPr id="123" name="Text 119"/>
          <p:cNvSpPr txBox="1"/>
          <p:nvPr/>
        </p:nvSpPr>
        <p:spPr>
          <a:xfrm>
            <a:off x="7336231" y="4326026"/>
            <a:ext cx="22485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 Disclosures Fund Holdings OFAC List</a:t>
            </a:r>
            <a:endParaRPr lang="en-US" sz="800" dirty="0"/>
          </a:p>
        </p:txBody>
      </p:sp>
      <p:sp>
        <p:nvSpPr>
          <p:cNvPr id="124" name="Text 120"/>
          <p:cNvSpPr txBox="1"/>
          <p:nvPr/>
        </p:nvSpPr>
        <p:spPr>
          <a:xfrm>
            <a:off x="11130991" y="4326026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25" name="Text 121"/>
          <p:cNvSpPr txBox="1"/>
          <p:nvPr/>
        </p:nvSpPr>
        <p:spPr>
          <a:xfrm>
            <a:off x="942746" y="4936846"/>
            <a:ext cx="3706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CONDITIONAL / FILTER QUERIES (SEQUENTIAL FILTERING)</a:t>
            </a:r>
            <a:endParaRPr lang="en-US" sz="900" dirty="0"/>
          </a:p>
        </p:txBody>
      </p:sp>
      <p:sp>
        <p:nvSpPr>
          <p:cNvPr id="126" name="Text 122"/>
          <p:cNvSpPr txBox="1"/>
          <p:nvPr/>
        </p:nvSpPr>
        <p:spPr>
          <a:xfrm>
            <a:off x="580644" y="5251399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27" name="Text 123"/>
          <p:cNvSpPr txBox="1"/>
          <p:nvPr/>
        </p:nvSpPr>
        <p:spPr>
          <a:xfrm>
            <a:off x="1143914" y="5251399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28" name="Text 124"/>
          <p:cNvSpPr txBox="1"/>
          <p:nvPr/>
        </p:nvSpPr>
        <p:spPr>
          <a:xfrm>
            <a:off x="7336231" y="5251399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29" name="Text 125"/>
          <p:cNvSpPr txBox="1"/>
          <p:nvPr/>
        </p:nvSpPr>
        <p:spPr>
          <a:xfrm>
            <a:off x="10714025" y="5251399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30" name="Text 126"/>
          <p:cNvSpPr txBox="1"/>
          <p:nvPr/>
        </p:nvSpPr>
        <p:spPr>
          <a:xfrm>
            <a:off x="691286" y="5542178"/>
            <a:ext cx="191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800" dirty="0"/>
          </a:p>
        </p:txBody>
      </p:sp>
      <p:sp>
        <p:nvSpPr>
          <p:cNvPr id="131" name="Text 127"/>
          <p:cNvSpPr txBox="1"/>
          <p:nvPr/>
        </p:nvSpPr>
        <p:spPr>
          <a:xfrm>
            <a:off x="1239012" y="5542178"/>
            <a:ext cx="40105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"Find all 2024 SASB CMBS deals secured by hotels with LTV &gt; 65% and DSCR &lt; 1.40"</a:t>
            </a:r>
            <a:endParaRPr lang="en-US" sz="800" dirty="0"/>
          </a:p>
        </p:txBody>
      </p:sp>
      <p:sp>
        <p:nvSpPr>
          <p:cNvPr id="132" name="Text 128"/>
          <p:cNvSpPr txBox="1"/>
          <p:nvPr/>
        </p:nvSpPr>
        <p:spPr>
          <a:xfrm>
            <a:off x="7336231" y="5542178"/>
            <a:ext cx="23719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Prospectus Supplements Presale Reports</a:t>
            </a:r>
            <a:endParaRPr lang="en-US" sz="800" dirty="0"/>
          </a:p>
        </p:txBody>
      </p:sp>
      <p:sp>
        <p:nvSpPr>
          <p:cNvPr id="133" name="Text 129"/>
          <p:cNvSpPr txBox="1"/>
          <p:nvPr/>
        </p:nvSpPr>
        <p:spPr>
          <a:xfrm>
            <a:off x="11130991" y="5542178"/>
            <a:ext cx="14356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134" name="Text 130"/>
          <p:cNvSpPr txBox="1"/>
          <p:nvPr/>
        </p:nvSpPr>
        <p:spPr>
          <a:xfrm>
            <a:off x="689458" y="5865876"/>
            <a:ext cx="200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800" dirty="0"/>
          </a:p>
        </p:txBody>
      </p:sp>
      <p:sp>
        <p:nvSpPr>
          <p:cNvPr id="135" name="Text 131"/>
          <p:cNvSpPr txBox="1"/>
          <p:nvPr/>
        </p:nvSpPr>
        <p:spPr>
          <a:xfrm>
            <a:off x="1239012" y="5865876"/>
            <a:ext cx="54489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"Identify leveraged loans issued in 2024 with sponsor equity below 30% and no financial maintenance covenants"</a:t>
            </a:r>
            <a:endParaRPr lang="en-US" sz="800" dirty="0"/>
          </a:p>
        </p:txBody>
      </p:sp>
      <p:sp>
        <p:nvSpPr>
          <p:cNvPr id="136" name="Text 132"/>
          <p:cNvSpPr txBox="1"/>
          <p:nvPr/>
        </p:nvSpPr>
        <p:spPr>
          <a:xfrm>
            <a:off x="7336231" y="5865876"/>
            <a:ext cx="19147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Loan Prospectuses Credit Agreements</a:t>
            </a:r>
            <a:endParaRPr lang="en-US" sz="800" dirty="0"/>
          </a:p>
        </p:txBody>
      </p:sp>
      <p:sp>
        <p:nvSpPr>
          <p:cNvPr id="137" name="Text 133"/>
          <p:cNvSpPr txBox="1"/>
          <p:nvPr/>
        </p:nvSpPr>
        <p:spPr>
          <a:xfrm>
            <a:off x="11135563" y="5865876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38" name="Text 134"/>
          <p:cNvSpPr txBox="1"/>
          <p:nvPr/>
        </p:nvSpPr>
        <p:spPr>
          <a:xfrm>
            <a:off x="690372" y="6189574"/>
            <a:ext cx="20025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800" dirty="0"/>
          </a:p>
        </p:txBody>
      </p:sp>
      <p:sp>
        <p:nvSpPr>
          <p:cNvPr id="139" name="Text 135"/>
          <p:cNvSpPr txBox="1"/>
          <p:nvPr/>
        </p:nvSpPr>
        <p:spPr>
          <a:xfrm>
            <a:off x="1239012" y="6189574"/>
            <a:ext cx="5143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"List CLOs with reinvestment periods ending in 2025 that currently have CCC bucket utilization above 7.5%"</a:t>
            </a:r>
            <a:endParaRPr lang="en-US" sz="800" dirty="0"/>
          </a:p>
        </p:txBody>
      </p:sp>
      <p:sp>
        <p:nvSpPr>
          <p:cNvPr id="140" name="Text 136"/>
          <p:cNvSpPr txBox="1"/>
          <p:nvPr/>
        </p:nvSpPr>
        <p:spPr>
          <a:xfrm>
            <a:off x="7336231" y="6189574"/>
            <a:ext cx="16102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Indentures Trustee Reports</a:t>
            </a:r>
            <a:endParaRPr lang="en-US" sz="800" dirty="0"/>
          </a:p>
        </p:txBody>
      </p:sp>
      <p:sp>
        <p:nvSpPr>
          <p:cNvPr id="141" name="Text 137"/>
          <p:cNvSpPr txBox="1"/>
          <p:nvPr/>
        </p:nvSpPr>
        <p:spPr>
          <a:xfrm>
            <a:off x="11135563" y="6189574"/>
            <a:ext cx="1335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1146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1055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2820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SPECIALIZED MULTI-HOP QUERY TYPES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56199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Validation &amp; Edge Case Patterns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755173" y="609905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24260" y="809244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04849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314907"/>
            <a:ext cx="11259007" cy="342900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1648663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19049" y="1376172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E11D48">
              <a:alpha val="20000"/>
            </a:srgbClr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1170" y="1429207"/>
            <a:ext cx="105156" cy="1051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66344" y="1595628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" y="1833372"/>
            <a:ext cx="571500" cy="1920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9614" y="1595628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029614" y="1833372"/>
            <a:ext cx="6200546" cy="1920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0" name="Shape 17"/>
          <p:cNvSpPr/>
          <p:nvPr/>
        </p:nvSpPr>
        <p:spPr>
          <a:xfrm>
            <a:off x="7221931" y="1595628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221931" y="1833372"/>
            <a:ext cx="3381451" cy="1920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Shape 19"/>
          <p:cNvSpPr/>
          <p:nvPr/>
        </p:nvSpPr>
        <p:spPr>
          <a:xfrm>
            <a:off x="10599725" y="1595628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599725" y="1833372"/>
            <a:ext cx="1133856" cy="1920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4" name="Shape 21"/>
          <p:cNvSpPr/>
          <p:nvPr/>
        </p:nvSpPr>
        <p:spPr>
          <a:xfrm>
            <a:off x="466344" y="2200961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29614" y="2200961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43914" y="1914754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143914" y="1914754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221931" y="2200961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599725" y="2200961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" y="2561234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1029614" y="2561234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143914" y="2270455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1143914" y="2270455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7221931" y="2561234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10599725" y="2561234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143914" y="2625242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43914" y="2625242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2976372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6344" y="2986430"/>
            <a:ext cx="11259007" cy="342900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66344" y="3320186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19049" y="3047695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170" y="3100730"/>
            <a:ext cx="105156" cy="105156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466344" y="3268066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466344" y="3505810"/>
            <a:ext cx="571500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Shape 41"/>
          <p:cNvSpPr/>
          <p:nvPr/>
        </p:nvSpPr>
        <p:spPr>
          <a:xfrm>
            <a:off x="1029614" y="3268066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1029614" y="3505810"/>
            <a:ext cx="620054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Shape 43"/>
          <p:cNvSpPr/>
          <p:nvPr/>
        </p:nvSpPr>
        <p:spPr>
          <a:xfrm>
            <a:off x="7221931" y="3268066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7221931" y="3505810"/>
            <a:ext cx="3381451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Shape 45"/>
          <p:cNvSpPr/>
          <p:nvPr/>
        </p:nvSpPr>
        <p:spPr>
          <a:xfrm>
            <a:off x="10599725" y="3268066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10599725" y="3505810"/>
            <a:ext cx="1133856" cy="1920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1" name="Shape 47"/>
          <p:cNvSpPr/>
          <p:nvPr/>
        </p:nvSpPr>
        <p:spPr>
          <a:xfrm>
            <a:off x="466344" y="387339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1029614" y="387339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1143914" y="3587191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1143914" y="3587191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7221931" y="3873398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10599725" y="3873398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466344" y="423275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1029614" y="423275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1143914" y="3941978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1143914" y="3941978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7221931" y="4232758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10599725" y="4232758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1143914" y="4297680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1143914" y="4297680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457200" y="4647895"/>
            <a:ext cx="11277295" cy="1561795"/>
          </a:xfrm>
          <a:prstGeom prst="roundRect">
            <a:avLst>
              <a:gd name="adj" fmla="val 428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66344" y="4657954"/>
            <a:ext cx="11259007" cy="342900"/>
          </a:xfrm>
          <a:prstGeom prst="rect">
            <a:avLst/>
          </a:prstGeom>
          <a:solidFill>
            <a:srgbClr val="0B1E3D">
              <a:alpha val="50000"/>
            </a:srgbClr>
          </a:solidFill>
          <a:ln/>
        </p:spPr>
      </p:sp>
      <p:sp>
        <p:nvSpPr>
          <p:cNvPr id="67" name="Shape 63"/>
          <p:cNvSpPr/>
          <p:nvPr/>
        </p:nvSpPr>
        <p:spPr>
          <a:xfrm>
            <a:off x="466344" y="4991710"/>
            <a:ext cx="112590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8" name="Shape 64"/>
          <p:cNvSpPr/>
          <p:nvPr/>
        </p:nvSpPr>
        <p:spPr>
          <a:xfrm>
            <a:off x="619049" y="4719218"/>
            <a:ext cx="209398" cy="209398"/>
          </a:xfrm>
          <a:prstGeom prst="roundRect">
            <a:avLst>
              <a:gd name="adj" fmla="val 119095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6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170" y="4772254"/>
            <a:ext cx="105156" cy="105156"/>
          </a:xfrm>
          <a:prstGeom prst="rect">
            <a:avLst/>
          </a:prstGeom>
        </p:spPr>
      </p:pic>
      <p:sp>
        <p:nvSpPr>
          <p:cNvPr id="70" name="Shape 65"/>
          <p:cNvSpPr/>
          <p:nvPr/>
        </p:nvSpPr>
        <p:spPr>
          <a:xfrm>
            <a:off x="466344" y="4871009"/>
            <a:ext cx="571500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1" name="Shape 66"/>
          <p:cNvSpPr/>
          <p:nvPr/>
        </p:nvSpPr>
        <p:spPr>
          <a:xfrm>
            <a:off x="466344" y="5108753"/>
            <a:ext cx="571500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2" name="Shape 67"/>
          <p:cNvSpPr/>
          <p:nvPr/>
        </p:nvSpPr>
        <p:spPr>
          <a:xfrm>
            <a:off x="1029614" y="4871009"/>
            <a:ext cx="620054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3" name="Shape 68"/>
          <p:cNvSpPr/>
          <p:nvPr/>
        </p:nvSpPr>
        <p:spPr>
          <a:xfrm>
            <a:off x="1029614" y="5108753"/>
            <a:ext cx="6200546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4" name="Shape 69"/>
          <p:cNvSpPr/>
          <p:nvPr/>
        </p:nvSpPr>
        <p:spPr>
          <a:xfrm>
            <a:off x="7221931" y="4871009"/>
            <a:ext cx="3381451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5" name="Shape 70"/>
          <p:cNvSpPr/>
          <p:nvPr/>
        </p:nvSpPr>
        <p:spPr>
          <a:xfrm>
            <a:off x="7221931" y="5108753"/>
            <a:ext cx="3381451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6" name="Shape 71"/>
          <p:cNvSpPr/>
          <p:nvPr/>
        </p:nvSpPr>
        <p:spPr>
          <a:xfrm>
            <a:off x="10599725" y="4871009"/>
            <a:ext cx="1133856" cy="2569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7" name="Shape 72"/>
          <p:cNvSpPr/>
          <p:nvPr/>
        </p:nvSpPr>
        <p:spPr>
          <a:xfrm>
            <a:off x="10599725" y="5108753"/>
            <a:ext cx="1133856" cy="1920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8" name="Shape 73"/>
          <p:cNvSpPr/>
          <p:nvPr/>
        </p:nvSpPr>
        <p:spPr>
          <a:xfrm>
            <a:off x="466344" y="5618988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9" name="Shape 74"/>
          <p:cNvSpPr/>
          <p:nvPr/>
        </p:nvSpPr>
        <p:spPr>
          <a:xfrm>
            <a:off x="1029614" y="5618988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0" name="Shape 75"/>
          <p:cNvSpPr/>
          <p:nvPr/>
        </p:nvSpPr>
        <p:spPr>
          <a:xfrm>
            <a:off x="1143914" y="5190134"/>
            <a:ext cx="5971946" cy="371246"/>
          </a:xfrm>
          <a:prstGeom prst="roundRect">
            <a:avLst>
              <a:gd name="adj" fmla="val 25262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1" name="Shape 76"/>
          <p:cNvSpPr/>
          <p:nvPr/>
        </p:nvSpPr>
        <p:spPr>
          <a:xfrm>
            <a:off x="1143914" y="5190134"/>
            <a:ext cx="19202" cy="37124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2" name="Shape 77"/>
          <p:cNvSpPr/>
          <p:nvPr/>
        </p:nvSpPr>
        <p:spPr>
          <a:xfrm>
            <a:off x="7221931" y="5618988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3" name="Shape 78"/>
          <p:cNvSpPr/>
          <p:nvPr/>
        </p:nvSpPr>
        <p:spPr>
          <a:xfrm>
            <a:off x="10599725" y="5618988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4" name="Shape 79"/>
          <p:cNvSpPr/>
          <p:nvPr/>
        </p:nvSpPr>
        <p:spPr>
          <a:xfrm>
            <a:off x="466344" y="5972861"/>
            <a:ext cx="5715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5" name="Shape 80"/>
          <p:cNvSpPr/>
          <p:nvPr/>
        </p:nvSpPr>
        <p:spPr>
          <a:xfrm>
            <a:off x="1029614" y="5972861"/>
            <a:ext cx="62005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6" name="Shape 81"/>
          <p:cNvSpPr/>
          <p:nvPr/>
        </p:nvSpPr>
        <p:spPr>
          <a:xfrm>
            <a:off x="1143914" y="5682082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7" name="Shape 82"/>
          <p:cNvSpPr/>
          <p:nvPr/>
        </p:nvSpPr>
        <p:spPr>
          <a:xfrm>
            <a:off x="1143914" y="5682082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8" name="Shape 83"/>
          <p:cNvSpPr/>
          <p:nvPr/>
        </p:nvSpPr>
        <p:spPr>
          <a:xfrm>
            <a:off x="7221931" y="5972861"/>
            <a:ext cx="3381451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9" name="Shape 84"/>
          <p:cNvSpPr/>
          <p:nvPr/>
        </p:nvSpPr>
        <p:spPr>
          <a:xfrm>
            <a:off x="10599725" y="5972861"/>
            <a:ext cx="11338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0" name="Shape 85"/>
          <p:cNvSpPr/>
          <p:nvPr/>
        </p:nvSpPr>
        <p:spPr>
          <a:xfrm>
            <a:off x="1143914" y="6036869"/>
            <a:ext cx="59719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1" name="Shape 86"/>
          <p:cNvSpPr/>
          <p:nvPr/>
        </p:nvSpPr>
        <p:spPr>
          <a:xfrm>
            <a:off x="1143914" y="6036869"/>
            <a:ext cx="19202" cy="2377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2" name="Shape 87"/>
          <p:cNvSpPr/>
          <p:nvPr/>
        </p:nvSpPr>
        <p:spPr>
          <a:xfrm>
            <a:off x="457200" y="6357823"/>
            <a:ext cx="11277295" cy="314554"/>
          </a:xfrm>
          <a:prstGeom prst="rect">
            <a:avLst/>
          </a:prstGeom>
          <a:solidFill>
            <a:srgbClr val="C5A059">
              <a:alpha val="10000"/>
            </a:srgbClr>
          </a:solidFill>
          <a:ln/>
        </p:spPr>
      </p:sp>
      <p:sp>
        <p:nvSpPr>
          <p:cNvPr id="93" name="Shape 88"/>
          <p:cNvSpPr/>
          <p:nvPr/>
        </p:nvSpPr>
        <p:spPr>
          <a:xfrm>
            <a:off x="457200" y="6357823"/>
            <a:ext cx="28346" cy="314554"/>
          </a:xfrm>
          <a:prstGeom prst="rect">
            <a:avLst/>
          </a:prstGeom>
          <a:solidFill>
            <a:srgbClr val="C5A059"/>
          </a:solidFill>
          <a:ln/>
        </p:spPr>
      </p:sp>
      <p:pic>
        <p:nvPicPr>
          <p:cNvPr id="9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958" b="-1958"/>
          <a:stretch/>
        </p:blipFill>
        <p:spPr>
          <a:xfrm>
            <a:off x="638251" y="6460236"/>
            <a:ext cx="75895" cy="105156"/>
          </a:xfrm>
          <a:prstGeom prst="rect">
            <a:avLst/>
          </a:prstGeom>
        </p:spPr>
      </p:pic>
      <p:sp>
        <p:nvSpPr>
          <p:cNvPr id="95" name="Text 89"/>
          <p:cNvSpPr txBox="1"/>
          <p:nvPr/>
        </p:nvSpPr>
        <p:spPr>
          <a:xfrm>
            <a:off x="942746" y="1395374"/>
            <a:ext cx="40818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DA4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/ NEGATIVE QUERIES (ABSENCE CONFIRMATION)</a:t>
            </a:r>
            <a:endParaRPr lang="en-US" sz="1000" dirty="0"/>
          </a:p>
        </p:txBody>
      </p:sp>
      <p:sp>
        <p:nvSpPr>
          <p:cNvPr id="96" name="Text 90"/>
          <p:cNvSpPr txBox="1"/>
          <p:nvPr/>
        </p:nvSpPr>
        <p:spPr>
          <a:xfrm>
            <a:off x="580644" y="1662379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97" name="Text 91"/>
          <p:cNvSpPr txBox="1"/>
          <p:nvPr/>
        </p:nvSpPr>
        <p:spPr>
          <a:xfrm>
            <a:off x="1143914" y="1662379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98" name="Text 92"/>
          <p:cNvSpPr txBox="1"/>
          <p:nvPr/>
        </p:nvSpPr>
        <p:spPr>
          <a:xfrm>
            <a:off x="7336231" y="1662379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99" name="Text 93"/>
          <p:cNvSpPr txBox="1"/>
          <p:nvPr/>
        </p:nvSpPr>
        <p:spPr>
          <a:xfrm>
            <a:off x="10714025" y="1662379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00" name="Text 94"/>
          <p:cNvSpPr txBox="1"/>
          <p:nvPr/>
        </p:nvSpPr>
        <p:spPr>
          <a:xfrm>
            <a:off x="683057" y="1961388"/>
            <a:ext cx="2121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800" dirty="0"/>
          </a:p>
        </p:txBody>
      </p:sp>
      <p:sp>
        <p:nvSpPr>
          <p:cNvPr id="101" name="Text 95"/>
          <p:cNvSpPr txBox="1"/>
          <p:nvPr/>
        </p:nvSpPr>
        <p:spPr>
          <a:xfrm>
            <a:off x="1258214" y="1962302"/>
            <a:ext cx="43653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Nvidia disclose any material weakness in internal controls in their 2024 10-K?"</a:t>
            </a:r>
            <a:endParaRPr lang="en-US" sz="800" dirty="0"/>
          </a:p>
        </p:txBody>
      </p:sp>
      <p:sp>
        <p:nvSpPr>
          <p:cNvPr id="102" name="Text 96"/>
          <p:cNvSpPr txBox="1"/>
          <p:nvPr/>
        </p:nvSpPr>
        <p:spPr>
          <a:xfrm>
            <a:off x="7336231" y="1961388"/>
            <a:ext cx="6318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Filing</a:t>
            </a:r>
            <a:endParaRPr lang="en-US" sz="800" dirty="0"/>
          </a:p>
        </p:txBody>
      </p:sp>
      <p:sp>
        <p:nvSpPr>
          <p:cNvPr id="103" name="Text 97"/>
          <p:cNvSpPr txBox="1"/>
          <p:nvPr/>
        </p:nvSpPr>
        <p:spPr>
          <a:xfrm>
            <a:off x="11132820" y="1961388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04" name="Text 98"/>
          <p:cNvSpPr txBox="1"/>
          <p:nvPr/>
        </p:nvSpPr>
        <p:spPr>
          <a:xfrm>
            <a:off x="683971" y="2317090"/>
            <a:ext cx="2121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800" dirty="0"/>
          </a:p>
        </p:txBody>
      </p:sp>
      <p:sp>
        <p:nvSpPr>
          <p:cNvPr id="105" name="Text 99"/>
          <p:cNvSpPr txBox="1"/>
          <p:nvPr/>
        </p:nvSpPr>
        <p:spPr>
          <a:xfrm>
            <a:off x="1258214" y="2318004"/>
            <a:ext cx="46798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"Has Tesla ever disclosed a cybersecurity incident in any SEC filing between 2020-2024?"</a:t>
            </a:r>
            <a:endParaRPr lang="en-US" sz="800" dirty="0"/>
          </a:p>
        </p:txBody>
      </p:sp>
      <p:sp>
        <p:nvSpPr>
          <p:cNvPr id="106" name="Text 100"/>
          <p:cNvSpPr txBox="1"/>
          <p:nvPr/>
        </p:nvSpPr>
        <p:spPr>
          <a:xfrm>
            <a:off x="7336231" y="2317090"/>
            <a:ext cx="13651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10-K, 8-K Filings (5 years)</a:t>
            </a:r>
            <a:endParaRPr lang="en-US" sz="800" dirty="0"/>
          </a:p>
        </p:txBody>
      </p:sp>
      <p:sp>
        <p:nvSpPr>
          <p:cNvPr id="107" name="Text 101"/>
          <p:cNvSpPr txBox="1"/>
          <p:nvPr/>
        </p:nvSpPr>
        <p:spPr>
          <a:xfrm>
            <a:off x="11132820" y="2317090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08" name="Text 102"/>
          <p:cNvSpPr txBox="1"/>
          <p:nvPr/>
        </p:nvSpPr>
        <p:spPr>
          <a:xfrm>
            <a:off x="681228" y="2671877"/>
            <a:ext cx="2121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800" dirty="0"/>
          </a:p>
        </p:txBody>
      </p:sp>
      <p:sp>
        <p:nvSpPr>
          <p:cNvPr id="109" name="Text 103"/>
          <p:cNvSpPr txBox="1"/>
          <p:nvPr/>
        </p:nvSpPr>
        <p:spPr>
          <a:xfrm>
            <a:off x="1258214" y="2673706"/>
            <a:ext cx="53464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"Did the CLO indenture for Ares XLVII include an ESG exclusion clause for thermal coal investments?"</a:t>
            </a:r>
            <a:endParaRPr lang="en-US" sz="800" dirty="0"/>
          </a:p>
        </p:txBody>
      </p:sp>
      <p:sp>
        <p:nvSpPr>
          <p:cNvPr id="110" name="Text 104"/>
          <p:cNvSpPr txBox="1"/>
          <p:nvPr/>
        </p:nvSpPr>
        <p:spPr>
          <a:xfrm>
            <a:off x="7336231" y="2671877"/>
            <a:ext cx="8604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 Indenture</a:t>
            </a:r>
            <a:endParaRPr lang="en-US" sz="800" dirty="0"/>
          </a:p>
        </p:txBody>
      </p:sp>
      <p:sp>
        <p:nvSpPr>
          <p:cNvPr id="111" name="Text 105"/>
          <p:cNvSpPr txBox="1"/>
          <p:nvPr/>
        </p:nvSpPr>
        <p:spPr>
          <a:xfrm>
            <a:off x="11132820" y="2671877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12" name="Text 106"/>
          <p:cNvSpPr txBox="1"/>
          <p:nvPr/>
        </p:nvSpPr>
        <p:spPr>
          <a:xfrm>
            <a:off x="942746" y="3066898"/>
            <a:ext cx="43296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COUNTERFACTUAL QUERIES (HYPOTHETICAL SCENARIOS)</a:t>
            </a:r>
            <a:endParaRPr lang="en-US" sz="1000" dirty="0"/>
          </a:p>
        </p:txBody>
      </p:sp>
      <p:sp>
        <p:nvSpPr>
          <p:cNvPr id="113" name="Text 107"/>
          <p:cNvSpPr txBox="1"/>
          <p:nvPr/>
        </p:nvSpPr>
        <p:spPr>
          <a:xfrm>
            <a:off x="580644" y="3333902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14" name="Text 108"/>
          <p:cNvSpPr txBox="1"/>
          <p:nvPr/>
        </p:nvSpPr>
        <p:spPr>
          <a:xfrm>
            <a:off x="1143914" y="3333902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15" name="Text 109"/>
          <p:cNvSpPr txBox="1"/>
          <p:nvPr/>
        </p:nvSpPr>
        <p:spPr>
          <a:xfrm>
            <a:off x="7336231" y="3333902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16" name="Text 110"/>
          <p:cNvSpPr txBox="1"/>
          <p:nvPr/>
        </p:nvSpPr>
        <p:spPr>
          <a:xfrm>
            <a:off x="10714025" y="3333902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17" name="Text 111"/>
          <p:cNvSpPr txBox="1"/>
          <p:nvPr/>
        </p:nvSpPr>
        <p:spPr>
          <a:xfrm>
            <a:off x="696773" y="3632911"/>
            <a:ext cx="1837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800" dirty="0"/>
          </a:p>
        </p:txBody>
      </p:sp>
      <p:sp>
        <p:nvSpPr>
          <p:cNvPr id="118" name="Text 112"/>
          <p:cNvSpPr txBox="1"/>
          <p:nvPr/>
        </p:nvSpPr>
        <p:spPr>
          <a:xfrm>
            <a:off x="1258214" y="3634740"/>
            <a:ext cx="47274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would Tesla's gross margin be if lithium prices increased 20% from current levels?"</a:t>
            </a:r>
            <a:endParaRPr lang="en-US" sz="800" dirty="0"/>
          </a:p>
        </p:txBody>
      </p:sp>
      <p:sp>
        <p:nvSpPr>
          <p:cNvPr id="119" name="Text 113"/>
          <p:cNvSpPr txBox="1"/>
          <p:nvPr/>
        </p:nvSpPr>
        <p:spPr>
          <a:xfrm>
            <a:off x="7336231" y="3632911"/>
            <a:ext cx="225033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(COGS breakdown) Commodity Data</a:t>
            </a:r>
            <a:endParaRPr lang="en-US" sz="800" dirty="0"/>
          </a:p>
        </p:txBody>
      </p:sp>
      <p:sp>
        <p:nvSpPr>
          <p:cNvPr id="120" name="Text 114"/>
          <p:cNvSpPr txBox="1"/>
          <p:nvPr/>
        </p:nvSpPr>
        <p:spPr>
          <a:xfrm>
            <a:off x="11132820" y="3632911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21" name="Text 115"/>
          <p:cNvSpPr txBox="1"/>
          <p:nvPr/>
        </p:nvSpPr>
        <p:spPr>
          <a:xfrm>
            <a:off x="686714" y="3988613"/>
            <a:ext cx="2029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800" dirty="0"/>
          </a:p>
        </p:txBody>
      </p:sp>
      <p:sp>
        <p:nvSpPr>
          <p:cNvPr id="122" name="Text 116"/>
          <p:cNvSpPr txBox="1"/>
          <p:nvPr/>
        </p:nvSpPr>
        <p:spPr>
          <a:xfrm>
            <a:off x="1258214" y="3989527"/>
            <a:ext cx="56893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"How would JPMorgan's CET1 ratio change if commercial real estate losses doubled from current reserves?"</a:t>
            </a:r>
            <a:endParaRPr lang="en-US" sz="800" dirty="0"/>
          </a:p>
        </p:txBody>
      </p:sp>
      <p:sp>
        <p:nvSpPr>
          <p:cNvPr id="123" name="Text 117"/>
          <p:cNvSpPr txBox="1"/>
          <p:nvPr/>
        </p:nvSpPr>
        <p:spPr>
          <a:xfrm>
            <a:off x="7336231" y="3988613"/>
            <a:ext cx="13651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10-K Basel III Disclosures</a:t>
            </a:r>
            <a:endParaRPr lang="en-US" sz="800" dirty="0"/>
          </a:p>
        </p:txBody>
      </p:sp>
      <p:sp>
        <p:nvSpPr>
          <p:cNvPr id="124" name="Text 118"/>
          <p:cNvSpPr txBox="1"/>
          <p:nvPr/>
        </p:nvSpPr>
        <p:spPr>
          <a:xfrm>
            <a:off x="11132820" y="3988613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25" name="Text 119"/>
          <p:cNvSpPr txBox="1"/>
          <p:nvPr/>
        </p:nvSpPr>
        <p:spPr>
          <a:xfrm>
            <a:off x="685800" y="4343400"/>
            <a:ext cx="2029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800" dirty="0"/>
          </a:p>
        </p:txBody>
      </p:sp>
      <p:sp>
        <p:nvSpPr>
          <p:cNvPr id="126" name="Text 120"/>
          <p:cNvSpPr txBox="1"/>
          <p:nvPr/>
        </p:nvSpPr>
        <p:spPr>
          <a:xfrm>
            <a:off x="1258214" y="4345229"/>
            <a:ext cx="55275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"What would the DSCR be for the Marriott CMBS loan if RevPAR declined 15% from underwritten levels?"</a:t>
            </a:r>
            <a:endParaRPr lang="en-US" sz="800" dirty="0"/>
          </a:p>
        </p:txBody>
      </p:sp>
      <p:sp>
        <p:nvSpPr>
          <p:cNvPr id="127" name="Text 121"/>
          <p:cNvSpPr txBox="1"/>
          <p:nvPr/>
        </p:nvSpPr>
        <p:spPr>
          <a:xfrm>
            <a:off x="7336231" y="4343400"/>
            <a:ext cx="15270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CMBS Prospectus Appraisal</a:t>
            </a:r>
            <a:endParaRPr lang="en-US" sz="800" dirty="0"/>
          </a:p>
        </p:txBody>
      </p:sp>
      <p:sp>
        <p:nvSpPr>
          <p:cNvPr id="128" name="Text 122"/>
          <p:cNvSpPr txBox="1"/>
          <p:nvPr/>
        </p:nvSpPr>
        <p:spPr>
          <a:xfrm>
            <a:off x="11132820" y="4343400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3"/>
          <p:cNvSpPr txBox="1"/>
          <p:nvPr/>
        </p:nvSpPr>
        <p:spPr>
          <a:xfrm>
            <a:off x="942746" y="4738421"/>
            <a:ext cx="51389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7E8F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/ FACT-CHECK QUERIES (CROSS-SOURCE VALIDATION)</a:t>
            </a:r>
            <a:endParaRPr lang="en-US" sz="1000" dirty="0"/>
          </a:p>
        </p:txBody>
      </p:sp>
      <p:sp>
        <p:nvSpPr>
          <p:cNvPr id="130" name="Text 124"/>
          <p:cNvSpPr txBox="1"/>
          <p:nvPr/>
        </p:nvSpPr>
        <p:spPr>
          <a:xfrm>
            <a:off x="580644" y="4937760"/>
            <a:ext cx="14356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</a:t>
            </a:r>
            <a:endParaRPr lang="en-US" sz="800" dirty="0"/>
          </a:p>
        </p:txBody>
      </p:sp>
      <p:sp>
        <p:nvSpPr>
          <p:cNvPr id="131" name="Text 125"/>
          <p:cNvSpPr txBox="1"/>
          <p:nvPr/>
        </p:nvSpPr>
        <p:spPr>
          <a:xfrm>
            <a:off x="1143914" y="4937760"/>
            <a:ext cx="41971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QUERY</a:t>
            </a:r>
            <a:endParaRPr lang="en-US" sz="800" dirty="0"/>
          </a:p>
        </p:txBody>
      </p:sp>
      <p:sp>
        <p:nvSpPr>
          <p:cNvPr id="132" name="Text 126"/>
          <p:cNvSpPr txBox="1"/>
          <p:nvPr/>
        </p:nvSpPr>
        <p:spPr>
          <a:xfrm>
            <a:off x="7336231" y="4937760"/>
            <a:ext cx="981151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TYPES</a:t>
            </a:r>
            <a:endParaRPr lang="en-US" sz="800" dirty="0"/>
          </a:p>
        </p:txBody>
      </p:sp>
      <p:sp>
        <p:nvSpPr>
          <p:cNvPr id="133" name="Text 127"/>
          <p:cNvSpPr txBox="1"/>
          <p:nvPr/>
        </p:nvSpPr>
        <p:spPr>
          <a:xfrm>
            <a:off x="10714025" y="4937760"/>
            <a:ext cx="352958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HOPS</a:t>
            </a:r>
            <a:endParaRPr lang="en-US" sz="800" dirty="0"/>
          </a:p>
        </p:txBody>
      </p:sp>
      <p:sp>
        <p:nvSpPr>
          <p:cNvPr id="134" name="Text 128"/>
          <p:cNvSpPr txBox="1"/>
          <p:nvPr/>
        </p:nvSpPr>
        <p:spPr>
          <a:xfrm>
            <a:off x="681228" y="5305349"/>
            <a:ext cx="2221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800" dirty="0"/>
          </a:p>
        </p:txBody>
      </p:sp>
      <p:sp>
        <p:nvSpPr>
          <p:cNvPr id="135" name="Text 129"/>
          <p:cNvSpPr txBox="1"/>
          <p:nvPr/>
        </p:nvSpPr>
        <p:spPr>
          <a:xfrm>
            <a:off x="1258214" y="5237683"/>
            <a:ext cx="567933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the EBITDA figure in the company's investor presentation match the adjusted EBITDA in the audited 10-K?"</a:t>
            </a:r>
            <a:endParaRPr lang="en-US" sz="800" dirty="0"/>
          </a:p>
        </p:txBody>
      </p:sp>
      <p:sp>
        <p:nvSpPr>
          <p:cNvPr id="136" name="Text 130"/>
          <p:cNvSpPr txBox="1"/>
          <p:nvPr/>
        </p:nvSpPr>
        <p:spPr>
          <a:xfrm>
            <a:off x="7336231" y="5305349"/>
            <a:ext cx="177485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Investor Presentation 10-K Filing</a:t>
            </a:r>
            <a:endParaRPr lang="en-US" sz="800" dirty="0"/>
          </a:p>
        </p:txBody>
      </p:sp>
      <p:sp>
        <p:nvSpPr>
          <p:cNvPr id="137" name="Text 131"/>
          <p:cNvSpPr txBox="1"/>
          <p:nvPr/>
        </p:nvSpPr>
        <p:spPr>
          <a:xfrm>
            <a:off x="11132820" y="5305349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38" name="Text 132"/>
          <p:cNvSpPr txBox="1"/>
          <p:nvPr/>
        </p:nvSpPr>
        <p:spPr>
          <a:xfrm>
            <a:off x="686714" y="5727802"/>
            <a:ext cx="20299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800" dirty="0"/>
          </a:p>
        </p:txBody>
      </p:sp>
      <p:sp>
        <p:nvSpPr>
          <p:cNvPr id="139" name="Text 133"/>
          <p:cNvSpPr txBox="1"/>
          <p:nvPr/>
        </p:nvSpPr>
        <p:spPr>
          <a:xfrm>
            <a:off x="1258214" y="5729630"/>
            <a:ext cx="572780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Moody's reported WARF for CLO 2024-X match the trustee's calculated WARF in the monthly report?"</a:t>
            </a:r>
            <a:endParaRPr lang="en-US" sz="800" dirty="0"/>
          </a:p>
        </p:txBody>
      </p:sp>
      <p:sp>
        <p:nvSpPr>
          <p:cNvPr id="140" name="Text 134"/>
          <p:cNvSpPr txBox="1"/>
          <p:nvPr/>
        </p:nvSpPr>
        <p:spPr>
          <a:xfrm>
            <a:off x="7336231" y="5727802"/>
            <a:ext cx="198424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Moody's Surveillance Trustee Report</a:t>
            </a:r>
            <a:endParaRPr lang="en-US" sz="800" dirty="0"/>
          </a:p>
        </p:txBody>
      </p:sp>
      <p:sp>
        <p:nvSpPr>
          <p:cNvPr id="141" name="Text 135"/>
          <p:cNvSpPr txBox="1"/>
          <p:nvPr/>
        </p:nvSpPr>
        <p:spPr>
          <a:xfrm>
            <a:off x="11132820" y="5727802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42" name="Text 136"/>
          <p:cNvSpPr txBox="1"/>
          <p:nvPr/>
        </p:nvSpPr>
        <p:spPr>
          <a:xfrm>
            <a:off x="683971" y="6083503"/>
            <a:ext cx="21214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800" dirty="0"/>
          </a:p>
        </p:txBody>
      </p:sp>
      <p:sp>
        <p:nvSpPr>
          <p:cNvPr id="143" name="Text 137"/>
          <p:cNvSpPr txBox="1"/>
          <p:nvPr/>
        </p:nvSpPr>
        <p:spPr>
          <a:xfrm>
            <a:off x="1258214" y="6084418"/>
            <a:ext cx="56226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"Does the CEO's statement on job growth in the earnings call align with headcount disclosed in the 10-K?"</a:t>
            </a:r>
            <a:endParaRPr lang="en-US" sz="800" dirty="0"/>
          </a:p>
        </p:txBody>
      </p:sp>
      <p:sp>
        <p:nvSpPr>
          <p:cNvPr id="144" name="Text 138"/>
          <p:cNvSpPr txBox="1"/>
          <p:nvPr/>
        </p:nvSpPr>
        <p:spPr>
          <a:xfrm>
            <a:off x="7336231" y="6083503"/>
            <a:ext cx="166969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Earnings Transcript 10-K Filing</a:t>
            </a:r>
            <a:endParaRPr lang="en-US" sz="800" dirty="0"/>
          </a:p>
        </p:txBody>
      </p:sp>
      <p:sp>
        <p:nvSpPr>
          <p:cNvPr id="145" name="Text 139"/>
          <p:cNvSpPr txBox="1"/>
          <p:nvPr/>
        </p:nvSpPr>
        <p:spPr>
          <a:xfrm>
            <a:off x="11132820" y="6083503"/>
            <a:ext cx="14539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146" name="Text 140"/>
          <p:cNvSpPr txBox="1"/>
          <p:nvPr/>
        </p:nvSpPr>
        <p:spPr>
          <a:xfrm>
            <a:off x="714146" y="6443777"/>
            <a:ext cx="667969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Insight: Single-hop RAG handles lookup. Multi-hop RAG handles analysis. The query type determines the retrieval strategy.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791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RISKS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4953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Challenges to Watch For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716768" y="619049"/>
            <a:ext cx="11192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23346" y="809244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" y="1619402"/>
            <a:ext cx="3543300" cy="3840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" y="2553005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847649" y="1971446"/>
            <a:ext cx="171907" cy="2286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324051" y="1848002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Overhead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24051" y="2162556"/>
            <a:ext cx="1505102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10005" y="2219249"/>
            <a:ext cx="14100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IMPACT: 3-5X SLOWDOWN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" y="2771546"/>
            <a:ext cx="3129077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hop adds an LLM inference call and database retrieval cycle. A standard query takes &lt;2s, while a 3-hop chain can exceed 10s.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7649" y="3555187"/>
            <a:ext cx="2248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 time increases linearly with hops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47649" y="3783787"/>
            <a:ext cx="2695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experience degrades for real-time needs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4944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7707" y="5410505"/>
            <a:ext cx="114300" cy="11430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47902" y="5391302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857707" y="5619902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Parallelize retrieval where branches are independent. Implement aggressive caching for intermediate steps.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17797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327855" y="1619402"/>
            <a:ext cx="3543300" cy="3840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Shape 24"/>
          <p:cNvSpPr/>
          <p:nvPr/>
        </p:nvSpPr>
        <p:spPr>
          <a:xfrm>
            <a:off x="4327855" y="2553005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4556455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5" b="-45"/>
          <a:stretch/>
        </p:blipFill>
        <p:spPr>
          <a:xfrm>
            <a:off x="4665269" y="1971446"/>
            <a:ext cx="256946" cy="22860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184648" y="1848002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Noise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184648" y="2162556"/>
            <a:ext cx="159105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270602" y="2219249"/>
            <a:ext cx="14959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RISK: "LOST IN THE MIDDLE"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4556455" y="2771546"/>
            <a:ext cx="3176626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Accumulating 5-10 documents across multiple hops creates a noisy context window. The LLM may overlook early critical clues or hallucinate connections.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4708246" y="3771900"/>
            <a:ext cx="2600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drops as context length grows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4708246" y="4000500"/>
            <a:ext cx="24862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Irrelevant details from Hop 1 pollute Hop 3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556455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18304" y="5410505"/>
            <a:ext cx="114300" cy="11430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4908499" y="5391302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4718304" y="5619902"/>
            <a:ext cx="28483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 intermediate results before passing to next hop. Use "Chain-of-Note" to filter noise at each step.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8178394" y="1609344"/>
            <a:ext cx="3562502" cy="4867351"/>
          </a:xfrm>
          <a:prstGeom prst="roundRect">
            <a:avLst>
              <a:gd name="adj" fmla="val 82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188452" y="1619402"/>
            <a:ext cx="3543300" cy="3840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3" name="Shape 37"/>
          <p:cNvSpPr/>
          <p:nvPr/>
        </p:nvSpPr>
        <p:spPr>
          <a:xfrm>
            <a:off x="8188452" y="2553005"/>
            <a:ext cx="35433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8417052" y="184800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8512150" y="1971446"/>
            <a:ext cx="286207" cy="228600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9045245" y="1848002"/>
            <a:ext cx="1933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Propagation</a:t>
            </a:r>
            <a:endParaRPr lang="en-US" sz="1500" dirty="0"/>
          </a:p>
        </p:txBody>
      </p:sp>
      <p:sp>
        <p:nvSpPr>
          <p:cNvPr id="47" name="Shape 40"/>
          <p:cNvSpPr/>
          <p:nvPr/>
        </p:nvSpPr>
        <p:spPr>
          <a:xfrm>
            <a:off x="9045245" y="2162556"/>
            <a:ext cx="1514246" cy="237744"/>
          </a:xfrm>
          <a:prstGeom prst="roundRect">
            <a:avLst>
              <a:gd name="adj" fmla="val 6153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9131198" y="2219249"/>
            <a:ext cx="14200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RISK: CASCADING FAILURE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8417052" y="2771546"/>
            <a:ext cx="300563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cascade. If Hop 1 identifies the wrong "Target Company", all subsequent financial retrievals will be for the wrong entity.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8568842" y="3555187"/>
            <a:ext cx="21817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Early hallucination ruins entire chain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8568842" y="3783787"/>
            <a:ext cx="23719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Harder to debug than single-shot errors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8417052" y="5229454"/>
            <a:ext cx="3086100" cy="1009498"/>
          </a:xfrm>
          <a:prstGeom prst="roundRect">
            <a:avLst>
              <a:gd name="adj" fmla="val 6836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78901" y="5410505"/>
            <a:ext cx="114300" cy="114300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8769096" y="5391302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MITIGATION STRATEGY</a:t>
            </a:r>
            <a:endParaRPr lang="en-US" sz="900" dirty="0"/>
          </a:p>
        </p:txBody>
      </p:sp>
      <p:sp>
        <p:nvSpPr>
          <p:cNvPr id="55" name="Text 47"/>
          <p:cNvSpPr txBox="1"/>
          <p:nvPr/>
        </p:nvSpPr>
        <p:spPr>
          <a:xfrm>
            <a:off x="8578901" y="5619902"/>
            <a:ext cx="27624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validation steps ("Is this the correct company?"). Use confidence scoring to abort low-quality paths early.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1695" cy="12289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2198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381305"/>
            <a:ext cx="13533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71500"/>
            <a:ext cx="3896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Strategic Value &amp; ROI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10767060" y="609905"/>
            <a:ext cx="10579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20602" y="809244"/>
            <a:ext cx="614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987991" y="4091026"/>
            <a:ext cx="1752905" cy="247802"/>
          </a:xfrm>
          <a:prstGeom prst="roundRect">
            <a:avLst>
              <a:gd name="adj" fmla="val 369004"/>
            </a:avLst>
          </a:prstGeom>
          <a:solidFill>
            <a:srgbClr val="78350F">
              <a:alpha val="2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100170"/>
            <a:ext cx="20436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Operational Shift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-4000" r="-4000" t="0" b="0"/>
          <a:stretch/>
        </p:blipFill>
        <p:spPr>
          <a:xfrm>
            <a:off x="10111435" y="4153205"/>
            <a:ext cx="123444" cy="1143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311689" y="4138574"/>
            <a:ext cx="1390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TRANSFORMATION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" y="1543507"/>
            <a:ext cx="2628900" cy="2834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4"/>
          <p:cNvSpPr/>
          <p:nvPr/>
        </p:nvSpPr>
        <p:spPr>
          <a:xfrm>
            <a:off x="1543507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86154" y="1914754"/>
            <a:ext cx="190195" cy="190195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75334" y="2457907"/>
            <a:ext cx="15343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TO INSIGHT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87552" y="2762402"/>
            <a:ext cx="16907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Significant reduction in research time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57454" y="3176626"/>
            <a:ext cx="22475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64438" y="3319272"/>
            <a:ext cx="2153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"Hours of work in minutes"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333902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43046" y="1543507"/>
            <a:ext cx="2628900" cy="2834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1"/>
          <p:cNvSpPr/>
          <p:nvPr/>
        </p:nvSpPr>
        <p:spPr>
          <a:xfrm>
            <a:off x="4419295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62856" y="1914754"/>
            <a:ext cx="190195" cy="190195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197096" y="2457907"/>
            <a:ext cx="10387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3691433" y="2762402"/>
            <a:ext cx="20336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Minimized hallucination rate on facts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534156" y="3176626"/>
            <a:ext cx="22475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3567074" y="3319272"/>
            <a:ext cx="2296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"Grounded in specific filings"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210605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219749" y="1543507"/>
            <a:ext cx="2628900" cy="2834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28"/>
          <p:cNvSpPr/>
          <p:nvPr/>
        </p:nvSpPr>
        <p:spPr>
          <a:xfrm>
            <a:off x="7295998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62418" y="1914754"/>
            <a:ext cx="142646" cy="19019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951269" y="2457907"/>
            <a:ext cx="1286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AUDITABILITY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559906" y="2762402"/>
            <a:ext cx="20528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Fully traceable decision logic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09944" y="3176626"/>
            <a:ext cx="22475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6730898" y="3319272"/>
            <a:ext cx="1724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"Every hop is logged"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9087307" y="1533449"/>
            <a:ext cx="2648102" cy="2238451"/>
          </a:xfrm>
          <a:prstGeom prst="roundRect">
            <a:avLst>
              <a:gd name="adj" fmla="val 208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096451" y="1543507"/>
            <a:ext cx="2628900" cy="2834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1" name="Shape 35"/>
          <p:cNvSpPr/>
          <p:nvPr/>
        </p:nvSpPr>
        <p:spPr>
          <a:xfrm>
            <a:off x="10172700" y="1772107"/>
            <a:ext cx="476402" cy="476402"/>
          </a:xfrm>
          <a:prstGeom prst="ellipse">
            <a:avLst/>
          </a:prstGeom>
          <a:solidFill>
            <a:srgbClr val="0B1E3D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315346" y="1914754"/>
            <a:ext cx="190195" cy="19019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9871862" y="2457907"/>
            <a:ext cx="1200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9406433" y="2762402"/>
            <a:ext cx="211043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Increased analyst throughput capacity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9286646" y="3176626"/>
            <a:ext cx="22475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9329623" y="3319272"/>
            <a:ext cx="2276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"Handle cross-team queries"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457200" y="4548226"/>
            <a:ext cx="11277295" cy="2009851"/>
          </a:xfrm>
          <a:prstGeom prst="roundRect">
            <a:avLst>
              <a:gd name="adj" fmla="val 3450"/>
            </a:avLst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504749" y="4595774"/>
            <a:ext cx="5600700" cy="1914754"/>
          </a:xfrm>
          <a:prstGeom prst="roundRect">
            <a:avLst>
              <a:gd name="adj" fmla="val 2851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9" name="Shape 42"/>
          <p:cNvSpPr/>
          <p:nvPr/>
        </p:nvSpPr>
        <p:spPr>
          <a:xfrm>
            <a:off x="6096305" y="4595774"/>
            <a:ext cx="9144" cy="191475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733349" y="488381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7649" y="4998110"/>
            <a:ext cx="152705" cy="152705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266444" y="4883810"/>
            <a:ext cx="1252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Standard RAG</a:t>
            </a:r>
            <a:endParaRPr lang="en-US" sz="1300" dirty="0"/>
          </a:p>
        </p:txBody>
      </p:sp>
      <p:sp>
        <p:nvSpPr>
          <p:cNvPr id="53" name="Text 45"/>
          <p:cNvSpPr txBox="1"/>
          <p:nvPr/>
        </p:nvSpPr>
        <p:spPr>
          <a:xfrm>
            <a:off x="1266444" y="5131613"/>
            <a:ext cx="12573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LEGACY APPROACH</a:t>
            </a:r>
            <a:endParaRPr lang="en-US" sz="900" dirty="0"/>
          </a:p>
        </p:txBody>
      </p:sp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rcRect l="-7192" r="-7192" t="0" b="0"/>
          <a:stretch/>
        </p:blipFill>
        <p:spPr>
          <a:xfrm>
            <a:off x="809244" y="5465369"/>
            <a:ext cx="152705" cy="133502"/>
          </a:xfrm>
          <a:prstGeom prst="rect">
            <a:avLst/>
          </a:prstGeom>
        </p:spPr>
      </p:pic>
      <p:sp>
        <p:nvSpPr>
          <p:cNvPr id="55" name="Text 46"/>
          <p:cNvSpPr txBox="1"/>
          <p:nvPr/>
        </p:nvSpPr>
        <p:spPr>
          <a:xfrm>
            <a:off x="961949" y="5446166"/>
            <a:ext cx="24624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Q&amp;A over single documents</a:t>
            </a:r>
            <a:endParaRPr lang="en-US" sz="1000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rcRect l="-7192" r="-7192" t="0" b="0"/>
          <a:stretch/>
        </p:blipFill>
        <p:spPr>
          <a:xfrm>
            <a:off x="809244" y="5769864"/>
            <a:ext cx="152705" cy="133502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61949" y="5750662"/>
            <a:ext cx="25484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Analyst must manually connect dots</a:t>
            </a:r>
            <a:endParaRPr lang="en-US" sz="10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rcRect l="-7192" r="-7192" t="0" b="0"/>
          <a:stretch/>
        </p:blipFill>
        <p:spPr>
          <a:xfrm>
            <a:off x="809244" y="6074359"/>
            <a:ext cx="152705" cy="13350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961949" y="6055157"/>
            <a:ext cx="2539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limited to keyword similarity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100877" y="4595774"/>
            <a:ext cx="5591556" cy="1914754"/>
          </a:xfrm>
          <a:prstGeom prst="rect">
            <a:avLst/>
          </a:prstGeom>
          <a:solidFill>
            <a:srgbClr val="C5A059">
              <a:alpha val="5000"/>
            </a:srgbClr>
          </a:solidFill>
          <a:ln/>
        </p:spPr>
      </p:sp>
      <p:sp>
        <p:nvSpPr>
          <p:cNvPr id="61" name="Shape 50"/>
          <p:cNvSpPr/>
          <p:nvPr/>
        </p:nvSpPr>
        <p:spPr>
          <a:xfrm>
            <a:off x="6329477" y="488381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1E3A8A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443777" y="4998110"/>
            <a:ext cx="152705" cy="152705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6862572" y="4883810"/>
            <a:ext cx="1462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Multi-Hop Agent</a:t>
            </a:r>
            <a:endParaRPr lang="en-US" sz="1300" dirty="0"/>
          </a:p>
        </p:txBody>
      </p:sp>
      <p:sp>
        <p:nvSpPr>
          <p:cNvPr id="64" name="Text 52"/>
          <p:cNvSpPr txBox="1"/>
          <p:nvPr/>
        </p:nvSpPr>
        <p:spPr>
          <a:xfrm>
            <a:off x="6862572" y="5131613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STATE</a:t>
            </a:r>
            <a:endParaRPr lang="en-US" sz="90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-7192" r="-7192" t="0" b="0"/>
          <a:stretch/>
        </p:blipFill>
        <p:spPr>
          <a:xfrm>
            <a:off x="6405372" y="5465369"/>
            <a:ext cx="152705" cy="133502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6558077" y="5446166"/>
            <a:ext cx="3167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multi-step reasoning across corpus</a:t>
            </a:r>
            <a:endParaRPr lang="en-US" sz="1000" dirty="0"/>
          </a:p>
        </p:txBody>
      </p:sp>
      <p:pic>
        <p:nvPicPr>
          <p:cNvPr id="67" name="Image 11" descr="preencoded.png">    </p:cNvPr>
          <p:cNvPicPr>
            <a:picLocks noChangeAspect="1"/>
          </p:cNvPicPr>
          <p:nvPr/>
        </p:nvPicPr>
        <p:blipFill>
          <a:blip r:embed="rId12"/>
          <a:srcRect l="-7192" r="-7192" t="0" b="0"/>
          <a:stretch/>
        </p:blipFill>
        <p:spPr>
          <a:xfrm>
            <a:off x="6405372" y="5769864"/>
            <a:ext cx="152705" cy="133502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6558077" y="5750662"/>
            <a:ext cx="29772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autonomously synthesizes answers</a:t>
            </a:r>
            <a:endParaRPr lang="en-US" sz="1000" dirty="0"/>
          </a:p>
        </p:txBody>
      </p:sp>
      <p:pic>
        <p:nvPicPr>
          <p:cNvPr id="69" name="Image 12" descr="preencoded.png">    </p:cNvPr>
          <p:cNvPicPr>
            <a:picLocks noChangeAspect="1"/>
          </p:cNvPicPr>
          <p:nvPr/>
        </p:nvPicPr>
        <p:blipFill>
          <a:blip r:embed="rId13"/>
          <a:srcRect l="-7192" r="-7192" t="0" b="0"/>
          <a:stretch/>
        </p:blipFill>
        <p:spPr>
          <a:xfrm>
            <a:off x="6405372" y="6074359"/>
            <a:ext cx="152705" cy="133502"/>
          </a:xfrm>
          <a:prstGeom prst="rect">
            <a:avLst/>
          </a:prstGeom>
        </p:spPr>
      </p:pic>
      <p:sp>
        <p:nvSpPr>
          <p:cNvPr id="70" name="Text 55"/>
          <p:cNvSpPr txBox="1"/>
          <p:nvPr/>
        </p:nvSpPr>
        <p:spPr>
          <a:xfrm>
            <a:off x="6558077" y="6055157"/>
            <a:ext cx="34719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context understanding via knowledge graph</a:t>
            </a:r>
            <a:endParaRPr lang="en-US" sz="1000" dirty="0"/>
          </a:p>
        </p:txBody>
      </p:sp>
      <p:sp>
        <p:nvSpPr>
          <p:cNvPr id="71" name="Shape 56"/>
          <p:cNvSpPr/>
          <p:nvPr/>
        </p:nvSpPr>
        <p:spPr>
          <a:xfrm>
            <a:off x="5905195" y="5360213"/>
            <a:ext cx="381305" cy="381305"/>
          </a:xfrm>
          <a:prstGeom prst="ellipse">
            <a:avLst/>
          </a:prstGeom>
          <a:solidFill>
            <a:srgbClr val="0B1E3D"/>
          </a:solidFill>
          <a:ln w="25400">
            <a:solidFill>
              <a:srgbClr val="C5A059"/>
            </a:solidFill>
            <a:prstDash val="solid"/>
          </a:ln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-43" b="-43"/>
          <a:stretch/>
        </p:blipFill>
        <p:spPr>
          <a:xfrm>
            <a:off x="6029554" y="5474513"/>
            <a:ext cx="133502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4675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81305" y="304495"/>
            <a:ext cx="1600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81305" y="476402"/>
            <a:ext cx="17958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1305" y="2348179"/>
            <a:ext cx="6495898" cy="1190549"/>
          </a:xfrm>
          <a:prstGeom prst="roundRect">
            <a:avLst>
              <a:gd name="adj" fmla="val 49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4749" y="2719426"/>
            <a:ext cx="62480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5" y="3685946"/>
            <a:ext cx="6495898" cy="1190549"/>
          </a:xfrm>
          <a:prstGeom prst="roundRect">
            <a:avLst>
              <a:gd name="adj" fmla="val 49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9" y="4058107"/>
            <a:ext cx="62480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4" name="Shape 12"/>
          <p:cNvSpPr/>
          <p:nvPr/>
        </p:nvSpPr>
        <p:spPr>
          <a:xfrm>
            <a:off x="381305" y="5024628"/>
            <a:ext cx="6495898" cy="875995"/>
          </a:xfrm>
          <a:prstGeom prst="roundRect">
            <a:avLst>
              <a:gd name="adj" fmla="val 9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1305" y="195773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RAG = The Analyst's Force Multiplier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4749" y="2481682"/>
            <a:ext cx="1729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04749" y="3819449"/>
            <a:ext cx="22722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Techniques &amp; Applicability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4749" y="5158130"/>
            <a:ext cx="10241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4749" y="5395874"/>
            <a:ext cx="43059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the transition from simple document search to intelligent reasoning.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749" y="5639105"/>
            <a:ext cx="114300" cy="1143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57454" y="5624474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Pilot Scope</a:t>
            </a:r>
            <a:endParaRPr lang="en-US" sz="9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57146" y="5639105"/>
            <a:ext cx="114300" cy="1143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009851" y="5624474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Data Connectors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04895" y="5639105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657600" y="5624474"/>
            <a:ext cx="15526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Instrument Hop Logging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694944" y="2786177"/>
            <a:ext cx="61347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RAG fails for complex financial questions requiring information from multiple disjointed sources.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694944" y="3019349"/>
            <a:ext cx="5686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Multi-hop RAG chains retrieval steps, using each result to intelligently inform the next query in the sequence.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94944" y="4123944"/>
            <a:ext cx="53913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pillars: Query Decomposition (breaking down the ask) and Knowledge Graphs (mapping relationships).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94944" y="4515307"/>
            <a:ext cx="4144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for M&amp;A, Credit Risk, Compliance Checks, and Portfolio Analysis.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175297" y="1228954"/>
            <a:ext cx="4638751" cy="5400446"/>
          </a:xfrm>
          <a:prstGeom prst="roundRect">
            <a:avLst>
              <a:gd name="adj" fmla="val 32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337146" y="1390802"/>
            <a:ext cx="20007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INTELLIGENCE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053474" y="2633472"/>
            <a:ext cx="886054" cy="267005"/>
          </a:xfrm>
          <a:prstGeom prst="roundRect">
            <a:avLst>
              <a:gd name="adj" fmla="val 244618"/>
            </a:avLst>
          </a:prstGeom>
          <a:solidFill>
            <a:srgbClr val="1A365D"/>
          </a:solidFill>
          <a:ln w="127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87" b="-1087"/>
          <a:stretch/>
        </p:blipFill>
        <p:spPr>
          <a:xfrm>
            <a:off x="9157716" y="2722169"/>
            <a:ext cx="105156" cy="85954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9301277" y="2700223"/>
            <a:ext cx="6099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9131198" y="4315054"/>
            <a:ext cx="733349" cy="267005"/>
          </a:xfrm>
          <a:prstGeom prst="roundRect">
            <a:avLst>
              <a:gd name="adj" fmla="val 244618"/>
            </a:avLst>
          </a:prstGeom>
          <a:solidFill>
            <a:srgbClr val="1A365D"/>
          </a:solidFill>
          <a:ln w="127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841" b="-841"/>
          <a:stretch/>
        </p:blipFill>
        <p:spPr>
          <a:xfrm>
            <a:off x="9235440" y="4402836"/>
            <a:ext cx="95098" cy="85954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368942" y="4381805"/>
            <a:ext cx="4672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8426196" y="3473806"/>
            <a:ext cx="790956" cy="267005"/>
          </a:xfrm>
          <a:prstGeom prst="roundRect">
            <a:avLst>
              <a:gd name="adj" fmla="val 244618"/>
            </a:avLst>
          </a:prstGeom>
          <a:solidFill>
            <a:srgbClr val="1A365D"/>
          </a:solidFill>
          <a:ln w="127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87" b="-1087"/>
          <a:stretch/>
        </p:blipFill>
        <p:spPr>
          <a:xfrm>
            <a:off x="8531352" y="3562502"/>
            <a:ext cx="105156" cy="8595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673998" y="3540557"/>
            <a:ext cx="5148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M&amp;A Deal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10040112" y="3473806"/>
            <a:ext cx="523951" cy="267005"/>
          </a:xfrm>
          <a:prstGeom prst="roundRect">
            <a:avLst>
              <a:gd name="adj" fmla="val 244618"/>
            </a:avLst>
          </a:prstGeom>
          <a:solidFill>
            <a:srgbClr val="1A365D"/>
          </a:solidFill>
          <a:ln w="127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45268" y="3562502"/>
            <a:ext cx="85954" cy="8595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268712" y="3540557"/>
            <a:ext cx="2670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EE3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8200339" y="4929530"/>
            <a:ext cx="2705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"Synthesizing the World's Financial Data"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7870241" y="5186477"/>
            <a:ext cx="3363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POWERED BY MULTI-HOP REASONING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8921801" y="3600907"/>
            <a:ext cx="1143000" cy="9144"/>
          </a:xfrm>
          <a:prstGeom prst="rect">
            <a:avLst/>
          </a:prstGeom>
          <a:solidFill>
            <a:srgbClr val="4299E1">
              <a:alpha val="50000"/>
            </a:srgbClr>
          </a:solidFill>
          <a:ln/>
        </p:spPr>
      </p:sp>
      <p:sp>
        <p:nvSpPr>
          <p:cNvPr id="47" name="Shape 38"/>
          <p:cNvSpPr/>
          <p:nvPr/>
        </p:nvSpPr>
        <p:spPr>
          <a:xfrm>
            <a:off x="8921801" y="3600907"/>
            <a:ext cx="1143000" cy="9144"/>
          </a:xfrm>
          <a:prstGeom prst="rect">
            <a:avLst/>
          </a:prstGeom>
          <a:solidFill>
            <a:srgbClr val="4299E1">
              <a:alpha val="50000"/>
            </a:srgbClr>
          </a:solidFill>
          <a:ln/>
        </p:spPr>
      </p:sp>
      <p:sp>
        <p:nvSpPr>
          <p:cNvPr id="48" name="Shape 39"/>
          <p:cNvSpPr/>
          <p:nvPr/>
        </p:nvSpPr>
        <p:spPr>
          <a:xfrm>
            <a:off x="8921801" y="3600907"/>
            <a:ext cx="1143000" cy="9144"/>
          </a:xfrm>
          <a:prstGeom prst="rect">
            <a:avLst/>
          </a:prstGeom>
          <a:solidFill>
            <a:srgbClr val="4299E1">
              <a:alpha val="50000"/>
            </a:srgbClr>
          </a:solidFill>
          <a:ln/>
        </p:spPr>
      </p:sp>
      <p:sp>
        <p:nvSpPr>
          <p:cNvPr id="49" name="Shape 40"/>
          <p:cNvSpPr/>
          <p:nvPr/>
        </p:nvSpPr>
        <p:spPr>
          <a:xfrm>
            <a:off x="8921801" y="3600907"/>
            <a:ext cx="1143000" cy="9144"/>
          </a:xfrm>
          <a:prstGeom prst="rect">
            <a:avLst/>
          </a:prstGeom>
          <a:solidFill>
            <a:srgbClr val="4299E1">
              <a:alpha val="50000"/>
            </a:srgbClr>
          </a:solidFill>
          <a:ln/>
        </p:spPr>
      </p:sp>
      <p:sp>
        <p:nvSpPr>
          <p:cNvPr id="50" name="Shape 41"/>
          <p:cNvSpPr/>
          <p:nvPr/>
        </p:nvSpPr>
        <p:spPr>
          <a:xfrm>
            <a:off x="9016898" y="3129077"/>
            <a:ext cx="952805" cy="952805"/>
          </a:xfrm>
          <a:prstGeom prst="ellipse">
            <a:avLst/>
          </a:prstGeom>
          <a:solidFill>
            <a:srgbClr val="C5A059">
              <a:alpha val="10000"/>
            </a:srgbClr>
          </a:solidFill>
          <a:ln w="25400">
            <a:solidFill>
              <a:srgbClr val="C5A059"/>
            </a:solidFill>
            <a:prstDash val="solid"/>
          </a:ln>
          <a:effectLst>
            <a:outerShdw sx="100000" sy="100000" kx="0" ky="0" algn="bl" rotWithShape="0" blurRad="190500" dist="12700" dir="16200000">
              <a:srgbClr val="c5a059">
                <a:alpha val="20000"/>
              </a:srgbClr>
            </a:outerShdw>
          </a:effectLst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rcRect l="-607" r="-607" t="0" b="0"/>
          <a:stretch/>
        </p:blipFill>
        <p:spPr>
          <a:xfrm>
            <a:off x="9312250" y="3461918"/>
            <a:ext cx="362102" cy="286207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10829239" y="304495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11288268" y="495605"/>
            <a:ext cx="534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6581851"/>
            <a:ext cx="11277295" cy="9144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91695" cy="1000354"/>
          </a:xfrm>
          <a:prstGeom prst="rect">
            <a:avLst/>
          </a:prstGeom>
          <a:solidFill>
            <a:srgbClr val="1E3A8A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991210"/>
            <a:ext cx="12191695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04495"/>
            <a:ext cx="13716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6402"/>
            <a:ext cx="497707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Appendix - Technical Architecture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829239" y="457200"/>
            <a:ext cx="10003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DocCentralGPT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17859" y="657454"/>
            <a:ext cx="6245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8795" y="100035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0" b="-1100"/>
          <a:stretch/>
        </p:blipFill>
        <p:spPr>
          <a:xfrm>
            <a:off x="552298" y="1123798"/>
            <a:ext cx="114300" cy="13350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28600" y="1476756"/>
            <a:ext cx="6099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Query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1391595" y="1000354"/>
            <a:ext cx="381305" cy="381305"/>
          </a:xfrm>
          <a:prstGeom prst="roundRect">
            <a:avLst>
              <a:gd name="adj" fmla="val 47962"/>
            </a:avLst>
          </a:prstGeom>
          <a:noFill/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11529670" y="1123798"/>
            <a:ext cx="105156" cy="1335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201400" y="1476756"/>
            <a:ext cx="6675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Report</a:t>
            </a:r>
            <a:endParaRPr lang="en-US" sz="12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1000354"/>
            <a:ext cx="12191695" cy="585764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52805" y="6096305"/>
            <a:ext cx="10287000" cy="476402"/>
          </a:xfrm>
          <a:prstGeom prst="roundRect">
            <a:avLst>
              <a:gd name="adj" fmla="val 3071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52144" y="618134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1261872" y="6277356"/>
            <a:ext cx="85954" cy="1143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71854" y="6124651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1D5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Logging Layer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571854" y="6334049"/>
            <a:ext cx="1924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TRACEABILITY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29400" y="6344107"/>
            <a:ext cx="152705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19595" y="6334049"/>
            <a:ext cx="10479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Hop Tracing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898587" y="6344107"/>
            <a:ext cx="152705" cy="15270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088782" y="6334049"/>
            <a:ext cx="1524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Attribution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646920" y="6344107"/>
            <a:ext cx="152705" cy="1527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837115" y="6334049"/>
            <a:ext cx="13240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Latency Metrics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1714500" y="3095244"/>
            <a:ext cx="1904695" cy="1543507"/>
          </a:xfrm>
          <a:prstGeom prst="roundRect">
            <a:avLst>
              <a:gd name="adj" fmla="val 438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2495398" y="32196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33" r="-33" t="0" b="0"/>
          <a:stretch/>
        </p:blipFill>
        <p:spPr>
          <a:xfrm>
            <a:off x="2581351" y="3314700"/>
            <a:ext cx="171907" cy="1527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2008937" y="3638398"/>
            <a:ext cx="14100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Decomposition Agent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1919326" y="3847795"/>
            <a:ext cx="16194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Breaks complex prompts into dependency chains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1628546" y="3010205"/>
            <a:ext cx="228600" cy="22860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1720901" y="3038551"/>
            <a:ext cx="133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4286707" y="2048256"/>
            <a:ext cx="1904695" cy="1943100"/>
          </a:xfrm>
          <a:prstGeom prst="roundRect">
            <a:avLst>
              <a:gd name="adj" fmla="val 288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067605" y="2171700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162702" y="2266798"/>
            <a:ext cx="152705" cy="152705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410151" y="2819095"/>
            <a:ext cx="800100" cy="552298"/>
          </a:xfrm>
          <a:prstGeom prst="roundRect">
            <a:avLst>
              <a:gd name="adj" fmla="val 11418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5286146" y="2819095"/>
            <a:ext cx="780898" cy="552298"/>
          </a:xfrm>
          <a:prstGeom prst="roundRect">
            <a:avLst>
              <a:gd name="adj" fmla="val 11418"/>
            </a:avLst>
          </a:prstGeom>
          <a:solidFill>
            <a:srgbClr val="1E3A8A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4745736" y="2590495"/>
            <a:ext cx="10771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Retrieval Engine</a:t>
            </a:r>
            <a:endParaRPr lang="en-US" sz="900" dirty="0"/>
          </a:p>
        </p:txBody>
      </p:sp>
      <p:sp>
        <p:nvSpPr>
          <p:cNvPr id="43" name="Text 32"/>
          <p:cNvSpPr txBox="1"/>
          <p:nvPr/>
        </p:nvSpPr>
        <p:spPr>
          <a:xfrm>
            <a:off x="4563770" y="2885846"/>
            <a:ext cx="6099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44" name="Text 33"/>
          <p:cNvSpPr txBox="1"/>
          <p:nvPr/>
        </p:nvSpPr>
        <p:spPr>
          <a:xfrm>
            <a:off x="5442509" y="2885846"/>
            <a:ext cx="5907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Graph DB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4424782" y="3429000"/>
            <a:ext cx="174376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search across documents &amp; entities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4200754" y="1962302"/>
            <a:ext cx="228600" cy="22860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4281221" y="199064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6953098" y="3476549"/>
            <a:ext cx="1904695" cy="1543507"/>
          </a:xfrm>
          <a:prstGeom prst="roundRect">
            <a:avLst>
              <a:gd name="adj" fmla="val 438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7733995" y="36009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rcRect l="-33" r="-33" t="0" b="0"/>
          <a:stretch/>
        </p:blipFill>
        <p:spPr>
          <a:xfrm>
            <a:off x="7819949" y="3696005"/>
            <a:ext cx="171907" cy="152705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220102" y="4019702"/>
            <a:ext cx="14676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Bridge Entity Extractor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7166153" y="4229100"/>
            <a:ext cx="16002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Identifies pivots (Companies, Dates) for next hop</a:t>
            </a:r>
            <a:endParaRPr lang="en-US" sz="1200" dirty="0"/>
          </a:p>
        </p:txBody>
      </p:sp>
      <p:sp>
        <p:nvSpPr>
          <p:cNvPr id="53" name="Shape 41"/>
          <p:cNvSpPr/>
          <p:nvPr/>
        </p:nvSpPr>
        <p:spPr>
          <a:xfrm>
            <a:off x="6867144" y="3390595"/>
            <a:ext cx="228600" cy="22860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6947611" y="3419856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Shape 43"/>
          <p:cNvSpPr/>
          <p:nvPr/>
        </p:nvSpPr>
        <p:spPr>
          <a:xfrm>
            <a:off x="4286707" y="4619549"/>
            <a:ext cx="1904695" cy="1543507"/>
          </a:xfrm>
          <a:prstGeom prst="roundRect">
            <a:avLst>
              <a:gd name="adj" fmla="val 438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5067605" y="4743907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57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43" b="-43"/>
          <a:stretch/>
        </p:blipFill>
        <p:spPr>
          <a:xfrm>
            <a:off x="5171846" y="4839005"/>
            <a:ext cx="133502" cy="152705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4422038" y="5162702"/>
            <a:ext cx="17245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Intermediate Context Store</a:t>
            </a:r>
            <a:endParaRPr lang="en-US" sz="900" dirty="0"/>
          </a:p>
        </p:txBody>
      </p:sp>
      <p:sp>
        <p:nvSpPr>
          <p:cNvPr id="59" name="Text 46"/>
          <p:cNvSpPr txBox="1"/>
          <p:nvPr/>
        </p:nvSpPr>
        <p:spPr>
          <a:xfrm>
            <a:off x="4452214" y="5372100"/>
            <a:ext cx="16962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Maintains state, provenance &amp; partial answers</a:t>
            </a:r>
            <a:endParaRPr lang="en-US" sz="1200" dirty="0"/>
          </a:p>
        </p:txBody>
      </p:sp>
      <p:sp>
        <p:nvSpPr>
          <p:cNvPr id="60" name="Shape 47"/>
          <p:cNvSpPr/>
          <p:nvPr/>
        </p:nvSpPr>
        <p:spPr>
          <a:xfrm>
            <a:off x="4200754" y="4533595"/>
            <a:ext cx="228600" cy="22860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61" name="Text 48"/>
          <p:cNvSpPr txBox="1"/>
          <p:nvPr/>
        </p:nvSpPr>
        <p:spPr>
          <a:xfrm>
            <a:off x="4275734" y="4562856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62" name="Shape 49"/>
          <p:cNvSpPr/>
          <p:nvPr/>
        </p:nvSpPr>
        <p:spPr>
          <a:xfrm>
            <a:off x="3685946" y="5229454"/>
            <a:ext cx="1695298" cy="323698"/>
          </a:xfrm>
          <a:prstGeom prst="roundRect">
            <a:avLst>
              <a:gd name="adj" fmla="val 33234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3771900" y="5305349"/>
            <a:ext cx="152705" cy="152705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3962095" y="5296205"/>
            <a:ext cx="1448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Refinement Loop</a:t>
            </a:r>
            <a:endParaRPr lang="en-US" sz="1200" dirty="0"/>
          </a:p>
        </p:txBody>
      </p:sp>
      <p:sp>
        <p:nvSpPr>
          <p:cNvPr id="65" name="Shape 51"/>
          <p:cNvSpPr/>
          <p:nvPr/>
        </p:nvSpPr>
        <p:spPr>
          <a:xfrm>
            <a:off x="8762695" y="3095244"/>
            <a:ext cx="1904695" cy="1543507"/>
          </a:xfrm>
          <a:prstGeom prst="roundRect">
            <a:avLst>
              <a:gd name="adj" fmla="val 438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30000"/>
              </a:srgbClr>
            </a:outerShdw>
          </a:effectLst>
        </p:spPr>
      </p:sp>
      <p:sp>
        <p:nvSpPr>
          <p:cNvPr id="66" name="Shape 52"/>
          <p:cNvSpPr/>
          <p:nvPr/>
        </p:nvSpPr>
        <p:spPr>
          <a:xfrm>
            <a:off x="9544507" y="3219602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C5A059">
              <a:alpha val="20000"/>
            </a:srgbClr>
          </a:solidFill>
          <a:ln w="12700">
            <a:solidFill>
              <a:srgbClr val="C5A059"/>
            </a:solidFill>
            <a:prstDash val="solid"/>
          </a:ln>
        </p:spPr>
      </p:sp>
      <p:pic>
        <p:nvPicPr>
          <p:cNvPr id="67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639605" y="3314700"/>
            <a:ext cx="152705" cy="152705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9286646" y="3638398"/>
            <a:ext cx="9436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Synthesis LLM</a:t>
            </a:r>
            <a:endParaRPr lang="en-US" sz="900" dirty="0"/>
          </a:p>
        </p:txBody>
      </p:sp>
      <p:sp>
        <p:nvSpPr>
          <p:cNvPr id="69" name="Text 54"/>
          <p:cNvSpPr txBox="1"/>
          <p:nvPr/>
        </p:nvSpPr>
        <p:spPr>
          <a:xfrm>
            <a:off x="8966606" y="3847795"/>
            <a:ext cx="161940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contexts, resolves conflicts &amp; cites sources</a:t>
            </a:r>
            <a:endParaRPr lang="en-US" sz="1200" dirty="0"/>
          </a:p>
        </p:txBody>
      </p:sp>
      <p:sp>
        <p:nvSpPr>
          <p:cNvPr id="70" name="Shape 55"/>
          <p:cNvSpPr/>
          <p:nvPr/>
        </p:nvSpPr>
        <p:spPr>
          <a:xfrm>
            <a:off x="8677656" y="3010205"/>
            <a:ext cx="228600" cy="228600"/>
          </a:xfrm>
          <a:prstGeom prst="ellipse">
            <a:avLst/>
          </a:prstGeom>
          <a:solidFill>
            <a:srgbClr val="C5A059"/>
          </a:solidFill>
          <a:ln w="25400">
            <a:solidFill>
              <a:srgbClr val="0B1E3D"/>
            </a:solidFill>
            <a:prstDash val="solid"/>
          </a:ln>
        </p:spPr>
      </p:sp>
      <p:sp>
        <p:nvSpPr>
          <p:cNvPr id="71" name="Text 56"/>
          <p:cNvSpPr txBox="1"/>
          <p:nvPr/>
        </p:nvSpPr>
        <p:spPr>
          <a:xfrm>
            <a:off x="8757209" y="3038551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E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2025-12-19T14:55:45Z</dcterms:created>
  <dcterms:modified xsi:type="dcterms:W3CDTF">2025-12-19T14:55:45Z</dcterms:modified>
</cp:coreProperties>
</file>