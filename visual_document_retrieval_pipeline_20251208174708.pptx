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851660" y="1887322"/>
            <a:ext cx="9011412" cy="1657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Document Retrieval Pipeline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5524805" y="4209898"/>
            <a:ext cx="1143000" cy="3840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99893" y="4552798"/>
            <a:ext cx="682965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Approaches for PDF Question Answering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6782105"/>
            <a:ext cx="12191695" cy="75895"/>
          </a:xfrm>
          <a:prstGeom prst="rect">
            <a:avLst/>
          </a:prstGeom>
          <a:solidFill>
            <a:srgbClr val="1E3A8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149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1695" y="629107"/>
            <a:ext cx="2448763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52805" y="1772107"/>
            <a:ext cx="26673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1067105" y="2361895"/>
            <a:ext cx="56912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 documents containing images and complex layouts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67105" y="2811780"/>
            <a:ext cx="43388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 to answer user questions accurately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67105" y="3261665"/>
            <a:ext cx="57963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Challenge: Preserve visual information vs. text extraction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52805" y="4091940"/>
            <a:ext cx="3076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Main Approaches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1067105" y="4682642"/>
            <a:ext cx="53967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 A: Visual Document Retrieval (Image-First)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10005" y="5160874"/>
            <a:ext cx="3381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Optional: DSPy Query Enhancement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67105" y="5551322"/>
            <a:ext cx="56253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 B: VLLM Description + Text Filtering (Hybrid)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0" y="7048195"/>
            <a:ext cx="12191695" cy="57607"/>
          </a:xfrm>
          <a:prstGeom prst="rect">
            <a:avLst/>
          </a:prstGeom>
          <a:solidFill>
            <a:srgbClr val="1E3A8A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200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1695" y="629107"/>
            <a:ext cx="9134856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 A - Visual Document Retrieval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429207"/>
            <a:ext cx="31245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Visual Pipeline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1695" y="2124151"/>
            <a:ext cx="609905" cy="609905"/>
          </a:xfrm>
          <a:prstGeom prst="roundRect">
            <a:avLst>
              <a:gd name="adj" fmla="val 18741"/>
            </a:avLst>
          </a:prstGeom>
          <a:solidFill>
            <a:srgbClr val="1E3A8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1268" y="2238451"/>
            <a:ext cx="3621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61795" y="2162556"/>
            <a:ext cx="204368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Retrieval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790395" y="2628900"/>
            <a:ext cx="22027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submits a question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790395" y="2976372"/>
            <a:ext cx="30796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(Optional: DSPy query refinement)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790395" y="3323844"/>
            <a:ext cx="44512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Retrieve top-k relevant pages using vision models: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115007" y="3700577"/>
            <a:ext cx="34628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ColPali - Document understanding model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115007" y="4043477"/>
            <a:ext cx="31958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ColQwen - Multimodal retrieval model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790395" y="4358030"/>
            <a:ext cx="37938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Pages ranked by visual + textual relevance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1695" y="4914900"/>
            <a:ext cx="609905" cy="609905"/>
          </a:xfrm>
          <a:prstGeom prst="roundRect">
            <a:avLst>
              <a:gd name="adj" fmla="val 18741"/>
            </a:avLst>
          </a:prstGeom>
          <a:solidFill>
            <a:srgbClr val="1E3A8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71093" y="5029200"/>
            <a:ext cx="42885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1561795" y="4953305"/>
            <a:ext cx="228142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VLLM Processing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790395" y="5419649"/>
            <a:ext cx="32415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Top-k pages sent directly as images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790395" y="5767121"/>
            <a:ext cx="33366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Processed by state-of-the-art VLLMs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1695" y="6324905"/>
            <a:ext cx="609905" cy="609905"/>
          </a:xfrm>
          <a:prstGeom prst="roundRect">
            <a:avLst>
              <a:gd name="adj" fmla="val 18741"/>
            </a:avLst>
          </a:prstGeom>
          <a:solidFill>
            <a:srgbClr val="1E3A8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8350" y="6439205"/>
            <a:ext cx="42885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1561795" y="6362395"/>
            <a:ext cx="249082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 Generation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1790395" y="6829654"/>
            <a:ext cx="34418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versions of pages used as input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790395" y="7177126"/>
            <a:ext cx="34509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(Optional: Enhanced generation query)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790395" y="7524598"/>
            <a:ext cx="3813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Preserves layouts, charts, tables, diagrams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8557870"/>
            <a:ext cx="12191695" cy="57607"/>
          </a:xfrm>
          <a:prstGeom prst="rect">
            <a:avLst/>
          </a:prstGeom>
          <a:solidFill>
            <a:srgbClr val="1E3A8A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1695" y="629107"/>
            <a:ext cx="741121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 A - Supported Models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438351"/>
            <a:ext cx="4253789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Vision-Language Models (VLLMs)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61695" y="2247595"/>
            <a:ext cx="3353105" cy="2819095"/>
          </a:xfrm>
          <a:prstGeom prst="roundRect">
            <a:avLst>
              <a:gd name="adj" fmla="val 1315"/>
            </a:avLst>
          </a:prstGeom>
          <a:solidFill>
            <a:srgbClr val="F8FAFC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7902" y="3067812"/>
            <a:ext cx="2781605" cy="2834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8001" y="2600554"/>
            <a:ext cx="22960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Generation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14907" y="3498494"/>
            <a:ext cx="848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GPT-4o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14907" y="3917290"/>
            <a:ext cx="22860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GPT-4.1 / GPT-4.1-mini / GPT-4.1-nano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19295" y="2247595"/>
            <a:ext cx="3353105" cy="2819095"/>
          </a:xfrm>
          <a:prstGeom prst="roundRect">
            <a:avLst>
              <a:gd name="adj" fmla="val 1315"/>
            </a:avLst>
          </a:prstGeom>
          <a:solidFill>
            <a:srgbClr val="F8FAFC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5502" y="3067812"/>
            <a:ext cx="2781605" cy="2834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24958" y="2600554"/>
            <a:ext cx="25146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Reasoning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972507" y="3650285"/>
            <a:ext cx="381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972507" y="4069994"/>
            <a:ext cx="848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o4-mini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076895" y="2247595"/>
            <a:ext cx="3353105" cy="2819095"/>
          </a:xfrm>
          <a:prstGeom prst="roundRect">
            <a:avLst>
              <a:gd name="adj" fmla="val 1315"/>
            </a:avLst>
          </a:prstGeom>
          <a:solidFill>
            <a:srgbClr val="F8FAFC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3102" y="3067812"/>
            <a:ext cx="2781605" cy="2834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855050" y="2600554"/>
            <a:ext cx="19723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Generation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630107" y="3412541"/>
            <a:ext cx="7342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GPT-5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630107" y="3764585"/>
            <a:ext cx="254569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(Recommended for DSPy-enhanced pipeline)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630107" y="430773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GPT-5 mini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61695" y="5443423"/>
            <a:ext cx="10668305" cy="657454"/>
          </a:xfrm>
          <a:prstGeom prst="roundRect">
            <a:avLst>
              <a:gd name="adj" fmla="val 16125"/>
            </a:avLst>
          </a:prstGeom>
          <a:solidFill>
            <a:srgbClr val="EFF6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61695" y="5443423"/>
            <a:ext cx="38405" cy="65745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67105" y="5652821"/>
            <a:ext cx="46798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Note: All models support native image understanding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0" y="6801307"/>
            <a:ext cx="12191695" cy="57607"/>
          </a:xfrm>
          <a:prstGeom prst="rect">
            <a:avLst/>
          </a:prstGeom>
          <a:solidFill>
            <a:srgbClr val="1E3A8A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9633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1695" y="629107"/>
            <a:ext cx="998250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 A - DSPy Enhancement (Optional)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429207"/>
            <a:ext cx="57918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 Refinement for Better Retrieval &amp; Generation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52805" y="2162556"/>
            <a:ext cx="20766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DSPy?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067105" y="2752344"/>
            <a:ext cx="46725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Declarative Self-improving Python framework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67105" y="3202229"/>
            <a:ext cx="31958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prompt optimization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67105" y="3652114"/>
            <a:ext cx="47109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Improves both retrieval and generation quality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52805" y="4387291"/>
            <a:ext cx="306781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Enhancement Pipeline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61695" y="4939589"/>
            <a:ext cx="10668305" cy="1295705"/>
          </a:xfrm>
          <a:prstGeom prst="roundRect">
            <a:avLst>
              <a:gd name="adj" fmla="val 4151"/>
            </a:avLst>
          </a:prstGeom>
          <a:solidFill>
            <a:srgbClr val="F8FAFC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08960" y="5244998"/>
            <a:ext cx="611825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Original Query→DSPy Refinement→Enhanced Retrieval Query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83557" y="5682996"/>
            <a:ext cx="296539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→Enhanced Generation Query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52805" y="6558991"/>
            <a:ext cx="18288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Benefits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1218895" y="7149694"/>
            <a:ext cx="33677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🎯 More precise retrieval results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18895" y="7599578"/>
            <a:ext cx="41870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📝 Better-structured generation prompts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18895" y="8048549"/>
            <a:ext cx="34719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🔄 Systematic query optimization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18895" y="8498434"/>
            <a:ext cx="35771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 Improved end-to-end accuracy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0" y="9900209"/>
            <a:ext cx="12191695" cy="57607"/>
          </a:xfrm>
          <a:prstGeom prst="rect">
            <a:avLst/>
          </a:prstGeom>
          <a:solidFill>
            <a:srgbClr val="1E3A8A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058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6598" y="533095"/>
            <a:ext cx="6906463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DSPy-Enhanced Pipeline Flow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66598" y="1304849"/>
            <a:ext cx="40773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 A with Query Refinement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6598" y="1923898"/>
            <a:ext cx="533095" cy="533095"/>
          </a:xfrm>
          <a:prstGeom prst="roundRect">
            <a:avLst>
              <a:gd name="adj" fmla="val 24504"/>
            </a:avLst>
          </a:prstGeom>
          <a:solidFill>
            <a:srgbClr val="1E3A8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3077" y="2029054"/>
            <a:ext cx="3813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952244"/>
            <a:ext cx="32580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 Enhancement (DSPy)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71600" y="2361895"/>
            <a:ext cx="10153498" cy="828446"/>
          </a:xfrm>
          <a:prstGeom prst="roundRect">
            <a:avLst>
              <a:gd name="adj" fmla="val 10149"/>
            </a:avLst>
          </a:prstGeom>
          <a:solidFill>
            <a:srgbClr val="F8FAFC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80998" y="2553005"/>
            <a:ext cx="12198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Question: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580998" y="2819095"/>
            <a:ext cx="328909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"What were the revenue trends in Q3?"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37022" y="3353105"/>
            <a:ext cx="2171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 DSPy Processing ↓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371600" y="3685946"/>
            <a:ext cx="10153498" cy="790956"/>
          </a:xfrm>
          <a:prstGeom prst="roundRect">
            <a:avLst>
              <a:gd name="adj" fmla="val 11143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61795" y="3857854"/>
            <a:ext cx="20766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Enhanced Retrieval Query: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561795" y="4123944"/>
            <a:ext cx="89464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"Revenue trends, Q3 financial data, quarterly comparisons, revenue charts, sales figures third quarter"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0" y="4533595"/>
            <a:ext cx="10153498" cy="990295"/>
          </a:xfrm>
          <a:prstGeom prst="roundRect">
            <a:avLst>
              <a:gd name="adj" fmla="val 7103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561795" y="4705502"/>
            <a:ext cx="22485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Enhanced Generation Query: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561795" y="4972507"/>
            <a:ext cx="946129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"Analyze the Q3 revenue trends shown in the retrieved pages. Include: year-over-year comparison, key metrics, visual chart interpretation, and notable changes."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6598" y="5772607"/>
            <a:ext cx="533095" cy="533095"/>
          </a:xfrm>
          <a:prstGeom prst="roundRect">
            <a:avLst>
              <a:gd name="adj" fmla="val 24504"/>
            </a:avLst>
          </a:prstGeom>
          <a:solidFill>
            <a:srgbClr val="1E3A8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75995" y="5876849"/>
            <a:ext cx="32461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5800954"/>
            <a:ext cx="18864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Retrieval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6229807"/>
            <a:ext cx="301752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ColPali uses enhanced retrieval query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6529730"/>
            <a:ext cx="353141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Selects top-k pages with improved precision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6829654"/>
            <a:ext cx="207477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semantic matching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6598" y="7300570"/>
            <a:ext cx="533095" cy="533095"/>
          </a:xfrm>
          <a:prstGeom prst="roundRect">
            <a:avLst>
              <a:gd name="adj" fmla="val 24504"/>
            </a:avLst>
          </a:prstGeom>
          <a:solidFill>
            <a:srgbClr val="1E3A8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49478" y="7405726"/>
            <a:ext cx="37216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1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7329830"/>
            <a:ext cx="14008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Generation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600200" y="7757770"/>
            <a:ext cx="21982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Top-k pages sent to GPT-5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600200" y="8058607"/>
            <a:ext cx="40654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Enhanced generation query provides better context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600200" y="8358530"/>
            <a:ext cx="29224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focused and accurate answers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9249156"/>
            <a:ext cx="12191695" cy="57607"/>
          </a:xfrm>
          <a:prstGeom prst="rect">
            <a:avLst/>
          </a:prstGeom>
          <a:solidFill>
            <a:srgbClr val="1E3A8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7822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1695" y="629107"/>
            <a:ext cx="695401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 A - Key Advantages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438351"/>
            <a:ext cx="2319833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Visual-First?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169518" y="2238451"/>
            <a:ext cx="34482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Preserves Visual Context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067105" y="2829154"/>
            <a:ext cx="48344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Charts, graphs, and diagrams analyzed directly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67105" y="3278124"/>
            <a:ext cx="34820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Layout and formatting maintained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67105" y="3728009"/>
            <a:ext cx="45674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Handwritten notes and annotations captured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69518" y="4510735"/>
            <a:ext cx="25914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Simplified Pipeline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067105" y="5101438"/>
            <a:ext cx="28721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Fewer transformation steps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67105" y="5551322"/>
            <a:ext cx="16056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OCR errors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67105" y="6001207"/>
            <a:ext cx="28721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visual understanding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69518" y="6783934"/>
            <a:ext cx="4163263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for Complex Documents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1067105" y="7374636"/>
            <a:ext cx="20820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drawings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67105" y="7823606"/>
            <a:ext cx="13962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Infographics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067105" y="8273491"/>
            <a:ext cx="22338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Multi-column layouts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0" y="9723730"/>
            <a:ext cx="12191695" cy="57607"/>
          </a:xfrm>
          <a:prstGeom prst="rect">
            <a:avLst/>
          </a:prstGeom>
          <a:solidFill>
            <a:srgbClr val="1E3A8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1820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1695" y="629107"/>
            <a:ext cx="9087307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 B - VLLM Description Pipeline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429207"/>
            <a:ext cx="33723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Text-Visual Approach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1695" y="2124151"/>
            <a:ext cx="609905" cy="609905"/>
          </a:xfrm>
          <a:prstGeom prst="roundRect">
            <a:avLst>
              <a:gd name="adj" fmla="val 18741"/>
            </a:avLst>
          </a:prstGeom>
          <a:solidFill>
            <a:srgbClr val="1E3A8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1268" y="2238451"/>
            <a:ext cx="3621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61795" y="2162556"/>
            <a:ext cx="2233879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Description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790395" y="2628900"/>
            <a:ext cx="31555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PDF page converted to image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790395" y="2976372"/>
            <a:ext cx="41559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VLLM generates text description of every page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790395" y="3323844"/>
            <a:ext cx="2812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Creates searchable text corpus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61695" y="3919118"/>
            <a:ext cx="609905" cy="609905"/>
          </a:xfrm>
          <a:prstGeom prst="roundRect">
            <a:avLst>
              <a:gd name="adj" fmla="val 18741"/>
            </a:avLst>
          </a:prstGeom>
          <a:solidFill>
            <a:srgbClr val="1E3A8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71093" y="4033418"/>
            <a:ext cx="42885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61795" y="3957523"/>
            <a:ext cx="362468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 Filtering (Two Methods)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561795" y="4586630"/>
            <a:ext cx="23198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2a) Keyword Filtering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790395" y="4996282"/>
            <a:ext cx="35195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 pages by domain-specific keywords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790395" y="5309921"/>
            <a:ext cx="15864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Boolean matching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790395" y="5624474"/>
            <a:ext cx="16815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preprocessing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561795" y="6090818"/>
            <a:ext cx="24624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2b) Embedding Search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790395" y="6500470"/>
            <a:ext cx="22622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 similarity search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790395" y="6815023"/>
            <a:ext cx="19769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Vector representations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790395" y="7129577"/>
            <a:ext cx="21296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Context-aware matching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8119872"/>
            <a:ext cx="12191695" cy="57607"/>
          </a:xfrm>
          <a:prstGeom prst="rect">
            <a:avLst/>
          </a:prstGeom>
          <a:solidFill>
            <a:srgbClr val="1E3A8A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1695" y="629107"/>
            <a:ext cx="7553858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 B - Answer Generation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410005"/>
            <a:ext cx="286298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Output Strategies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61695" y="2076602"/>
            <a:ext cx="5143500" cy="4019702"/>
          </a:xfrm>
          <a:prstGeom prst="roundRect">
            <a:avLst>
              <a:gd name="adj" fmla="val 647"/>
            </a:avLst>
          </a:prstGeom>
          <a:solidFill>
            <a:srgbClr val="F8FAFC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7902" y="2819095"/>
            <a:ext cx="4572000" cy="2834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787652" y="2391156"/>
            <a:ext cx="32671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3a: Text-Based Input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47902" y="3038551"/>
            <a:ext cx="45720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47418" y="3267151"/>
            <a:ext cx="328909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Question→Text Filtering→Relevant Page Descriptions→Text LLM→Answer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276502" y="4172407"/>
            <a:ext cx="29004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text descriptions from Step 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76502" y="4524451"/>
            <a:ext cx="15764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processing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76502" y="4876495"/>
            <a:ext cx="22247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computational cost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276502" y="5229454"/>
            <a:ext cx="29297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Suitable for text-heavy documents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86500" y="2076602"/>
            <a:ext cx="5143500" cy="4019702"/>
          </a:xfrm>
          <a:prstGeom prst="roundRect">
            <a:avLst>
              <a:gd name="adj" fmla="val 647"/>
            </a:avLst>
          </a:prstGeom>
          <a:solidFill>
            <a:srgbClr val="F8FAFC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72707" y="2819095"/>
            <a:ext cx="4572000" cy="2834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203643" y="2391156"/>
            <a:ext cx="34866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3b: Image-Based Input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572707" y="3038551"/>
            <a:ext cx="45720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71309" y="3267151"/>
            <a:ext cx="328909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Question→Text Filtering→Relevant Page Images→VLLM→Answer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801307" y="4172407"/>
            <a:ext cx="26151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Retrieves original page images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01307" y="4524451"/>
            <a:ext cx="24341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Preserves visual information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801307" y="4876495"/>
            <a:ext cx="17099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of both worlds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6801307"/>
            <a:ext cx="12191695" cy="57607"/>
          </a:xfrm>
          <a:prstGeom prst="rect">
            <a:avLst/>
          </a:prstGeom>
          <a:solidFill>
            <a:srgbClr val="1E3A8A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536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1695" y="629107"/>
            <a:ext cx="529620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 Comparison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410005"/>
            <a:ext cx="3234233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vs. Hybrid Pipeline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61695" y="2124151"/>
            <a:ext cx="10668305" cy="4466844"/>
          </a:xfrm>
          <a:prstGeom prst="roundRect">
            <a:avLst>
              <a:gd name="adj" fmla="val 524"/>
            </a:avLst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0898" y="2143354"/>
            <a:ext cx="10629900" cy="6949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780898" y="2143354"/>
            <a:ext cx="2980944" cy="694944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8" name="Shape 6"/>
          <p:cNvSpPr/>
          <p:nvPr/>
        </p:nvSpPr>
        <p:spPr>
          <a:xfrm>
            <a:off x="3742639" y="2143354"/>
            <a:ext cx="19202" cy="6949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09498" y="2361895"/>
            <a:ext cx="8814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Aspect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757270" y="2143354"/>
            <a:ext cx="3829507" cy="694944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1" name="Shape 9"/>
          <p:cNvSpPr/>
          <p:nvPr/>
        </p:nvSpPr>
        <p:spPr>
          <a:xfrm>
            <a:off x="7567574" y="2143354"/>
            <a:ext cx="19202" cy="6949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995014" y="2361895"/>
            <a:ext cx="21963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 A (Visual)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584034" y="2143354"/>
            <a:ext cx="3829507" cy="694944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821778" y="2361895"/>
            <a:ext cx="22338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 B (Hybrid)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80898" y="2838298"/>
            <a:ext cx="10629900" cy="6190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780898" y="2838298"/>
            <a:ext cx="2980944" cy="619049"/>
          </a:xfrm>
          <a:prstGeom prst="rect">
            <a:avLst/>
          </a:prstGeom>
          <a:solidFill>
            <a:srgbClr val="EFF6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9498" y="3029407"/>
            <a:ext cx="907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Retrieval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757270" y="2838298"/>
            <a:ext cx="3829507" cy="619049"/>
          </a:xfrm>
          <a:prstGeom prst="rect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995014" y="3029407"/>
            <a:ext cx="157459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ColPali/ColQwen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584034" y="3448202"/>
            <a:ext cx="3829507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817206" y="3029407"/>
            <a:ext cx="25081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 embeddings/keywords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80898" y="3457346"/>
            <a:ext cx="10629900" cy="629107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3" name="Shape 21"/>
          <p:cNvSpPr/>
          <p:nvPr/>
        </p:nvSpPr>
        <p:spPr>
          <a:xfrm>
            <a:off x="780898" y="3457346"/>
            <a:ext cx="2980944" cy="629107"/>
          </a:xfrm>
          <a:prstGeom prst="rect">
            <a:avLst/>
          </a:prstGeom>
          <a:solidFill>
            <a:srgbClr val="DBEAFE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09498" y="3653028"/>
            <a:ext cx="16312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 Processing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757270" y="3457346"/>
            <a:ext cx="3829507" cy="629107"/>
          </a:xfrm>
          <a:prstGeom prst="rect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995014" y="3653028"/>
            <a:ext cx="6025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584034" y="4077310"/>
            <a:ext cx="3829507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817206" y="3653028"/>
            <a:ext cx="21268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VLLM page description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80898" y="4081882"/>
            <a:ext cx="10629900" cy="6291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780898" y="4081882"/>
            <a:ext cx="2980944" cy="629107"/>
          </a:xfrm>
          <a:prstGeom prst="rect">
            <a:avLst/>
          </a:prstGeom>
          <a:solidFill>
            <a:srgbClr val="EFF6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09498" y="4276649"/>
            <a:ext cx="146029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Filtering Speed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757270" y="4081882"/>
            <a:ext cx="3829507" cy="629107"/>
          </a:xfrm>
          <a:prstGeom prst="rect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995014" y="4276649"/>
            <a:ext cx="16788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Model-dependent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584034" y="4701845"/>
            <a:ext cx="3829507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817206" y="4276649"/>
            <a:ext cx="16130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(text-based)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80898" y="4705502"/>
            <a:ext cx="10629900" cy="629107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Shape 35"/>
          <p:cNvSpPr/>
          <p:nvPr/>
        </p:nvSpPr>
        <p:spPr>
          <a:xfrm>
            <a:off x="780898" y="4705502"/>
            <a:ext cx="2980944" cy="629107"/>
          </a:xfrm>
          <a:prstGeom prst="rect">
            <a:avLst/>
          </a:prstGeom>
          <a:solidFill>
            <a:srgbClr val="DBEAFE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09498" y="4900270"/>
            <a:ext cx="18416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Preservation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757270" y="4705502"/>
            <a:ext cx="3829507" cy="629107"/>
          </a:xfrm>
          <a:prstGeom prst="rect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995014" y="4900270"/>
            <a:ext cx="9646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584034" y="5325466"/>
            <a:ext cx="3829507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7817206" y="4900270"/>
            <a:ext cx="1669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Optional (3b only)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80898" y="5329123"/>
            <a:ext cx="10629900" cy="6291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780898" y="5329123"/>
            <a:ext cx="2980944" cy="629107"/>
          </a:xfrm>
          <a:prstGeom prst="rect">
            <a:avLst/>
          </a:prstGeom>
          <a:solidFill>
            <a:srgbClr val="EFF6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09498" y="5524805"/>
            <a:ext cx="168889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Setup Complexity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757270" y="5329123"/>
            <a:ext cx="3829507" cy="629107"/>
          </a:xfrm>
          <a:prstGeom prst="rect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995014" y="5524805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7584034" y="5949086"/>
            <a:ext cx="3829507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7817206" y="5524805"/>
            <a:ext cx="29937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 (requires preprocessing)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780898" y="5952744"/>
            <a:ext cx="10629900" cy="619049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1" name="Shape 49"/>
          <p:cNvSpPr/>
          <p:nvPr/>
        </p:nvSpPr>
        <p:spPr>
          <a:xfrm>
            <a:off x="780898" y="5952744"/>
            <a:ext cx="2980944" cy="619049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52" name="Shape 50"/>
          <p:cNvSpPr/>
          <p:nvPr/>
        </p:nvSpPr>
        <p:spPr>
          <a:xfrm>
            <a:off x="3742639" y="5952744"/>
            <a:ext cx="19202" cy="61904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1009498" y="6148426"/>
            <a:ext cx="8604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For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7577633" y="5952744"/>
            <a:ext cx="9144" cy="61904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3995014" y="6148426"/>
            <a:ext cx="1727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Visual-heavy docs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7817206" y="6148426"/>
            <a:ext cx="13551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Mixed content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0" y="7295998"/>
            <a:ext cx="12191695" cy="57607"/>
          </a:xfrm>
          <a:prstGeom prst="rect">
            <a:avLst/>
          </a:prstGeom>
          <a:solidFill>
            <a:srgbClr val="1E3A8A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1695" y="629107"/>
            <a:ext cx="6620256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Case Recommendations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410005"/>
            <a:ext cx="3605479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to Use Each Approach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61695" y="2124151"/>
            <a:ext cx="5143500" cy="3972154"/>
          </a:xfrm>
          <a:prstGeom prst="roundRect">
            <a:avLst>
              <a:gd name="adj" fmla="val 662"/>
            </a:avLst>
          </a:prstGeom>
          <a:solidFill>
            <a:srgbClr val="F8FAFC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7902" y="2924251"/>
            <a:ext cx="4572000" cy="2834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11910" y="2476195"/>
            <a:ext cx="46204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 A (Visual Document Retrieval)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05102" y="3181198"/>
            <a:ext cx="284104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 Financial reports with charts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505102" y="3605479"/>
            <a:ext cx="334579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📐 Technical drawings and blueprints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5102" y="4028846"/>
            <a:ext cx="29846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📈 Data visualization dashboards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505102" y="4453128"/>
            <a:ext cx="2622499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📝 Forms with mixed content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505102" y="4876495"/>
            <a:ext cx="210769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🎨 Marketing materials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86500" y="2124151"/>
            <a:ext cx="5143500" cy="3972154"/>
          </a:xfrm>
          <a:prstGeom prst="roundRect">
            <a:avLst>
              <a:gd name="adj" fmla="val 662"/>
            </a:avLst>
          </a:prstGeom>
          <a:solidFill>
            <a:srgbClr val="F8FAFC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72707" y="2924251"/>
            <a:ext cx="4572000" cy="2834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14946" y="2476195"/>
            <a:ext cx="36576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 B (VLLM Description)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029907" y="3181198"/>
            <a:ext cx="282183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📄 Long text-heavy documents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29907" y="3605479"/>
            <a:ext cx="302209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 Need for fast keyword filtering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029907" y="4028846"/>
            <a:ext cx="310804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🔍 Pre-indexed document libraries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029907" y="4453128"/>
            <a:ext cx="3765499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💰 Cost-sensitive applications (3a variant)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029907" y="4876495"/>
            <a:ext cx="348935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🔄 Frequently searched document sets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6801307"/>
            <a:ext cx="12191695" cy="57607"/>
          </a:xfrm>
          <a:prstGeom prst="rect">
            <a:avLst/>
          </a:prstGeom>
          <a:solidFill>
            <a:srgbClr val="1E3A8A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295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989527" y="533095"/>
            <a:ext cx="45345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Architecture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003597" y="1228954"/>
            <a:ext cx="23481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Representation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90695" y="1800454"/>
            <a:ext cx="3810305" cy="523951"/>
          </a:xfrm>
          <a:prstGeom prst="roundRect">
            <a:avLst>
              <a:gd name="adj" fmla="val 25385"/>
            </a:avLst>
          </a:prstGeom>
          <a:solidFill>
            <a:srgbClr val="1E3A8A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33365" y="1962302"/>
            <a:ext cx="14621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 Documents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75604" y="2457907"/>
            <a:ext cx="4480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2857500" y="2915107"/>
            <a:ext cx="1904695" cy="780898"/>
          </a:xfrm>
          <a:prstGeom prst="roundRect">
            <a:avLst>
              <a:gd name="adj" fmla="val 11424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48863" y="3076956"/>
            <a:ext cx="12527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 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69310" y="3333902"/>
            <a:ext cx="14145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Retrieval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89604" y="3829507"/>
            <a:ext cx="4480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2857500" y="4286707"/>
            <a:ext cx="1904695" cy="523951"/>
          </a:xfrm>
          <a:prstGeom prst="roundRect">
            <a:avLst>
              <a:gd name="adj" fmla="val 25385"/>
            </a:avLst>
          </a:prstGeom>
          <a:solidFill>
            <a:srgbClr val="F8FAFC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13532" y="4448556"/>
            <a:ext cx="15288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ColPali/ColQwen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689604" y="4943246"/>
            <a:ext cx="4480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2857500" y="5400446"/>
            <a:ext cx="1904695" cy="780898"/>
          </a:xfrm>
          <a:prstGeom prst="roundRect">
            <a:avLst>
              <a:gd name="adj" fmla="val 11424"/>
            </a:avLst>
          </a:prstGeom>
          <a:solidFill>
            <a:srgbClr val="F8FAFC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89097" y="5562295"/>
            <a:ext cx="11768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Top-k Pages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444545" y="5820156"/>
            <a:ext cx="8622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(Images)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689604" y="6314846"/>
            <a:ext cx="4480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2857500" y="6772046"/>
            <a:ext cx="1904695" cy="780898"/>
          </a:xfrm>
          <a:prstGeom prst="roundRect">
            <a:avLst>
              <a:gd name="adj" fmla="val 11424"/>
            </a:avLst>
          </a:prstGeom>
          <a:solidFill>
            <a:srgbClr val="F8FAFC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71646" y="6933895"/>
            <a:ext cx="6144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VLLM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346704" y="7191756"/>
            <a:ext cx="10625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48679" y="2915107"/>
            <a:ext cx="1971446" cy="780898"/>
          </a:xfrm>
          <a:prstGeom prst="roundRect">
            <a:avLst>
              <a:gd name="adj" fmla="val 11424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78447" y="3076956"/>
            <a:ext cx="12435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 B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596482" y="3333902"/>
            <a:ext cx="16056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VLLM Description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213702" y="3829507"/>
            <a:ext cx="4480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6381598" y="4286707"/>
            <a:ext cx="1904695" cy="780898"/>
          </a:xfrm>
          <a:prstGeom prst="roundRect">
            <a:avLst>
              <a:gd name="adj" fmla="val 11424"/>
            </a:avLst>
          </a:prstGeom>
          <a:solidFill>
            <a:srgbClr val="F8FAFC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17766" y="4448556"/>
            <a:ext cx="11676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→ Text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857086" y="4705502"/>
            <a:ext cx="10908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213702" y="5201107"/>
            <a:ext cx="4480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6220663" y="5658307"/>
            <a:ext cx="2229307" cy="780898"/>
          </a:xfrm>
          <a:prstGeom prst="roundRect">
            <a:avLst>
              <a:gd name="adj" fmla="val 11424"/>
            </a:avLst>
          </a:prstGeom>
          <a:solidFill>
            <a:srgbClr val="F8FAFC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67551" y="5820156"/>
            <a:ext cx="18626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Keyword/Embedding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994246" y="6077102"/>
            <a:ext cx="8147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Filtering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213702" y="6572707"/>
            <a:ext cx="4480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5333695" y="7029907"/>
            <a:ext cx="1904695" cy="780898"/>
          </a:xfrm>
          <a:prstGeom prst="roundRect">
            <a:avLst>
              <a:gd name="adj" fmla="val 11424"/>
            </a:avLst>
          </a:prstGeom>
          <a:solidFill>
            <a:srgbClr val="F8FAFC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954573" y="7191756"/>
            <a:ext cx="7955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3a: Text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110021" y="7448702"/>
            <a:ext cx="4818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429500" y="7029907"/>
            <a:ext cx="1904695" cy="780898"/>
          </a:xfrm>
          <a:prstGeom prst="roundRect">
            <a:avLst>
              <a:gd name="adj" fmla="val 11424"/>
            </a:avLst>
          </a:prstGeom>
          <a:solidFill>
            <a:srgbClr val="F8FAFC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970825" y="7191756"/>
            <a:ext cx="9573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3b: Image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8143646" y="7448702"/>
            <a:ext cx="6144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VLLM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5023714" y="7981798"/>
            <a:ext cx="381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5992063" y="7981798"/>
            <a:ext cx="381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6961327" y="7981798"/>
            <a:ext cx="381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4190695" y="8438998"/>
            <a:ext cx="3810305" cy="523951"/>
          </a:xfrm>
          <a:prstGeom prst="roundRect">
            <a:avLst>
              <a:gd name="adj" fmla="val 25385"/>
            </a:avLst>
          </a:prstGeom>
          <a:solidFill>
            <a:srgbClr val="1E3A8A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779008" y="8600846"/>
            <a:ext cx="7671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0" y="9572854"/>
            <a:ext cx="12191695" cy="57607"/>
          </a:xfrm>
          <a:prstGeom prst="rect">
            <a:avLst/>
          </a:prstGeom>
          <a:solidFill>
            <a:srgbClr val="1E3A8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5061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1695" y="629107"/>
            <a:ext cx="664860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Considerations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438351"/>
            <a:ext cx="267187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Optimization Factors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952805" y="2190902"/>
            <a:ext cx="113842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Latency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067105" y="2704795"/>
            <a:ext cx="3771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 A: Single retrieval + VLLM call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67105" y="3086100"/>
            <a:ext cx="4953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 B: Preprocessing time + filtering + LLM call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52805" y="3743554"/>
            <a:ext cx="132953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067105" y="4257446"/>
            <a:ext cx="37435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 A: Excellent for visual content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67105" y="4638751"/>
            <a:ext cx="3667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 B-3a: Best for text extraction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67105" y="5020056"/>
            <a:ext cx="33723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 B-3b: Balanced approach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52805" y="5676595"/>
            <a:ext cx="747979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067105" y="6191402"/>
            <a:ext cx="33055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 A: VLLM costs per query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67105" y="6572707"/>
            <a:ext cx="5020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 B: Upfront preprocessing + per-query costs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52805" y="7229246"/>
            <a:ext cx="1433779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Scalability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1067105" y="7744054"/>
            <a:ext cx="3629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 A: Scales with query volume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67105" y="8124444"/>
            <a:ext cx="40197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 B: Better for large, static corpora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9448495"/>
            <a:ext cx="12191695" cy="57607"/>
          </a:xfrm>
          <a:prstGeom prst="rect">
            <a:avLst/>
          </a:prstGeom>
          <a:solidFill>
            <a:srgbClr val="1E3A8A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7731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1695" y="629107"/>
            <a:ext cx="7991856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 Recommendations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52805" y="1723644"/>
            <a:ext cx="222473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New Projects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162202" y="2257654"/>
            <a:ext cx="350306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with Approach A for simplicity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62202" y="2652674"/>
            <a:ext cx="37792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on representative documents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62202" y="3047695"/>
            <a:ext cx="352226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Approach B if needed for scale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52805" y="3786530"/>
            <a:ext cx="304403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Production Systems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162202" y="4319626"/>
            <a:ext cx="315102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Approach B-3b as baseline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62202" y="4714646"/>
            <a:ext cx="5817413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both filtering methods (keywords + embeddings)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62202" y="5110582"/>
            <a:ext cx="33220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A/B test visual vs. hybrid retrieval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52805" y="5848502"/>
            <a:ext cx="2082089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Strategy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067105" y="6381598"/>
            <a:ext cx="3874313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 queries based on document type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95705" y="7082028"/>
            <a:ext cx="24222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docs → Approach 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95705" y="7724851"/>
            <a:ext cx="25557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 docs → Approach B-3a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95705" y="8367674"/>
            <a:ext cx="271759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Mixed docs → Approach B-3b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9715500"/>
            <a:ext cx="12191695" cy="57607"/>
          </a:xfrm>
          <a:prstGeom prst="rect">
            <a:avLst/>
          </a:prstGeom>
          <a:solidFill>
            <a:srgbClr val="1E3A8A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9916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1695" y="629107"/>
            <a:ext cx="51435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Enhancements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438351"/>
            <a:ext cx="301477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Potential Improvements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786384" y="2238451"/>
            <a:ext cx="5340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🔄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257300" y="2253082"/>
            <a:ext cx="248168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Ensemble Methods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333195" y="2790749"/>
            <a:ext cx="45061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 ColPali/ColQwen with text embeddings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33195" y="3191256"/>
            <a:ext cx="20766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Re-ranking strategies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3895344"/>
            <a:ext cx="5340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🎯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257300" y="3909974"/>
            <a:ext cx="224393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Adaptive Routing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333195" y="4448556"/>
            <a:ext cx="4134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model to select best approach per query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33195" y="4848149"/>
            <a:ext cx="2762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type classification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" y="5553151"/>
            <a:ext cx="5340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1257300" y="5567782"/>
            <a:ext cx="201533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Loop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333195" y="6105449"/>
            <a:ext cx="2019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answer quality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333195" y="6505956"/>
            <a:ext cx="25813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Refine retrieval parameters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33195" y="6905549"/>
            <a:ext cx="1752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fine-tuning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" y="7610551"/>
            <a:ext cx="5340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🚀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1257300" y="7625182"/>
            <a:ext cx="2348179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Models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1333195" y="8162849"/>
            <a:ext cx="2686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Leverage GPT-5 capabilities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33195" y="8563356"/>
            <a:ext cx="2610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Specialized domain models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0" y="9934956"/>
            <a:ext cx="12191695" cy="57607"/>
          </a:xfrm>
          <a:prstGeom prst="rect">
            <a:avLst/>
          </a:prstGeom>
          <a:solidFill>
            <a:srgbClr val="1E3A8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159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1695" y="629107"/>
            <a:ext cx="2829154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52805" y="1772107"/>
            <a:ext cx="3600907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Powerful Approaches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1067105" y="2361895"/>
            <a:ext cx="55110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Visual-First (A): Best for preserving document context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67105" y="2811780"/>
            <a:ext cx="41294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(B): Flexible with filtering options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52805" y="3594506"/>
            <a:ext cx="2905963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Decision Factors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067105" y="4185209"/>
            <a:ext cx="27011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characteristics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67105" y="4635094"/>
            <a:ext cx="28053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requirements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67105" y="5084978"/>
            <a:ext cx="17766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constraints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67105" y="5533949"/>
            <a:ext cx="17675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 needs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52805" y="6317590"/>
            <a:ext cx="2457907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1067105" y="6907378"/>
            <a:ext cx="28629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Prototype both approaches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67105" y="7357262"/>
            <a:ext cx="36246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 on your specific use case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67105" y="7807147"/>
            <a:ext cx="29672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Consider hybrid deployment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0" y="9256471"/>
            <a:ext cx="12191695" cy="57607"/>
          </a:xfrm>
          <a:prstGeom prst="rect">
            <a:avLst/>
          </a:prstGeom>
          <a:solidFill>
            <a:srgbClr val="1E3A8A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5721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654296" y="552298"/>
            <a:ext cx="3286354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You!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096866" y="1457554"/>
            <a:ext cx="220096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809598" y="2104949"/>
            <a:ext cx="342900" cy="34290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44014" y="2176272"/>
            <a:ext cx="2048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305202" y="2162556"/>
            <a:ext cx="39081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document retrieval preserves context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09598" y="2600554"/>
            <a:ext cx="342900" cy="34290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927555" y="2671877"/>
            <a:ext cx="2432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305202" y="2657246"/>
            <a:ext cx="30412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approaches offer flexibility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809598" y="3095244"/>
            <a:ext cx="342900" cy="34290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925726" y="3167482"/>
            <a:ext cx="2432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305202" y="3152851"/>
            <a:ext cx="46323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based on document types and requirements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809598" y="3590849"/>
            <a:ext cx="342900" cy="34290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922983" y="3662172"/>
            <a:ext cx="2532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305202" y="3648456"/>
            <a:ext cx="40983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pipelines support state-of-the-art VLLMs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144414" y="4515307"/>
            <a:ext cx="216255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Questions?</a:t>
            </a: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1333195" y="5171846"/>
            <a:ext cx="9525305" cy="1733702"/>
          </a:xfrm>
          <a:prstGeom prst="roundRect">
            <a:avLst>
              <a:gd name="adj" fmla="val 23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15230" y="5400446"/>
            <a:ext cx="2705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Appendix: Technical Details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609344" y="5790895"/>
            <a:ext cx="6291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ColPali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762049" y="6067044"/>
            <a:ext cx="21104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Vision-language retrieval model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762049" y="6282842"/>
            <a:ext cx="25767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Optimized for document understanding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762049" y="6497726"/>
            <a:ext cx="18434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Handles multiple languages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677156" y="5790895"/>
            <a:ext cx="7909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ColQwen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828946" y="6067044"/>
            <a:ext cx="13478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Multimodal retrieval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828946" y="6282842"/>
            <a:ext cx="16056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visual grounding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828946" y="6497726"/>
            <a:ext cx="20820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Efficient embedding generation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744054" y="5790895"/>
            <a:ext cx="11247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VLLM Models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895844" y="6067044"/>
            <a:ext cx="20336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GPT-4o: Optimized multimodal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895844" y="6282842"/>
            <a:ext cx="21771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o3/o4-mini: Advanced reasoning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895844" y="6497726"/>
            <a:ext cx="23582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GPT-5: Next-generation capabilities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7512710"/>
            <a:ext cx="12191695" cy="57607"/>
          </a:xfrm>
          <a:prstGeom prst="rect">
            <a:avLst/>
          </a:prstGeom>
          <a:solidFill>
            <a:srgbClr val="1E3A8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2025-12-08T17:47:08Z</dcterms:created>
  <dcterms:modified xsi:type="dcterms:W3CDTF">2025-12-08T17:47:08Z</dcterms:modified>
</cp:coreProperties>
</file>