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2250" y="-1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50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30735-B486-89FA-E0FE-9CD2E2A1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DE4E4-5A0A-154A-D6B0-AD83FF842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C91D3-F307-4F5B-9371-2D2BEF369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9AAD1-0807-295E-C03A-5EB2BF7254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7CCC-87A7-1A44-553F-D6867EC6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807A670-26F9-FC30-D966-333EAD7C61DE}"/>
              </a:ext>
            </a:extLst>
          </p:cNvPr>
          <p:cNvSpPr txBox="1"/>
          <p:nvPr/>
        </p:nvSpPr>
        <p:spPr>
          <a:xfrm>
            <a:off x="571500" y="437998"/>
            <a:ext cx="412943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RAG</a:t>
            </a:r>
            <a:endParaRPr lang="en-US" sz="3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7E38AC-398B-F73A-A053-07F11D64CC53}"/>
              </a:ext>
            </a:extLst>
          </p:cNvPr>
          <p:cNvSpPr/>
          <p:nvPr/>
        </p:nvSpPr>
        <p:spPr>
          <a:xfrm>
            <a:off x="571500" y="1324966"/>
            <a:ext cx="1962302" cy="283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05631B-CA68-9319-569E-43E32CFBC5F9}"/>
              </a:ext>
            </a:extLst>
          </p:cNvPr>
          <p:cNvSpPr txBox="1"/>
          <p:nvPr/>
        </p:nvSpPr>
        <p:spPr>
          <a:xfrm>
            <a:off x="571500" y="981151"/>
            <a:ext cx="2119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58B345-582A-52CD-AAAF-4B75A84FADBF}"/>
              </a:ext>
            </a:extLst>
          </p:cNvPr>
          <p:cNvSpPr txBox="1"/>
          <p:nvPr/>
        </p:nvSpPr>
        <p:spPr>
          <a:xfrm>
            <a:off x="599770" y="1495044"/>
            <a:ext cx="4358030" cy="242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accurate Q&amp;A over PDFs with complex layouts, charts, tables, images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B146B35-69C1-DE6C-32A5-3C26720E6CF1}"/>
              </a:ext>
            </a:extLst>
          </p:cNvPr>
          <p:cNvSpPr txBox="1"/>
          <p:nvPr/>
        </p:nvSpPr>
        <p:spPr>
          <a:xfrm>
            <a:off x="599770" y="1848001"/>
            <a:ext cx="4077005" cy="219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preserve visual context while enabling fast search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7B25AA8-4E3F-D6B9-346C-40937164D3A1}"/>
              </a:ext>
            </a:extLst>
          </p:cNvPr>
          <p:cNvSpPr/>
          <p:nvPr/>
        </p:nvSpPr>
        <p:spPr>
          <a:xfrm>
            <a:off x="571500" y="2476881"/>
            <a:ext cx="2286000" cy="283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B56A6F-C585-C146-FED4-598109758F62}"/>
              </a:ext>
            </a:extLst>
          </p:cNvPr>
          <p:cNvSpPr txBox="1"/>
          <p:nvPr/>
        </p:nvSpPr>
        <p:spPr>
          <a:xfrm>
            <a:off x="571500" y="2133981"/>
            <a:ext cx="24432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Main Approaches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021B81B-231C-5F1E-26FD-C687360A8DF6}"/>
              </a:ext>
            </a:extLst>
          </p:cNvPr>
          <p:cNvSpPr txBox="1"/>
          <p:nvPr/>
        </p:nvSpPr>
        <p:spPr>
          <a:xfrm>
            <a:off x="609295" y="2647874"/>
            <a:ext cx="42629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US" sz="13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Approach A (Visual-First): 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ColPali/ColQwen + DSPy. Preserves all visual context.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163DFD-F72A-6371-62B2-84AB9DE9221D}"/>
              </a:ext>
            </a:extLst>
          </p:cNvPr>
          <p:cNvSpPr txBox="1"/>
          <p:nvPr/>
        </p:nvSpPr>
        <p:spPr>
          <a:xfrm>
            <a:off x="609295" y="3191104"/>
            <a:ext cx="5231131" cy="561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Approach B (Hybrid): 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VLLM descriptions + text filtering.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B1. Send filtered </a:t>
            </a: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 text LLM (fast, cheap)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B2. Or send corresponding </a:t>
            </a: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VLLM (balanced accuracy)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135FA1E-25F3-AC80-5D1F-B8D1298DCA90}"/>
              </a:ext>
            </a:extLst>
          </p:cNvPr>
          <p:cNvSpPr/>
          <p:nvPr/>
        </p:nvSpPr>
        <p:spPr>
          <a:xfrm>
            <a:off x="571500" y="4325493"/>
            <a:ext cx="2266798" cy="283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48430F9-0026-B9C8-72CA-AE4D2C045D47}"/>
              </a:ext>
            </a:extLst>
          </p:cNvPr>
          <p:cNvSpPr txBox="1"/>
          <p:nvPr/>
        </p:nvSpPr>
        <p:spPr>
          <a:xfrm>
            <a:off x="571500" y="3981679"/>
            <a:ext cx="2424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Selection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F2AA17D-348A-101F-A155-EC1E3DE0878D}"/>
              </a:ext>
            </a:extLst>
          </p:cNvPr>
          <p:cNvSpPr/>
          <p:nvPr/>
        </p:nvSpPr>
        <p:spPr>
          <a:xfrm>
            <a:off x="580644" y="4476369"/>
            <a:ext cx="1047902" cy="4663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D75A288-CCE0-C428-7A42-CE6947EF0A96}"/>
              </a:ext>
            </a:extLst>
          </p:cNvPr>
          <p:cNvSpPr/>
          <p:nvPr/>
        </p:nvSpPr>
        <p:spPr>
          <a:xfrm>
            <a:off x="580644" y="4933569"/>
            <a:ext cx="1047902" cy="91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76A7C4-1407-D638-3798-09A4B57BFCFA}"/>
              </a:ext>
            </a:extLst>
          </p:cNvPr>
          <p:cNvSpPr txBox="1"/>
          <p:nvPr/>
        </p:nvSpPr>
        <p:spPr>
          <a:xfrm>
            <a:off x="733349" y="4609871"/>
            <a:ext cx="676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FBB7EB5-3C3F-4B58-35EA-605516E976CB}"/>
              </a:ext>
            </a:extLst>
          </p:cNvPr>
          <p:cNvSpPr/>
          <p:nvPr/>
        </p:nvSpPr>
        <p:spPr>
          <a:xfrm>
            <a:off x="1623974" y="4476369"/>
            <a:ext cx="1619402" cy="4663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B9D3015-D099-E8C0-263B-538DD2648027}"/>
              </a:ext>
            </a:extLst>
          </p:cNvPr>
          <p:cNvSpPr/>
          <p:nvPr/>
        </p:nvSpPr>
        <p:spPr>
          <a:xfrm>
            <a:off x="1623974" y="4933569"/>
            <a:ext cx="1619402" cy="91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9DF5C19-2CEC-F0F6-DB34-67A64C1AAA17}"/>
              </a:ext>
            </a:extLst>
          </p:cNvPr>
          <p:cNvSpPr txBox="1"/>
          <p:nvPr/>
        </p:nvSpPr>
        <p:spPr>
          <a:xfrm>
            <a:off x="1776679" y="4609871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(A)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5D9FC14-483C-1232-444A-BE0416A41D16}"/>
              </a:ext>
            </a:extLst>
          </p:cNvPr>
          <p:cNvSpPr/>
          <p:nvPr/>
        </p:nvSpPr>
        <p:spPr>
          <a:xfrm>
            <a:off x="3237890" y="4476369"/>
            <a:ext cx="1971446" cy="4663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6A9B089-9AA3-9C89-103F-7E1972DB6549}"/>
              </a:ext>
            </a:extLst>
          </p:cNvPr>
          <p:cNvSpPr/>
          <p:nvPr/>
        </p:nvSpPr>
        <p:spPr>
          <a:xfrm>
            <a:off x="3237890" y="4933569"/>
            <a:ext cx="1971446" cy="91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C7AEB46-A12A-C3CF-4C51-2311B19D11A2}"/>
              </a:ext>
            </a:extLst>
          </p:cNvPr>
          <p:cNvSpPr txBox="1"/>
          <p:nvPr/>
        </p:nvSpPr>
        <p:spPr>
          <a:xfrm>
            <a:off x="3390595" y="4609871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(B)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A35A518-52B4-A16D-EA47-66FAAAC26E8E}"/>
              </a:ext>
            </a:extLst>
          </p:cNvPr>
          <p:cNvSpPr/>
          <p:nvPr/>
        </p:nvSpPr>
        <p:spPr>
          <a:xfrm>
            <a:off x="580644" y="4943627"/>
            <a:ext cx="1047902" cy="428854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37FFA6B-9516-6CB3-21F7-D73E6E801BFD}"/>
              </a:ext>
            </a:extLst>
          </p:cNvPr>
          <p:cNvSpPr txBox="1"/>
          <p:nvPr/>
        </p:nvSpPr>
        <p:spPr>
          <a:xfrm>
            <a:off x="733349" y="5057927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E6E03CB-1776-7CC0-0EE6-37DF5BEF4763}"/>
              </a:ext>
            </a:extLst>
          </p:cNvPr>
          <p:cNvSpPr/>
          <p:nvPr/>
        </p:nvSpPr>
        <p:spPr>
          <a:xfrm>
            <a:off x="1623974" y="4943627"/>
            <a:ext cx="1619402" cy="428854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F83ED5B-ED53-7EBF-A314-EC6E1A26A03C}"/>
              </a:ext>
            </a:extLst>
          </p:cNvPr>
          <p:cNvSpPr txBox="1"/>
          <p:nvPr/>
        </p:nvSpPr>
        <p:spPr>
          <a:xfrm>
            <a:off x="1776679" y="5057927"/>
            <a:ext cx="1324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ColPali/ColQwen</a:t>
            </a:r>
            <a:endParaRPr lang="en-US" sz="1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26E4A48-9241-1440-7222-3E148A3926AE}"/>
              </a:ext>
            </a:extLst>
          </p:cNvPr>
          <p:cNvSpPr/>
          <p:nvPr/>
        </p:nvSpPr>
        <p:spPr>
          <a:xfrm>
            <a:off x="3237890" y="5363337"/>
            <a:ext cx="19714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B3447E9-4187-12F9-1742-07E9541672D3}"/>
              </a:ext>
            </a:extLst>
          </p:cNvPr>
          <p:cNvSpPr txBox="1"/>
          <p:nvPr/>
        </p:nvSpPr>
        <p:spPr>
          <a:xfrm>
            <a:off x="3390595" y="5057927"/>
            <a:ext cx="1781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Embeddings/Keywords</a:t>
            </a:r>
            <a:endParaRPr lang="en-US" sz="1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288C5A7-3975-2BD7-9842-6BFE239D4F86}"/>
              </a:ext>
            </a:extLst>
          </p:cNvPr>
          <p:cNvSpPr/>
          <p:nvPr/>
        </p:nvSpPr>
        <p:spPr>
          <a:xfrm>
            <a:off x="580644" y="5372481"/>
            <a:ext cx="4629607" cy="42885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9AD6EF4-E118-90D6-CA8E-93C3A534E053}"/>
              </a:ext>
            </a:extLst>
          </p:cNvPr>
          <p:cNvSpPr/>
          <p:nvPr/>
        </p:nvSpPr>
        <p:spPr>
          <a:xfrm>
            <a:off x="580644" y="5372481"/>
            <a:ext cx="1047902" cy="428854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7084EE6-F61F-91F1-95FE-F1777A24F92C}"/>
              </a:ext>
            </a:extLst>
          </p:cNvPr>
          <p:cNvSpPr txBox="1"/>
          <p:nvPr/>
        </p:nvSpPr>
        <p:spPr>
          <a:xfrm>
            <a:off x="733349" y="5486781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2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3B1AFAB-4E84-4024-EAD2-095A5AC75D5D}"/>
              </a:ext>
            </a:extLst>
          </p:cNvPr>
          <p:cNvSpPr/>
          <p:nvPr/>
        </p:nvSpPr>
        <p:spPr>
          <a:xfrm>
            <a:off x="1623974" y="5372481"/>
            <a:ext cx="1619402" cy="428854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09A3DA6-53D3-8E91-FCC2-EA62A23B021C}"/>
              </a:ext>
            </a:extLst>
          </p:cNvPr>
          <p:cNvSpPr txBox="1"/>
          <p:nvPr/>
        </p:nvSpPr>
        <p:spPr>
          <a:xfrm>
            <a:off x="1776679" y="5486781"/>
            <a:ext cx="848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Visual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6851FD5-C930-FEDB-B2DA-98200FF8332B}"/>
              </a:ext>
            </a:extLst>
          </p:cNvPr>
          <p:cNvSpPr/>
          <p:nvPr/>
        </p:nvSpPr>
        <p:spPr>
          <a:xfrm>
            <a:off x="3237890" y="5792191"/>
            <a:ext cx="19714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F17CBD6-90BE-870A-2CB4-62136D34514A}"/>
              </a:ext>
            </a:extLst>
          </p:cNvPr>
          <p:cNvSpPr txBox="1"/>
          <p:nvPr/>
        </p:nvSpPr>
        <p:spPr>
          <a:xfrm>
            <a:off x="3390595" y="5486781"/>
            <a:ext cx="1295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Description</a:t>
            </a:r>
            <a:endParaRPr lang="en-US" sz="12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4637612-EAC5-A2EE-51EF-CC9F30E07FD7}"/>
              </a:ext>
            </a:extLst>
          </p:cNvPr>
          <p:cNvSpPr/>
          <p:nvPr/>
        </p:nvSpPr>
        <p:spPr>
          <a:xfrm>
            <a:off x="580644" y="5800420"/>
            <a:ext cx="1047902" cy="428854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D8A17E7-5C53-7F90-370B-17C15AE44D21}"/>
              </a:ext>
            </a:extLst>
          </p:cNvPr>
          <p:cNvSpPr txBox="1"/>
          <p:nvPr/>
        </p:nvSpPr>
        <p:spPr>
          <a:xfrm>
            <a:off x="733349" y="5914720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12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015CA5B-6DB2-3E9E-09EE-9B5A92BEA3BF}"/>
              </a:ext>
            </a:extLst>
          </p:cNvPr>
          <p:cNvSpPr/>
          <p:nvPr/>
        </p:nvSpPr>
        <p:spPr>
          <a:xfrm>
            <a:off x="1623974" y="5800420"/>
            <a:ext cx="1619402" cy="428854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972C75D-541B-8EBA-3DBE-C1830658BFB0}"/>
              </a:ext>
            </a:extLst>
          </p:cNvPr>
          <p:cNvSpPr txBox="1"/>
          <p:nvPr/>
        </p:nvSpPr>
        <p:spPr>
          <a:xfrm>
            <a:off x="1776679" y="5914720"/>
            <a:ext cx="1000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(Direct)</a:t>
            </a:r>
            <a:endParaRPr lang="en-US" sz="12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0FD8D27-3949-E215-D7E5-27C95880EB94}"/>
              </a:ext>
            </a:extLst>
          </p:cNvPr>
          <p:cNvSpPr/>
          <p:nvPr/>
        </p:nvSpPr>
        <p:spPr>
          <a:xfrm>
            <a:off x="3237890" y="6220130"/>
            <a:ext cx="197144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4D2F480-92B6-5432-0519-5CCFC62CE739}"/>
              </a:ext>
            </a:extLst>
          </p:cNvPr>
          <p:cNvSpPr txBox="1"/>
          <p:nvPr/>
        </p:nvSpPr>
        <p:spPr>
          <a:xfrm>
            <a:off x="3390595" y="5914720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(Pre-process)</a:t>
            </a:r>
            <a:endParaRPr lang="en-US" sz="12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8538A68-C3C2-71C5-D07F-69BE1F2CD15A}"/>
              </a:ext>
            </a:extLst>
          </p:cNvPr>
          <p:cNvSpPr/>
          <p:nvPr/>
        </p:nvSpPr>
        <p:spPr>
          <a:xfrm>
            <a:off x="580644" y="6229274"/>
            <a:ext cx="4629607" cy="4187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7B895CF-2E24-40E2-7B2A-007557D9423C}"/>
              </a:ext>
            </a:extLst>
          </p:cNvPr>
          <p:cNvSpPr/>
          <p:nvPr/>
        </p:nvSpPr>
        <p:spPr>
          <a:xfrm>
            <a:off x="1619402" y="6286424"/>
            <a:ext cx="9144" cy="41879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A1544D0-0066-C9C2-E69D-0B2A4FE46A38}"/>
              </a:ext>
            </a:extLst>
          </p:cNvPr>
          <p:cNvSpPr txBox="1"/>
          <p:nvPr/>
        </p:nvSpPr>
        <p:spPr>
          <a:xfrm>
            <a:off x="733349" y="6343574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12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4BBBFC1-E5A3-F0B7-C3CE-C99994ADFE5C}"/>
              </a:ext>
            </a:extLst>
          </p:cNvPr>
          <p:cNvSpPr/>
          <p:nvPr/>
        </p:nvSpPr>
        <p:spPr>
          <a:xfrm>
            <a:off x="3234233" y="6286424"/>
            <a:ext cx="9144" cy="41879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ACB4974-04E8-FD7E-4B51-283797FB5EBD}"/>
              </a:ext>
            </a:extLst>
          </p:cNvPr>
          <p:cNvSpPr txBox="1"/>
          <p:nvPr/>
        </p:nvSpPr>
        <p:spPr>
          <a:xfrm>
            <a:off x="1776679" y="6343574"/>
            <a:ext cx="1324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Charts/Drawings</a:t>
            </a:r>
            <a:endParaRPr lang="en-US" sz="12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24AAE449-6E29-1222-6B8A-3B0D3C5BD7C6}"/>
              </a:ext>
            </a:extLst>
          </p:cNvPr>
          <p:cNvSpPr txBox="1"/>
          <p:nvPr/>
        </p:nvSpPr>
        <p:spPr>
          <a:xfrm>
            <a:off x="3390595" y="6343574"/>
            <a:ext cx="1362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Text-Heavy Docs</a:t>
            </a:r>
            <a:endParaRPr lang="en-US" sz="12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1727B2D-DB98-EEF9-0C61-F12E6FE31B76}"/>
              </a:ext>
            </a:extLst>
          </p:cNvPr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Shape 46">
            <a:extLst>
              <a:ext uri="{FF2B5EF4-FFF2-40B4-BE49-F238E27FC236}">
                <a16:creationId xmlns:a16="http://schemas.microsoft.com/office/drawing/2014/main" id="{A1622E60-B046-0AA8-C84F-0805FE336478}"/>
              </a:ext>
            </a:extLst>
          </p:cNvPr>
          <p:cNvSpPr/>
          <p:nvPr/>
        </p:nvSpPr>
        <p:spPr>
          <a:xfrm>
            <a:off x="5920511" y="571958"/>
            <a:ext cx="6248095" cy="6191402"/>
          </a:xfrm>
          <a:prstGeom prst="roundRect">
            <a:avLst>
              <a:gd name="adj" fmla="val 3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3" name="Text 47">
            <a:extLst>
              <a:ext uri="{FF2B5EF4-FFF2-40B4-BE49-F238E27FC236}">
                <a16:creationId xmlns:a16="http://schemas.microsoft.com/office/drawing/2014/main" id="{5CD94702-0E6D-73A9-C31C-C8804083567D}"/>
              </a:ext>
            </a:extLst>
          </p:cNvPr>
          <p:cNvSpPr txBox="1"/>
          <p:nvPr/>
        </p:nvSpPr>
        <p:spPr>
          <a:xfrm>
            <a:off x="7618552" y="790500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ARCHITECTURE OVERVIEW</a:t>
            </a:r>
            <a:endParaRPr lang="en-US" sz="1200" dirty="0"/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71F9DDC2-EE16-1214-F16B-79D765D8391B}"/>
              </a:ext>
            </a:extLst>
          </p:cNvPr>
          <p:cNvSpPr txBox="1"/>
          <p:nvPr/>
        </p:nvSpPr>
        <p:spPr>
          <a:xfrm>
            <a:off x="8967292" y="1778966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C5D2A529-9FD2-E621-4D2B-D5DF4223B8B9}"/>
              </a:ext>
            </a:extLst>
          </p:cNvPr>
          <p:cNvSpPr txBox="1"/>
          <p:nvPr/>
        </p:nvSpPr>
        <p:spPr>
          <a:xfrm>
            <a:off x="8000771" y="2608327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86" name="Text 50">
            <a:extLst>
              <a:ext uri="{FF2B5EF4-FFF2-40B4-BE49-F238E27FC236}">
                <a16:creationId xmlns:a16="http://schemas.microsoft.com/office/drawing/2014/main" id="{668D1FD5-3DBE-DA44-925A-00DD8D751C64}"/>
              </a:ext>
            </a:extLst>
          </p:cNvPr>
          <p:cNvSpPr txBox="1"/>
          <p:nvPr/>
        </p:nvSpPr>
        <p:spPr>
          <a:xfrm>
            <a:off x="8000771" y="3231948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87" name="Text 51">
            <a:extLst>
              <a:ext uri="{FF2B5EF4-FFF2-40B4-BE49-F238E27FC236}">
                <a16:creationId xmlns:a16="http://schemas.microsoft.com/office/drawing/2014/main" id="{0522BECB-0117-D1C3-EDDB-D1573C5A2A13}"/>
              </a:ext>
            </a:extLst>
          </p:cNvPr>
          <p:cNvSpPr txBox="1"/>
          <p:nvPr/>
        </p:nvSpPr>
        <p:spPr>
          <a:xfrm>
            <a:off x="8000771" y="3855569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88" name="Text 52">
            <a:extLst>
              <a:ext uri="{FF2B5EF4-FFF2-40B4-BE49-F238E27FC236}">
                <a16:creationId xmlns:a16="http://schemas.microsoft.com/office/drawing/2014/main" id="{2EC5C0C2-FBD5-CEDA-D801-CF68819CEE8D}"/>
              </a:ext>
            </a:extLst>
          </p:cNvPr>
          <p:cNvSpPr txBox="1"/>
          <p:nvPr/>
        </p:nvSpPr>
        <p:spPr>
          <a:xfrm>
            <a:off x="9856089" y="2608327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89" name="Text 53">
            <a:extLst>
              <a:ext uri="{FF2B5EF4-FFF2-40B4-BE49-F238E27FC236}">
                <a16:creationId xmlns:a16="http://schemas.microsoft.com/office/drawing/2014/main" id="{AE8237D7-A875-D13A-FD53-4246BDEC5BF1}"/>
              </a:ext>
            </a:extLst>
          </p:cNvPr>
          <p:cNvSpPr txBox="1"/>
          <p:nvPr/>
        </p:nvSpPr>
        <p:spPr>
          <a:xfrm>
            <a:off x="9856089" y="3231948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90" name="Text 54">
            <a:extLst>
              <a:ext uri="{FF2B5EF4-FFF2-40B4-BE49-F238E27FC236}">
                <a16:creationId xmlns:a16="http://schemas.microsoft.com/office/drawing/2014/main" id="{8A6C5B0A-E196-A1DE-3778-7845EE8E826F}"/>
              </a:ext>
            </a:extLst>
          </p:cNvPr>
          <p:cNvSpPr txBox="1"/>
          <p:nvPr/>
        </p:nvSpPr>
        <p:spPr>
          <a:xfrm>
            <a:off x="9856089" y="3855569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91" name="Text 55">
            <a:extLst>
              <a:ext uri="{FF2B5EF4-FFF2-40B4-BE49-F238E27FC236}">
                <a16:creationId xmlns:a16="http://schemas.microsoft.com/office/drawing/2014/main" id="{850FD8DF-D451-9BD2-E659-2DFA3E2063BC}"/>
              </a:ext>
            </a:extLst>
          </p:cNvPr>
          <p:cNvSpPr txBox="1"/>
          <p:nvPr/>
        </p:nvSpPr>
        <p:spPr>
          <a:xfrm>
            <a:off x="8967292" y="4479189"/>
            <a:ext cx="290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92" name="Shape 56">
            <a:extLst>
              <a:ext uri="{FF2B5EF4-FFF2-40B4-BE49-F238E27FC236}">
                <a16:creationId xmlns:a16="http://schemas.microsoft.com/office/drawing/2014/main" id="{4023E184-458B-873B-F900-0B051CCE9E9C}"/>
              </a:ext>
            </a:extLst>
          </p:cNvPr>
          <p:cNvSpPr/>
          <p:nvPr/>
        </p:nvSpPr>
        <p:spPr>
          <a:xfrm>
            <a:off x="6120765" y="5468570"/>
            <a:ext cx="5848502" cy="1095451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3" name="Shape 57">
            <a:extLst>
              <a:ext uri="{FF2B5EF4-FFF2-40B4-BE49-F238E27FC236}">
                <a16:creationId xmlns:a16="http://schemas.microsoft.com/office/drawing/2014/main" id="{B26D1FAB-DB2D-7CE8-C167-8DE4FFDD5FA6}"/>
              </a:ext>
            </a:extLst>
          </p:cNvPr>
          <p:cNvSpPr/>
          <p:nvPr/>
        </p:nvSpPr>
        <p:spPr>
          <a:xfrm>
            <a:off x="6272555" y="5801412"/>
            <a:ext cx="5544007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Text 58">
            <a:extLst>
              <a:ext uri="{FF2B5EF4-FFF2-40B4-BE49-F238E27FC236}">
                <a16:creationId xmlns:a16="http://schemas.microsoft.com/office/drawing/2014/main" id="{A2CA0C28-3388-8C3A-90B1-E25C397FE2D2}"/>
              </a:ext>
            </a:extLst>
          </p:cNvPr>
          <p:cNvSpPr txBox="1"/>
          <p:nvPr/>
        </p:nvSpPr>
        <p:spPr>
          <a:xfrm>
            <a:off x="8174507" y="5582870"/>
            <a:ext cx="1836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VLLM MODELS</a:t>
            </a:r>
            <a:endParaRPr lang="en-US" sz="900" dirty="0"/>
          </a:p>
        </p:txBody>
      </p:sp>
      <p:sp>
        <p:nvSpPr>
          <p:cNvPr id="95" name="Text 59">
            <a:extLst>
              <a:ext uri="{FF2B5EF4-FFF2-40B4-BE49-F238E27FC236}">
                <a16:creationId xmlns:a16="http://schemas.microsoft.com/office/drawing/2014/main" id="{6CD25A76-1457-9BC2-2E66-13C17A60C878}"/>
              </a:ext>
            </a:extLst>
          </p:cNvPr>
          <p:cNvSpPr txBox="1"/>
          <p:nvPr/>
        </p:nvSpPr>
        <p:spPr>
          <a:xfrm>
            <a:off x="6272555" y="5872735"/>
            <a:ext cx="12984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GENERATION</a:t>
            </a:r>
            <a:endParaRPr lang="en-US" sz="800" dirty="0"/>
          </a:p>
        </p:txBody>
      </p:sp>
      <p:pic>
        <p:nvPicPr>
          <p:cNvPr id="96" name="Image 0" descr="preencoded.png">
            <a:extLst>
              <a:ext uri="{FF2B5EF4-FFF2-40B4-BE49-F238E27FC236}">
                <a16:creationId xmlns:a16="http://schemas.microsoft.com/office/drawing/2014/main" id="{C57F6830-8079-2551-AB9A-AE6F06045E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8" r="-258"/>
          <a:stretch/>
        </p:blipFill>
        <p:spPr>
          <a:xfrm>
            <a:off x="6272555" y="6090108"/>
            <a:ext cx="66751" cy="75895"/>
          </a:xfrm>
          <a:prstGeom prst="rect">
            <a:avLst/>
          </a:prstGeom>
        </p:spPr>
      </p:pic>
      <p:sp>
        <p:nvSpPr>
          <p:cNvPr id="97" name="Text 60">
            <a:extLst>
              <a:ext uri="{FF2B5EF4-FFF2-40B4-BE49-F238E27FC236}">
                <a16:creationId xmlns:a16="http://schemas.microsoft.com/office/drawing/2014/main" id="{02940CD5-BAD0-E00A-FDDB-441F2AD56E08}"/>
              </a:ext>
            </a:extLst>
          </p:cNvPr>
          <p:cNvSpPr txBox="1"/>
          <p:nvPr/>
        </p:nvSpPr>
        <p:spPr>
          <a:xfrm>
            <a:off x="6339306" y="6068417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GPT-4o</a:t>
            </a:r>
            <a:endParaRPr lang="en-US" sz="800" dirty="0"/>
          </a:p>
        </p:txBody>
      </p:sp>
      <p:pic>
        <p:nvPicPr>
          <p:cNvPr id="98" name="Image 1" descr="preencoded.png">
            <a:extLst>
              <a:ext uri="{FF2B5EF4-FFF2-40B4-BE49-F238E27FC236}">
                <a16:creationId xmlns:a16="http://schemas.microsoft.com/office/drawing/2014/main" id="{180C59C4-2E0A-DBB1-6F3A-5A9DECA982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8" r="-258"/>
          <a:stretch/>
        </p:blipFill>
        <p:spPr>
          <a:xfrm>
            <a:off x="6272555" y="6242813"/>
            <a:ext cx="66751" cy="75895"/>
          </a:xfrm>
          <a:prstGeom prst="rect">
            <a:avLst/>
          </a:prstGeom>
        </p:spPr>
      </p:pic>
      <p:sp>
        <p:nvSpPr>
          <p:cNvPr id="99" name="Text 61">
            <a:extLst>
              <a:ext uri="{FF2B5EF4-FFF2-40B4-BE49-F238E27FC236}">
                <a16:creationId xmlns:a16="http://schemas.microsoft.com/office/drawing/2014/main" id="{5688A2A8-5690-DD8F-6BD3-DD1E6FE2FAF7}"/>
              </a:ext>
            </a:extLst>
          </p:cNvPr>
          <p:cNvSpPr txBox="1"/>
          <p:nvPr/>
        </p:nvSpPr>
        <p:spPr>
          <a:xfrm>
            <a:off x="6339306" y="6221121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GPT-4.1 / Mini / Nano</a:t>
            </a:r>
            <a:endParaRPr lang="en-US" sz="800" dirty="0"/>
          </a:p>
        </p:txBody>
      </p:sp>
      <p:sp>
        <p:nvSpPr>
          <p:cNvPr id="100" name="Text 62">
            <a:extLst>
              <a:ext uri="{FF2B5EF4-FFF2-40B4-BE49-F238E27FC236}">
                <a16:creationId xmlns:a16="http://schemas.microsoft.com/office/drawing/2014/main" id="{459280A2-4D38-DB0D-54EF-E955245BEBDA}"/>
              </a:ext>
            </a:extLst>
          </p:cNvPr>
          <p:cNvSpPr txBox="1"/>
          <p:nvPr/>
        </p:nvSpPr>
        <p:spPr>
          <a:xfrm>
            <a:off x="7990713" y="5872735"/>
            <a:ext cx="13267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REASONING</a:t>
            </a:r>
            <a:endParaRPr lang="en-US" sz="800" dirty="0"/>
          </a:p>
        </p:txBody>
      </p:sp>
      <p:pic>
        <p:nvPicPr>
          <p:cNvPr id="101" name="Image 2" descr="preencoded.png">
            <a:extLst>
              <a:ext uri="{FF2B5EF4-FFF2-40B4-BE49-F238E27FC236}">
                <a16:creationId xmlns:a16="http://schemas.microsoft.com/office/drawing/2014/main" id="{67B1504D-4BA6-FD90-5034-5C0F421776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8" r="-258"/>
          <a:stretch/>
        </p:blipFill>
        <p:spPr>
          <a:xfrm>
            <a:off x="7978013" y="6102808"/>
            <a:ext cx="66751" cy="75895"/>
          </a:xfrm>
          <a:prstGeom prst="rect">
            <a:avLst/>
          </a:prstGeom>
        </p:spPr>
      </p:pic>
      <p:sp>
        <p:nvSpPr>
          <p:cNvPr id="102" name="Text 63">
            <a:extLst>
              <a:ext uri="{FF2B5EF4-FFF2-40B4-BE49-F238E27FC236}">
                <a16:creationId xmlns:a16="http://schemas.microsoft.com/office/drawing/2014/main" id="{660D3F2F-CA14-85DF-1FD7-EB06DEA2F9C2}"/>
              </a:ext>
            </a:extLst>
          </p:cNvPr>
          <p:cNvSpPr txBox="1"/>
          <p:nvPr/>
        </p:nvSpPr>
        <p:spPr>
          <a:xfrm>
            <a:off x="8056549" y="6068417"/>
            <a:ext cx="2002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o3</a:t>
            </a:r>
            <a:endParaRPr lang="en-US" sz="800" dirty="0"/>
          </a:p>
        </p:txBody>
      </p:sp>
      <p:pic>
        <p:nvPicPr>
          <p:cNvPr id="103" name="Image 3" descr="preencoded.png">
            <a:extLst>
              <a:ext uri="{FF2B5EF4-FFF2-40B4-BE49-F238E27FC236}">
                <a16:creationId xmlns:a16="http://schemas.microsoft.com/office/drawing/2014/main" id="{A940344B-8DEC-BD69-1B88-04E33DB08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8" r="-258"/>
          <a:stretch/>
        </p:blipFill>
        <p:spPr>
          <a:xfrm>
            <a:off x="7978013" y="6255513"/>
            <a:ext cx="66751" cy="75895"/>
          </a:xfrm>
          <a:prstGeom prst="rect">
            <a:avLst/>
          </a:prstGeom>
        </p:spPr>
      </p:pic>
      <p:sp>
        <p:nvSpPr>
          <p:cNvPr id="104" name="Text 64">
            <a:extLst>
              <a:ext uri="{FF2B5EF4-FFF2-40B4-BE49-F238E27FC236}">
                <a16:creationId xmlns:a16="http://schemas.microsoft.com/office/drawing/2014/main" id="{EF4B2EFF-53C9-56B6-BF7F-CA4ACE54ECA4}"/>
              </a:ext>
            </a:extLst>
          </p:cNvPr>
          <p:cNvSpPr txBox="1"/>
          <p:nvPr/>
        </p:nvSpPr>
        <p:spPr>
          <a:xfrm>
            <a:off x="8056549" y="6221121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o4-mini</a:t>
            </a:r>
            <a:endParaRPr lang="en-US" sz="800" dirty="0"/>
          </a:p>
        </p:txBody>
      </p:sp>
      <p:sp>
        <p:nvSpPr>
          <p:cNvPr id="105" name="Text 65">
            <a:extLst>
              <a:ext uri="{FF2B5EF4-FFF2-40B4-BE49-F238E27FC236}">
                <a16:creationId xmlns:a16="http://schemas.microsoft.com/office/drawing/2014/main" id="{94CEDE33-E7DE-5F90-0A2F-39317CD4C27F}"/>
              </a:ext>
            </a:extLst>
          </p:cNvPr>
          <p:cNvSpPr txBox="1"/>
          <p:nvPr/>
        </p:nvSpPr>
        <p:spPr>
          <a:xfrm>
            <a:off x="9707956" y="5872735"/>
            <a:ext cx="10789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GENERATION</a:t>
            </a:r>
            <a:endParaRPr lang="en-US" sz="800" dirty="0"/>
          </a:p>
        </p:txBody>
      </p:sp>
      <p:sp>
        <p:nvSpPr>
          <p:cNvPr id="106" name="Text 66">
            <a:extLst>
              <a:ext uri="{FF2B5EF4-FFF2-40B4-BE49-F238E27FC236}">
                <a16:creationId xmlns:a16="http://schemas.microsoft.com/office/drawing/2014/main" id="{50A20D3B-378F-A816-B998-028865B6F0BD}"/>
              </a:ext>
            </a:extLst>
          </p:cNvPr>
          <p:cNvSpPr txBox="1"/>
          <p:nvPr/>
        </p:nvSpPr>
        <p:spPr>
          <a:xfrm>
            <a:off x="9777009" y="6058358"/>
            <a:ext cx="1822992" cy="1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⭐GPT-5 </a:t>
            </a:r>
            <a:r>
              <a:rPr lang="en-US" sz="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(Recommended for </a:t>
            </a:r>
            <a:r>
              <a:rPr lang="en-US" sz="800" i="1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DSPy</a:t>
            </a:r>
            <a:r>
              <a:rPr lang="en-US" sz="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pipeline)</a:t>
            </a:r>
            <a:endParaRPr lang="en-US" sz="800" dirty="0"/>
          </a:p>
        </p:txBody>
      </p:sp>
      <p:pic>
        <p:nvPicPr>
          <p:cNvPr id="108" name="Image 4" descr="preencoded.png">
            <a:extLst>
              <a:ext uri="{FF2B5EF4-FFF2-40B4-BE49-F238E27FC236}">
                <a16:creationId xmlns:a16="http://schemas.microsoft.com/office/drawing/2014/main" id="{153429F3-01A7-CC6C-8218-08C308964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8" r="-258"/>
          <a:stretch/>
        </p:blipFill>
        <p:spPr>
          <a:xfrm>
            <a:off x="9701606" y="6260796"/>
            <a:ext cx="66751" cy="75895"/>
          </a:xfrm>
          <a:prstGeom prst="rect">
            <a:avLst/>
          </a:prstGeom>
        </p:spPr>
      </p:pic>
      <p:sp>
        <p:nvSpPr>
          <p:cNvPr id="109" name="Text 68">
            <a:extLst>
              <a:ext uri="{FF2B5EF4-FFF2-40B4-BE49-F238E27FC236}">
                <a16:creationId xmlns:a16="http://schemas.microsoft.com/office/drawing/2014/main" id="{61483395-034A-2BCF-BA18-917B030018DD}"/>
              </a:ext>
            </a:extLst>
          </p:cNvPr>
          <p:cNvSpPr txBox="1"/>
          <p:nvPr/>
        </p:nvSpPr>
        <p:spPr>
          <a:xfrm>
            <a:off x="9774707" y="6232755"/>
            <a:ext cx="5815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 mini</a:t>
            </a:r>
            <a:endParaRPr lang="en-US" sz="800" dirty="0"/>
          </a:p>
        </p:txBody>
      </p:sp>
      <p:sp>
        <p:nvSpPr>
          <p:cNvPr id="110" name="Shape 70">
            <a:extLst>
              <a:ext uri="{FF2B5EF4-FFF2-40B4-BE49-F238E27FC236}">
                <a16:creationId xmlns:a16="http://schemas.microsoft.com/office/drawing/2014/main" id="{1A3E3661-EDEF-DAE6-6CC6-4138B12E0B78}"/>
              </a:ext>
            </a:extLst>
          </p:cNvPr>
          <p:cNvSpPr/>
          <p:nvPr/>
        </p:nvSpPr>
        <p:spPr>
          <a:xfrm>
            <a:off x="8092211" y="1364743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1E3A8A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1" name="Text 71">
            <a:extLst>
              <a:ext uri="{FF2B5EF4-FFF2-40B4-BE49-F238E27FC236}">
                <a16:creationId xmlns:a16="http://schemas.microsoft.com/office/drawing/2014/main" id="{D831F8AD-EF8D-81E4-E855-2C416874021F}"/>
              </a:ext>
            </a:extLst>
          </p:cNvPr>
          <p:cNvSpPr txBox="1"/>
          <p:nvPr/>
        </p:nvSpPr>
        <p:spPr>
          <a:xfrm>
            <a:off x="8565870" y="1469899"/>
            <a:ext cx="1055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Documents</a:t>
            </a:r>
            <a:endParaRPr lang="en-US" sz="900" dirty="0"/>
          </a:p>
        </p:txBody>
      </p:sp>
      <p:sp>
        <p:nvSpPr>
          <p:cNvPr id="112" name="Shape 72">
            <a:extLst>
              <a:ext uri="{FF2B5EF4-FFF2-40B4-BE49-F238E27FC236}">
                <a16:creationId xmlns:a16="http://schemas.microsoft.com/office/drawing/2014/main" id="{C4322F1B-24F4-78DC-3A21-57FE6B2205E0}"/>
              </a:ext>
            </a:extLst>
          </p:cNvPr>
          <p:cNvSpPr/>
          <p:nvPr/>
        </p:nvSpPr>
        <p:spPr>
          <a:xfrm>
            <a:off x="7458532" y="2026769"/>
            <a:ext cx="1238098" cy="523951"/>
          </a:xfrm>
          <a:prstGeom prst="roundRect">
            <a:avLst>
              <a:gd name="adj" fmla="val 1903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3" name="Text 73">
            <a:extLst>
              <a:ext uri="{FF2B5EF4-FFF2-40B4-BE49-F238E27FC236}">
                <a16:creationId xmlns:a16="http://schemas.microsoft.com/office/drawing/2014/main" id="{2B428BDB-DD3F-5379-D12A-4F146CA51E33}"/>
              </a:ext>
            </a:extLst>
          </p:cNvPr>
          <p:cNvSpPr txBox="1"/>
          <p:nvPr/>
        </p:nvSpPr>
        <p:spPr>
          <a:xfrm>
            <a:off x="7672501" y="2112722"/>
            <a:ext cx="9125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</a:t>
            </a:r>
            <a:endParaRPr lang="en-US" sz="900" dirty="0"/>
          </a:p>
        </p:txBody>
      </p:sp>
      <p:sp>
        <p:nvSpPr>
          <p:cNvPr id="114" name="Text 74">
            <a:extLst>
              <a:ext uri="{FF2B5EF4-FFF2-40B4-BE49-F238E27FC236}">
                <a16:creationId xmlns:a16="http://schemas.microsoft.com/office/drawing/2014/main" id="{6E05454A-82D8-4E1F-81E4-30E13FF52D59}"/>
              </a:ext>
            </a:extLst>
          </p:cNvPr>
          <p:cNvSpPr txBox="1"/>
          <p:nvPr/>
        </p:nvSpPr>
        <p:spPr>
          <a:xfrm>
            <a:off x="7614894" y="2298345"/>
            <a:ext cx="10268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Retrieval</a:t>
            </a:r>
            <a:endParaRPr lang="en-US" sz="900" dirty="0"/>
          </a:p>
        </p:txBody>
      </p:sp>
      <p:sp>
        <p:nvSpPr>
          <p:cNvPr id="115" name="Shape 75">
            <a:extLst>
              <a:ext uri="{FF2B5EF4-FFF2-40B4-BE49-F238E27FC236}">
                <a16:creationId xmlns:a16="http://schemas.microsoft.com/office/drawing/2014/main" id="{43D8E036-07B8-F991-EF1E-F786B409646E}"/>
              </a:ext>
            </a:extLst>
          </p:cNvPr>
          <p:cNvSpPr/>
          <p:nvPr/>
        </p:nvSpPr>
        <p:spPr>
          <a:xfrm>
            <a:off x="7429271" y="2855215"/>
            <a:ext cx="1304849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6" name="Text 76">
            <a:extLst>
              <a:ext uri="{FF2B5EF4-FFF2-40B4-BE49-F238E27FC236}">
                <a16:creationId xmlns:a16="http://schemas.microsoft.com/office/drawing/2014/main" id="{F4333426-7380-5E50-5801-00384A45314D}"/>
              </a:ext>
            </a:extLst>
          </p:cNvPr>
          <p:cNvSpPr txBox="1"/>
          <p:nvPr/>
        </p:nvSpPr>
        <p:spPr>
          <a:xfrm>
            <a:off x="7543571" y="2941169"/>
            <a:ext cx="1169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ColPali / ColQwen</a:t>
            </a:r>
            <a:endParaRPr lang="en-US" sz="900" dirty="0"/>
          </a:p>
        </p:txBody>
      </p:sp>
      <p:sp>
        <p:nvSpPr>
          <p:cNvPr id="117" name="Shape 77">
            <a:extLst>
              <a:ext uri="{FF2B5EF4-FFF2-40B4-BE49-F238E27FC236}">
                <a16:creationId xmlns:a16="http://schemas.microsoft.com/office/drawing/2014/main" id="{89A60D68-9B16-F0CF-AC95-AF741F4196B0}"/>
              </a:ext>
            </a:extLst>
          </p:cNvPr>
          <p:cNvSpPr/>
          <p:nvPr/>
        </p:nvSpPr>
        <p:spPr>
          <a:xfrm>
            <a:off x="7307656" y="3479750"/>
            <a:ext cx="1543507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8" name="Text 78">
            <a:extLst>
              <a:ext uri="{FF2B5EF4-FFF2-40B4-BE49-F238E27FC236}">
                <a16:creationId xmlns:a16="http://schemas.microsoft.com/office/drawing/2014/main" id="{D221286B-27B8-94DF-8B4E-4541C4458EE0}"/>
              </a:ext>
            </a:extLst>
          </p:cNvPr>
          <p:cNvSpPr txBox="1"/>
          <p:nvPr/>
        </p:nvSpPr>
        <p:spPr>
          <a:xfrm>
            <a:off x="7421956" y="3564789"/>
            <a:ext cx="14081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Top-k Pages (Images)</a:t>
            </a:r>
            <a:endParaRPr lang="en-US" sz="900" dirty="0"/>
          </a:p>
        </p:txBody>
      </p:sp>
      <p:sp>
        <p:nvSpPr>
          <p:cNvPr id="119" name="Shape 79">
            <a:extLst>
              <a:ext uri="{FF2B5EF4-FFF2-40B4-BE49-F238E27FC236}">
                <a16:creationId xmlns:a16="http://schemas.microsoft.com/office/drawing/2014/main" id="{C46C1D80-F5CE-A6A0-88C5-CF21965FA665}"/>
              </a:ext>
            </a:extLst>
          </p:cNvPr>
          <p:cNvSpPr/>
          <p:nvPr/>
        </p:nvSpPr>
        <p:spPr>
          <a:xfrm>
            <a:off x="7441158" y="4103371"/>
            <a:ext cx="1276502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0" name="Text 80">
            <a:extLst>
              <a:ext uri="{FF2B5EF4-FFF2-40B4-BE49-F238E27FC236}">
                <a16:creationId xmlns:a16="http://schemas.microsoft.com/office/drawing/2014/main" id="{6F4C3FE9-FF97-CFC5-F35C-CCE0C708BE59}"/>
              </a:ext>
            </a:extLst>
          </p:cNvPr>
          <p:cNvSpPr txBox="1"/>
          <p:nvPr/>
        </p:nvSpPr>
        <p:spPr>
          <a:xfrm>
            <a:off x="7555458" y="4189325"/>
            <a:ext cx="11411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Processing</a:t>
            </a:r>
            <a:endParaRPr lang="en-US" sz="900" dirty="0"/>
          </a:p>
        </p:txBody>
      </p:sp>
      <p:sp>
        <p:nvSpPr>
          <p:cNvPr id="121" name="Shape 81">
            <a:extLst>
              <a:ext uri="{FF2B5EF4-FFF2-40B4-BE49-F238E27FC236}">
                <a16:creationId xmlns:a16="http://schemas.microsoft.com/office/drawing/2014/main" id="{FD2152D5-5FB1-4A2A-AA00-C293E0AA2B22}"/>
              </a:ext>
            </a:extLst>
          </p:cNvPr>
          <p:cNvSpPr/>
          <p:nvPr/>
        </p:nvSpPr>
        <p:spPr>
          <a:xfrm>
            <a:off x="9287332" y="2026769"/>
            <a:ext cx="1295705" cy="523951"/>
          </a:xfrm>
          <a:prstGeom prst="roundRect">
            <a:avLst>
              <a:gd name="adj" fmla="val 1903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2" name="Text 82">
            <a:extLst>
              <a:ext uri="{FF2B5EF4-FFF2-40B4-BE49-F238E27FC236}">
                <a16:creationId xmlns:a16="http://schemas.microsoft.com/office/drawing/2014/main" id="{B9DC55D1-460E-D1B5-DAA6-A4221C90EB22}"/>
              </a:ext>
            </a:extLst>
          </p:cNvPr>
          <p:cNvSpPr txBox="1"/>
          <p:nvPr/>
        </p:nvSpPr>
        <p:spPr>
          <a:xfrm>
            <a:off x="9532391" y="2112722"/>
            <a:ext cx="9025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</a:t>
            </a:r>
            <a:endParaRPr lang="en-US" sz="900" dirty="0"/>
          </a:p>
        </p:txBody>
      </p:sp>
      <p:sp>
        <p:nvSpPr>
          <p:cNvPr id="123" name="Text 83">
            <a:extLst>
              <a:ext uri="{FF2B5EF4-FFF2-40B4-BE49-F238E27FC236}">
                <a16:creationId xmlns:a16="http://schemas.microsoft.com/office/drawing/2014/main" id="{C1A4E8E1-8E50-E5B3-E1CD-F6FAD8420C58}"/>
              </a:ext>
            </a:extLst>
          </p:cNvPr>
          <p:cNvSpPr txBox="1"/>
          <p:nvPr/>
        </p:nvSpPr>
        <p:spPr>
          <a:xfrm>
            <a:off x="9401632" y="2298345"/>
            <a:ext cx="11603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Description</a:t>
            </a:r>
            <a:endParaRPr lang="en-US" sz="900" dirty="0"/>
          </a:p>
        </p:txBody>
      </p:sp>
      <p:sp>
        <p:nvSpPr>
          <p:cNvPr id="124" name="Shape 84">
            <a:extLst>
              <a:ext uri="{FF2B5EF4-FFF2-40B4-BE49-F238E27FC236}">
                <a16:creationId xmlns:a16="http://schemas.microsoft.com/office/drawing/2014/main" id="{70F23CBE-81CA-5119-188F-FC78C82B7819}"/>
              </a:ext>
            </a:extLst>
          </p:cNvPr>
          <p:cNvSpPr/>
          <p:nvPr/>
        </p:nvSpPr>
        <p:spPr>
          <a:xfrm>
            <a:off x="9086164" y="2855215"/>
            <a:ext cx="1695298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5" name="Text 85">
            <a:extLst>
              <a:ext uri="{FF2B5EF4-FFF2-40B4-BE49-F238E27FC236}">
                <a16:creationId xmlns:a16="http://schemas.microsoft.com/office/drawing/2014/main" id="{5E95D9A4-74EE-0665-ADAA-494925CD4F6E}"/>
              </a:ext>
            </a:extLst>
          </p:cNvPr>
          <p:cNvSpPr txBox="1"/>
          <p:nvPr/>
        </p:nvSpPr>
        <p:spPr>
          <a:xfrm>
            <a:off x="9200464" y="2941169"/>
            <a:ext cx="15599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→ Text Description</a:t>
            </a:r>
            <a:endParaRPr lang="en-US" sz="900" dirty="0"/>
          </a:p>
        </p:txBody>
      </p:sp>
      <p:sp>
        <p:nvSpPr>
          <p:cNvPr id="126" name="Shape 86">
            <a:extLst>
              <a:ext uri="{FF2B5EF4-FFF2-40B4-BE49-F238E27FC236}">
                <a16:creationId xmlns:a16="http://schemas.microsoft.com/office/drawing/2014/main" id="{CCB90140-07F2-4C02-9AE5-80805DAD770A}"/>
              </a:ext>
            </a:extLst>
          </p:cNvPr>
          <p:cNvSpPr/>
          <p:nvPr/>
        </p:nvSpPr>
        <p:spPr>
          <a:xfrm>
            <a:off x="9207779" y="3479750"/>
            <a:ext cx="1457554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7" name="Text 87">
            <a:extLst>
              <a:ext uri="{FF2B5EF4-FFF2-40B4-BE49-F238E27FC236}">
                <a16:creationId xmlns:a16="http://schemas.microsoft.com/office/drawing/2014/main" id="{857F2CCF-5F16-BF30-22F9-475F7E9A6EC1}"/>
              </a:ext>
            </a:extLst>
          </p:cNvPr>
          <p:cNvSpPr txBox="1"/>
          <p:nvPr/>
        </p:nvSpPr>
        <p:spPr>
          <a:xfrm>
            <a:off x="9322079" y="3564789"/>
            <a:ext cx="13222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Text/Vector Filtering</a:t>
            </a:r>
            <a:endParaRPr lang="en-US" sz="900" dirty="0"/>
          </a:p>
        </p:txBody>
      </p:sp>
      <p:sp>
        <p:nvSpPr>
          <p:cNvPr id="128" name="Shape 88">
            <a:extLst>
              <a:ext uri="{FF2B5EF4-FFF2-40B4-BE49-F238E27FC236}">
                <a16:creationId xmlns:a16="http://schemas.microsoft.com/office/drawing/2014/main" id="{C4611371-4B0E-3975-8E91-F98D2B39D7CD}"/>
              </a:ext>
            </a:extLst>
          </p:cNvPr>
          <p:cNvSpPr/>
          <p:nvPr/>
        </p:nvSpPr>
        <p:spPr>
          <a:xfrm>
            <a:off x="9198635" y="4103371"/>
            <a:ext cx="666598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9" name="Text 89">
            <a:extLst>
              <a:ext uri="{FF2B5EF4-FFF2-40B4-BE49-F238E27FC236}">
                <a16:creationId xmlns:a16="http://schemas.microsoft.com/office/drawing/2014/main" id="{C66A3898-E1FE-4EC6-D9A8-76C36C045BB8}"/>
              </a:ext>
            </a:extLst>
          </p:cNvPr>
          <p:cNvSpPr txBox="1"/>
          <p:nvPr/>
        </p:nvSpPr>
        <p:spPr>
          <a:xfrm>
            <a:off x="9291904" y="4170122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B1: Text</a:t>
            </a:r>
            <a:endParaRPr lang="en-US" sz="900" dirty="0"/>
          </a:p>
        </p:txBody>
      </p:sp>
      <p:sp>
        <p:nvSpPr>
          <p:cNvPr id="130" name="Shape 90">
            <a:extLst>
              <a:ext uri="{FF2B5EF4-FFF2-40B4-BE49-F238E27FC236}">
                <a16:creationId xmlns:a16="http://schemas.microsoft.com/office/drawing/2014/main" id="{5392913A-219C-CA72-0C82-2B43D02A711F}"/>
              </a:ext>
            </a:extLst>
          </p:cNvPr>
          <p:cNvSpPr/>
          <p:nvPr/>
        </p:nvSpPr>
        <p:spPr>
          <a:xfrm>
            <a:off x="9960330" y="4103371"/>
            <a:ext cx="714146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1" name="Text 91">
            <a:extLst>
              <a:ext uri="{FF2B5EF4-FFF2-40B4-BE49-F238E27FC236}">
                <a16:creationId xmlns:a16="http://schemas.microsoft.com/office/drawing/2014/main" id="{AB01AFC0-F349-3ED3-DE91-2BC5ADAC0C7D}"/>
              </a:ext>
            </a:extLst>
          </p:cNvPr>
          <p:cNvSpPr txBox="1"/>
          <p:nvPr/>
        </p:nvSpPr>
        <p:spPr>
          <a:xfrm>
            <a:off x="10017937" y="4170122"/>
            <a:ext cx="693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B2: Image</a:t>
            </a:r>
            <a:endParaRPr lang="en-US" sz="900" dirty="0"/>
          </a:p>
        </p:txBody>
      </p:sp>
      <p:sp>
        <p:nvSpPr>
          <p:cNvPr id="132" name="Shape 92">
            <a:extLst>
              <a:ext uri="{FF2B5EF4-FFF2-40B4-BE49-F238E27FC236}">
                <a16:creationId xmlns:a16="http://schemas.microsoft.com/office/drawing/2014/main" id="{EA2EEFA3-16F0-9843-A36F-D2BD38D15182}"/>
              </a:ext>
            </a:extLst>
          </p:cNvPr>
          <p:cNvSpPr/>
          <p:nvPr/>
        </p:nvSpPr>
        <p:spPr>
          <a:xfrm>
            <a:off x="8092211" y="4726992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1E3A8A"/>
          </a:solidFill>
          <a:ln w="25400">
            <a:solidFill>
              <a:srgbClr val="1E3A8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3" name="Text 93">
            <a:extLst>
              <a:ext uri="{FF2B5EF4-FFF2-40B4-BE49-F238E27FC236}">
                <a16:creationId xmlns:a16="http://schemas.microsoft.com/office/drawing/2014/main" id="{848354EB-8877-9C6A-77B4-995B7B84AF8C}"/>
              </a:ext>
            </a:extLst>
          </p:cNvPr>
          <p:cNvSpPr txBox="1"/>
          <p:nvPr/>
        </p:nvSpPr>
        <p:spPr>
          <a:xfrm>
            <a:off x="8815501" y="4832148"/>
            <a:ext cx="5596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900" dirty="0"/>
          </a:p>
        </p:txBody>
      </p:sp>
      <p:pic>
        <p:nvPicPr>
          <p:cNvPr id="134" name="Image 4" descr="preencoded.png">
            <a:extLst>
              <a:ext uri="{FF2B5EF4-FFF2-40B4-BE49-F238E27FC236}">
                <a16:creationId xmlns:a16="http://schemas.microsoft.com/office/drawing/2014/main" id="{4DD057D7-4EA2-9CFF-FEE5-0A101050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8" r="-258"/>
          <a:stretch/>
        </p:blipFill>
        <p:spPr>
          <a:xfrm>
            <a:off x="9703591" y="6103220"/>
            <a:ext cx="66751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99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199</Words>
  <Application>Microsoft Office PowerPoint</Application>
  <PresentationFormat>Grand écran</PresentationFormat>
  <Paragraphs>58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Inter</vt:lpstr>
      <vt:lpstr>Office Theme</vt:lpstr>
      <vt:lpstr>Présentation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Aboubaker AH</cp:lastModifiedBy>
  <cp:revision>4</cp:revision>
  <dcterms:created xsi:type="dcterms:W3CDTF">2025-12-11T21:52:38Z</dcterms:created>
  <dcterms:modified xsi:type="dcterms:W3CDTF">2025-12-11T22:55:58Z</dcterms:modified>
</cp:coreProperties>
</file>